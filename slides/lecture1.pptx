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97" r:id="rId3"/>
    <p:sldId id="296" r:id="rId4"/>
    <p:sldId id="287" r:id="rId5"/>
    <p:sldId id="298" r:id="rId6"/>
    <p:sldId id="257" r:id="rId7"/>
    <p:sldId id="258" r:id="rId8"/>
    <p:sldId id="289" r:id="rId9"/>
    <p:sldId id="304" r:id="rId10"/>
    <p:sldId id="293" r:id="rId11"/>
    <p:sldId id="294" r:id="rId12"/>
    <p:sldId id="301" r:id="rId13"/>
    <p:sldId id="261" r:id="rId14"/>
    <p:sldId id="277" r:id="rId15"/>
    <p:sldId id="276" r:id="rId16"/>
    <p:sldId id="288" r:id="rId17"/>
    <p:sldId id="303" r:id="rId18"/>
    <p:sldId id="305" r:id="rId19"/>
    <p:sldId id="273" r:id="rId20"/>
    <p:sldId id="295" r:id="rId21"/>
    <p:sldId id="260" r:id="rId22"/>
    <p:sldId id="300" r:id="rId23"/>
    <p:sldId id="264" r:id="rId24"/>
    <p:sldId id="265" r:id="rId25"/>
    <p:sldId id="306" r:id="rId26"/>
    <p:sldId id="302" r:id="rId27"/>
  </p:sldIdLst>
  <p:sldSz cx="12192000" cy="6858000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e, Melissa" initials="LM" lastIdx="1" clrIdx="0">
    <p:extLst>
      <p:ext uri="{19B8F6BF-5375-455C-9EA6-DF929625EA0E}">
        <p15:presenceInfo xmlns:p15="http://schemas.microsoft.com/office/powerpoint/2012/main" userId="Lee, Meliss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91" autoAdjust="0"/>
    <p:restoredTop sz="94705" autoAdjust="0"/>
  </p:normalViewPr>
  <p:slideViewPr>
    <p:cSldViewPr>
      <p:cViewPr>
        <p:scale>
          <a:sx n="87" d="100"/>
          <a:sy n="87" d="100"/>
        </p:scale>
        <p:origin x="57" y="3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ti, Giulia" userId="ae793f63-b342-411f-bdc7-f371695c6665" providerId="ADAL" clId="{4D4A1627-DA9A-4DE1-9B63-E8F3B74B9522}"/>
    <pc:docChg chg="custSel modSld">
      <pc:chgData name="Toti, Giulia" userId="ae793f63-b342-411f-bdc7-f371695c6665" providerId="ADAL" clId="{4D4A1627-DA9A-4DE1-9B63-E8F3B74B9522}" dt="2026-07-06T03:37:21.138" v="285" actId="27636"/>
      <pc:docMkLst>
        <pc:docMk/>
      </pc:docMkLst>
      <pc:sldChg chg="modSp mod">
        <pc:chgData name="Toti, Giulia" userId="ae793f63-b342-411f-bdc7-f371695c6665" providerId="ADAL" clId="{4D4A1627-DA9A-4DE1-9B63-E8F3B74B9522}" dt="2026-07-06T03:37:21.138" v="285" actId="27636"/>
        <pc:sldMkLst>
          <pc:docMk/>
          <pc:sldMk cId="2105681968" sldId="260"/>
        </pc:sldMkLst>
        <pc:spChg chg="mod">
          <ac:chgData name="Toti, Giulia" userId="ae793f63-b342-411f-bdc7-f371695c6665" providerId="ADAL" clId="{4D4A1627-DA9A-4DE1-9B63-E8F3B74B9522}" dt="2026-07-06T03:37:21.138" v="285" actId="27636"/>
          <ac:spMkLst>
            <pc:docMk/>
            <pc:sldMk cId="2105681968" sldId="260"/>
            <ac:spMk id="3" creationId="{00000000-0000-0000-0000-000000000000}"/>
          </ac:spMkLst>
        </pc:spChg>
      </pc:sldChg>
      <pc:sldChg chg="modSp mod">
        <pc:chgData name="Toti, Giulia" userId="ae793f63-b342-411f-bdc7-f371695c6665" providerId="ADAL" clId="{4D4A1627-DA9A-4DE1-9B63-E8F3B74B9522}" dt="2026-07-06T03:29:12.423" v="265" actId="20577"/>
        <pc:sldMkLst>
          <pc:docMk/>
          <pc:sldMk cId="3261522819" sldId="261"/>
        </pc:sldMkLst>
        <pc:spChg chg="mod">
          <ac:chgData name="Toti, Giulia" userId="ae793f63-b342-411f-bdc7-f371695c6665" providerId="ADAL" clId="{4D4A1627-DA9A-4DE1-9B63-E8F3B74B9522}" dt="2026-07-06T03:29:12.423" v="265" actId="20577"/>
          <ac:spMkLst>
            <pc:docMk/>
            <pc:sldMk cId="3261522819" sldId="261"/>
            <ac:spMk id="3" creationId="{00000000-0000-0000-0000-000000000000}"/>
          </ac:spMkLst>
        </pc:spChg>
      </pc:sldChg>
      <pc:sldChg chg="modSp mod">
        <pc:chgData name="Toti, Giulia" userId="ae793f63-b342-411f-bdc7-f371695c6665" providerId="ADAL" clId="{4D4A1627-DA9A-4DE1-9B63-E8F3B74B9522}" dt="2026-07-06T03:24:00.609" v="28" actId="20577"/>
        <pc:sldMkLst>
          <pc:docMk/>
          <pc:sldMk cId="1600236866" sldId="287"/>
        </pc:sldMkLst>
        <pc:spChg chg="mod">
          <ac:chgData name="Toti, Giulia" userId="ae793f63-b342-411f-bdc7-f371695c6665" providerId="ADAL" clId="{4D4A1627-DA9A-4DE1-9B63-E8F3B74B9522}" dt="2026-07-06T03:24:00.609" v="28" actId="20577"/>
          <ac:spMkLst>
            <pc:docMk/>
            <pc:sldMk cId="1600236866" sldId="287"/>
            <ac:spMk id="3" creationId="{91CF2EBD-6503-4D56-AA26-F1CEFAB107B5}"/>
          </ac:spMkLst>
        </pc:spChg>
      </pc:sldChg>
      <pc:sldChg chg="modSp mod">
        <pc:chgData name="Toti, Giulia" userId="ae793f63-b342-411f-bdc7-f371695c6665" providerId="ADAL" clId="{4D4A1627-DA9A-4DE1-9B63-E8F3B74B9522}" dt="2026-07-06T03:26:31.815" v="192" actId="27636"/>
        <pc:sldMkLst>
          <pc:docMk/>
          <pc:sldMk cId="1384409811" sldId="289"/>
        </pc:sldMkLst>
        <pc:spChg chg="mod">
          <ac:chgData name="Toti, Giulia" userId="ae793f63-b342-411f-bdc7-f371695c6665" providerId="ADAL" clId="{4D4A1627-DA9A-4DE1-9B63-E8F3B74B9522}" dt="2026-07-06T03:26:31.815" v="192" actId="27636"/>
          <ac:spMkLst>
            <pc:docMk/>
            <pc:sldMk cId="1384409811" sldId="289"/>
            <ac:spMk id="3" creationId="{259A4071-BDC9-4109-93DB-23C535E95A33}"/>
          </ac:spMkLst>
        </pc:spChg>
      </pc:sldChg>
      <pc:sldChg chg="modSp mod">
        <pc:chgData name="Toti, Giulia" userId="ae793f63-b342-411f-bdc7-f371695c6665" providerId="ADAL" clId="{4D4A1627-DA9A-4DE1-9B63-E8F3B74B9522}" dt="2026-07-06T03:28:23.341" v="249" actId="20577"/>
        <pc:sldMkLst>
          <pc:docMk/>
          <pc:sldMk cId="3187297014" sldId="293"/>
        </pc:sldMkLst>
        <pc:spChg chg="mod">
          <ac:chgData name="Toti, Giulia" userId="ae793f63-b342-411f-bdc7-f371695c6665" providerId="ADAL" clId="{4D4A1627-DA9A-4DE1-9B63-E8F3B74B9522}" dt="2026-07-06T03:28:23.341" v="249" actId="20577"/>
          <ac:spMkLst>
            <pc:docMk/>
            <pc:sldMk cId="3187297014" sldId="293"/>
            <ac:spMk id="3" creationId="{259A4071-BDC9-4109-93DB-23C535E95A33}"/>
          </ac:spMkLst>
        </pc:spChg>
      </pc:sldChg>
      <pc:sldChg chg="modSp mod">
        <pc:chgData name="Toti, Giulia" userId="ae793f63-b342-411f-bdc7-f371695c6665" providerId="ADAL" clId="{4D4A1627-DA9A-4DE1-9B63-E8F3B74B9522}" dt="2026-07-06T03:27:51.309" v="211" actId="21"/>
        <pc:sldMkLst>
          <pc:docMk/>
          <pc:sldMk cId="2735791333" sldId="294"/>
        </pc:sldMkLst>
        <pc:spChg chg="mod">
          <ac:chgData name="Toti, Giulia" userId="ae793f63-b342-411f-bdc7-f371695c6665" providerId="ADAL" clId="{4D4A1627-DA9A-4DE1-9B63-E8F3B74B9522}" dt="2026-07-06T03:27:51.309" v="211" actId="21"/>
          <ac:spMkLst>
            <pc:docMk/>
            <pc:sldMk cId="2735791333" sldId="294"/>
            <ac:spMk id="3" creationId="{259A4071-BDC9-4109-93DB-23C535E95A3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57" tIns="48328" rIns="96657" bIns="48328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57" tIns="48328" rIns="96657" bIns="48328" rtlCol="0"/>
          <a:lstStyle>
            <a:lvl1pPr algn="r">
              <a:defRPr sz="1200"/>
            </a:lvl1pPr>
          </a:lstStyle>
          <a:p>
            <a:fld id="{7F9A434A-E28D-48CF-B509-40D1F43B2727}" type="datetimeFigureOut">
              <a:rPr lang="en-CA" smtClean="0"/>
              <a:t>05-Jul-2026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7" tIns="48328" rIns="96657" bIns="48328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0" y="3474720"/>
            <a:ext cx="7680960" cy="3291840"/>
          </a:xfrm>
          <a:prstGeom prst="rect">
            <a:avLst/>
          </a:prstGeom>
        </p:spPr>
        <p:txBody>
          <a:bodyPr vert="horz" lIns="96657" tIns="48328" rIns="96657" bIns="4832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0"/>
            <a:ext cx="4160520" cy="365760"/>
          </a:xfrm>
          <a:prstGeom prst="rect">
            <a:avLst/>
          </a:prstGeom>
        </p:spPr>
        <p:txBody>
          <a:bodyPr vert="horz" lIns="96657" tIns="48328" rIns="96657" bIns="48328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9" y="6948170"/>
            <a:ext cx="4160520" cy="365760"/>
          </a:xfrm>
          <a:prstGeom prst="rect">
            <a:avLst/>
          </a:prstGeom>
        </p:spPr>
        <p:txBody>
          <a:bodyPr vert="horz" lIns="96657" tIns="48328" rIns="96657" bIns="48328" rtlCol="0" anchor="b"/>
          <a:lstStyle>
            <a:lvl1pPr algn="r">
              <a:defRPr sz="1200"/>
            </a:lvl1pPr>
          </a:lstStyle>
          <a:p>
            <a:fld id="{3724C892-3F7B-4FC9-B2FE-28247D510B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3555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24C892-3F7B-4FC9-B2FE-28247D510BFB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86010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24C892-3F7B-4FC9-B2FE-28247D510BFB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1014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1" defTabSz="966571">
              <a:defRPr/>
            </a:pPr>
            <a:r>
              <a:rPr lang="en-CA" sz="1900" dirty="0"/>
              <a:t>ungraded reviews: you get the average across graded reviews plus 10%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24C892-3F7B-4FC9-B2FE-28247D510BFB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6022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43FA-D4D3-441E-B885-7FA1A0FE399D}" type="datetimeFigureOut">
              <a:rPr lang="en-CA" smtClean="0"/>
              <a:t>05-Jul-2026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09F7-EF33-4F38-9E22-F068A218AB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9259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339" y="44624"/>
            <a:ext cx="11905323" cy="864096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339" y="1052736"/>
            <a:ext cx="11905323" cy="5688632"/>
          </a:xfrm>
        </p:spPr>
        <p:txBody>
          <a:bodyPr>
            <a:normAutofit/>
          </a:bodyPr>
          <a:lstStyle>
            <a:lvl1pPr>
              <a:buClr>
                <a:schemeClr val="tx1"/>
              </a:buClr>
              <a:defRPr sz="2800"/>
            </a:lvl1pPr>
            <a:lvl2pPr>
              <a:buClr>
                <a:schemeClr val="tx1"/>
              </a:buClr>
              <a:defRPr sz="2400"/>
            </a:lvl2pPr>
            <a:lvl3pPr>
              <a:buClr>
                <a:schemeClr val="tx1"/>
              </a:buClr>
              <a:defRPr sz="2000"/>
            </a:lvl3pPr>
            <a:lvl4pPr>
              <a:buClr>
                <a:schemeClr val="tx1"/>
              </a:buClr>
              <a:defRPr sz="1800"/>
            </a:lvl4pPr>
            <a:lvl5pPr>
              <a:buClr>
                <a:schemeClr val="tx1"/>
              </a:buCl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10137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43FA-D4D3-441E-B885-7FA1A0FE399D}" type="datetimeFigureOut">
              <a:rPr lang="en-CA" smtClean="0"/>
              <a:t>05-Jul-2026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09F7-EF33-4F38-9E22-F068A218AB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6958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43FA-D4D3-441E-B885-7FA1A0FE399D}" type="datetimeFigureOut">
              <a:rPr lang="en-CA" smtClean="0"/>
              <a:t>05-Jul-2026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09F7-EF33-4F38-9E22-F068A218AB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79916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43FA-D4D3-441E-B885-7FA1A0FE399D}" type="datetimeFigureOut">
              <a:rPr lang="en-CA" smtClean="0"/>
              <a:t>05-Jul-2026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09F7-EF33-4F38-9E22-F068A218AB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0602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43FA-D4D3-441E-B885-7FA1A0FE399D}" type="datetimeFigureOut">
              <a:rPr lang="en-CA" smtClean="0"/>
              <a:t>05-Jul-2026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09F7-EF33-4F38-9E22-F068A218AB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0639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43FA-D4D3-441E-B885-7FA1A0FE399D}" type="datetimeFigureOut">
              <a:rPr lang="en-CA" smtClean="0"/>
              <a:t>05-Jul-2026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09F7-EF33-4F38-9E22-F068A218AB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0322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43FA-D4D3-441E-B885-7FA1A0FE399D}" type="datetimeFigureOut">
              <a:rPr lang="en-CA" smtClean="0"/>
              <a:t>05-Jul-2026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09F7-EF33-4F38-9E22-F068A218AB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9196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43FA-D4D3-441E-B885-7FA1A0FE399D}" type="datetimeFigureOut">
              <a:rPr lang="en-CA" smtClean="0"/>
              <a:t>05-Jul-2026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09F7-EF33-4F38-9E22-F068A218AB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8611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43FA-D4D3-441E-B885-7FA1A0FE399D}" type="datetimeFigureOut">
              <a:rPr lang="en-CA" smtClean="0"/>
              <a:t>05-Jul-2026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09F7-EF33-4F38-9E22-F068A218AB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55977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43FA-D4D3-441E-B885-7FA1A0FE399D}" type="datetimeFigureOut">
              <a:rPr lang="en-CA" smtClean="0"/>
              <a:t>05-Jul-2026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09F7-EF33-4F38-9E22-F068A218AB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5961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C043FA-D4D3-441E-B885-7FA1A0FE399D}" type="datetimeFigureOut">
              <a:rPr lang="en-CA" smtClean="0"/>
              <a:t>05-Jul-2026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E009F7-EF33-4F38-9E22-F068A218AB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1012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cs.ubc.ca/~kevinlb/teaching/cs43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agora.students.cs.ubc.ca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209.01242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mta.students.cs.ubc.ca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1412779"/>
            <a:ext cx="7772400" cy="1470025"/>
          </a:xfrm>
        </p:spPr>
        <p:txBody>
          <a:bodyPr>
            <a:noAutofit/>
          </a:bodyPr>
          <a:lstStyle/>
          <a:p>
            <a:r>
              <a:rPr lang="en-CA" sz="4800" b="1" dirty="0"/>
              <a:t>Computers and Society</a:t>
            </a:r>
            <a:br>
              <a:rPr lang="en-CA" sz="4800" b="1" dirty="0"/>
            </a:br>
            <a:r>
              <a:rPr lang="en-CA" dirty="0"/>
              <a:t>CPSC 430</a:t>
            </a:r>
            <a:endParaRPr lang="en-CA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5600" y="3886200"/>
            <a:ext cx="6400800" cy="2063080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CA" dirty="0"/>
              <a:t>Lecture 1 – Introduction</a:t>
            </a:r>
          </a:p>
          <a:p>
            <a:r>
              <a:rPr lang="en-CA" dirty="0"/>
              <a:t>Giulia Toti</a:t>
            </a:r>
            <a:endParaRPr lang="en-CA" sz="2100" dirty="0">
              <a:cs typeface="Calibri"/>
            </a:endParaRPr>
          </a:p>
          <a:p>
            <a:endParaRPr lang="en-CA" dirty="0"/>
          </a:p>
          <a:p>
            <a:r>
              <a:rPr lang="en-CA" sz="2100" dirty="0"/>
              <a:t>Original course material developed by Kevin Leyton-Brown: </a:t>
            </a:r>
            <a:r>
              <a:rPr lang="en-CA" sz="2100" dirty="0">
                <a:hlinkClick r:id="rId3"/>
              </a:rPr>
              <a:t>http://cs.ubc.ca/~kevinlb/teaching/cs430</a:t>
            </a:r>
            <a:endParaRPr lang="en-CA" sz="2100" dirty="0"/>
          </a:p>
        </p:txBody>
      </p:sp>
    </p:spTree>
    <p:extLst>
      <p:ext uri="{BB962C8B-B14F-4D97-AF65-F5344CB8AC3E}">
        <p14:creationId xmlns:p14="http://schemas.microsoft.com/office/powerpoint/2010/main" val="1934037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F109E-F6AE-40F1-B3BE-2D7D4995D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Logistics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ED7D0-84D1-41EB-B51E-DA2EA20ED3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the basics you need to know to get started </a:t>
            </a:r>
          </a:p>
        </p:txBody>
      </p:sp>
    </p:spTree>
    <p:extLst>
      <p:ext uri="{BB962C8B-B14F-4D97-AF65-F5344CB8AC3E}">
        <p14:creationId xmlns:p14="http://schemas.microsoft.com/office/powerpoint/2010/main" val="672324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4D8F0-5FCD-4E65-98DD-394E9C43C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CE55D-991F-435B-B99C-9B173E4A2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339" y="1052736"/>
            <a:ext cx="11905323" cy="5688632"/>
          </a:xfrm>
        </p:spPr>
        <p:txBody>
          <a:bodyPr>
            <a:normAutofit/>
          </a:bodyPr>
          <a:lstStyle/>
          <a:p>
            <a:r>
              <a:rPr lang="en-CA" dirty="0"/>
              <a:t>Class time:</a:t>
            </a:r>
            <a:endParaRPr lang="en-CA" b="1" dirty="0">
              <a:solidFill>
                <a:schemeClr val="accent2"/>
              </a:solidFill>
            </a:endParaRPr>
          </a:p>
          <a:p>
            <a:pPr lvl="1"/>
            <a:r>
              <a:rPr lang="en-CA" dirty="0"/>
              <a:t>Mon, Wed, Fri 1:30 – 4:00; SHRM B1009</a:t>
            </a:r>
          </a:p>
          <a:p>
            <a:pPr lvl="1"/>
            <a:r>
              <a:rPr lang="en-CA" b="1" dirty="0">
                <a:solidFill>
                  <a:schemeClr val="accent1"/>
                </a:solidFill>
              </a:rPr>
              <a:t>Lead TA</a:t>
            </a:r>
            <a:r>
              <a:rPr lang="en-CA" dirty="0"/>
              <a:t>: Raymond Liu</a:t>
            </a:r>
          </a:p>
          <a:p>
            <a:pPr lvl="1"/>
            <a:r>
              <a:rPr lang="en-CA" b="1" dirty="0">
                <a:solidFill>
                  <a:schemeClr val="accent1"/>
                </a:solidFill>
              </a:rPr>
              <a:t>TA team</a:t>
            </a:r>
            <a:r>
              <a:rPr lang="en-CA" dirty="0"/>
              <a:t>: </a:t>
            </a:r>
            <a:r>
              <a:rPr lang="en-US" dirty="0"/>
              <a:t>Ross Tomita, Ch Muhammad Daud Virk, Heng Zhao</a:t>
            </a:r>
            <a:endParaRPr lang="de-DE" dirty="0"/>
          </a:p>
          <a:p>
            <a:r>
              <a:rPr lang="en-CA" dirty="0"/>
              <a:t>Office hours:</a:t>
            </a:r>
          </a:p>
          <a:p>
            <a:pPr lvl="1"/>
            <a:r>
              <a:rPr lang="en-CA" b="1" dirty="0">
                <a:solidFill>
                  <a:schemeClr val="accent1"/>
                </a:solidFill>
              </a:rPr>
              <a:t>Instructor</a:t>
            </a:r>
            <a:r>
              <a:rPr lang="en-CA" dirty="0"/>
              <a:t>: </a:t>
            </a:r>
            <a:r>
              <a:rPr lang="en-US" dirty="0"/>
              <a:t>Wednesday, 4:00PM - 5:00PM in ICCS 231</a:t>
            </a:r>
            <a:r>
              <a:rPr lang="en-CA" dirty="0"/>
              <a:t>, or by appointment</a:t>
            </a:r>
          </a:p>
          <a:p>
            <a:pPr lvl="1"/>
            <a:r>
              <a:rPr lang="en-CA" b="1" dirty="0">
                <a:solidFill>
                  <a:schemeClr val="accent1"/>
                </a:solidFill>
              </a:rPr>
              <a:t>TAs</a:t>
            </a:r>
            <a:r>
              <a:rPr lang="en-CA" dirty="0"/>
              <a:t>: </a:t>
            </a:r>
          </a:p>
          <a:p>
            <a:pPr lvl="2"/>
            <a:r>
              <a:rPr lang="en-CA" dirty="0"/>
              <a:t>Raymond, 4:00PM – 5:00PM, room TBA, for logistics/essays/peer reviews/accommodations</a:t>
            </a:r>
          </a:p>
          <a:p>
            <a:pPr lvl="2"/>
            <a:r>
              <a:rPr lang="en-CA" dirty="0"/>
              <a:t>May add depending on demand</a:t>
            </a:r>
          </a:p>
        </p:txBody>
      </p:sp>
    </p:spTree>
    <p:extLst>
      <p:ext uri="{BB962C8B-B14F-4D97-AF65-F5344CB8AC3E}">
        <p14:creationId xmlns:p14="http://schemas.microsoft.com/office/powerpoint/2010/main" val="275366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4DEAA-B145-4F5D-B062-DE8FFA9FD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I’m on the wait list?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F2EBD-6503-4D56-AA26-F1CEFAB10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 waitlist is quite long – plan accordingly</a:t>
            </a:r>
          </a:p>
          <a:p>
            <a:pPr lvl="1"/>
            <a:r>
              <a:rPr lang="en-US" dirty="0"/>
              <a:t>Instructors are not involved, special cases are evaluated by undergrad advisors in the main office</a:t>
            </a:r>
          </a:p>
          <a:p>
            <a:r>
              <a:rPr lang="en-US" dirty="0"/>
              <a:t>Main office will prioritize the wait list by </a:t>
            </a:r>
            <a:r>
              <a:rPr lang="en-US" b="1" dirty="0">
                <a:solidFill>
                  <a:schemeClr val="accent2"/>
                </a:solidFill>
              </a:rPr>
              <a:t>participation in the course </a:t>
            </a:r>
          </a:p>
          <a:p>
            <a:pPr lvl="1"/>
            <a:r>
              <a:rPr lang="en-US" dirty="0"/>
              <a:t>only </a:t>
            </a:r>
            <a:r>
              <a:rPr lang="en-US" b="1" dirty="0">
                <a:solidFill>
                  <a:schemeClr val="accent1"/>
                </a:solidFill>
              </a:rPr>
              <a:t>highly active participants </a:t>
            </a:r>
            <a:r>
              <a:rPr lang="en-US" dirty="0"/>
              <a:t>will be considered</a:t>
            </a:r>
          </a:p>
          <a:p>
            <a:pPr lvl="1"/>
            <a:r>
              <a:rPr lang="en-US" dirty="0"/>
              <a:t>if still oversubscribed, ordered by standard waitlist priority</a:t>
            </a:r>
          </a:p>
          <a:p>
            <a:r>
              <a:rPr lang="en-US" b="1" dirty="0">
                <a:solidFill>
                  <a:schemeClr val="accent2"/>
                </a:solidFill>
              </a:rPr>
              <a:t>No reduction in required course elements </a:t>
            </a:r>
            <a:r>
              <a:rPr lang="en-US" dirty="0"/>
              <a:t>for having been on wait list </a:t>
            </a:r>
          </a:p>
          <a:p>
            <a:pPr lvl="1"/>
            <a:r>
              <a:rPr lang="en-US" dirty="0"/>
              <a:t>wait list registrants have access to MTA and CBTF; can be added to Piazza (ask)</a:t>
            </a:r>
          </a:p>
          <a:p>
            <a:pPr lvl="1"/>
            <a:r>
              <a:rPr lang="en-US" dirty="0"/>
              <a:t>if you have troubles, let us know!</a:t>
            </a:r>
          </a:p>
        </p:txBody>
      </p:sp>
    </p:spTree>
    <p:extLst>
      <p:ext uri="{BB962C8B-B14F-4D97-AF65-F5344CB8AC3E}">
        <p14:creationId xmlns:p14="http://schemas.microsoft.com/office/powerpoint/2010/main" val="1600236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275863-7CED-4C63-B6B6-52F30CCB7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Essays, peer review, and participation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C31B16-C45D-4C9F-83E1-063862175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will your grade come from? What will you need to do to succeed in the class?</a:t>
            </a:r>
          </a:p>
        </p:txBody>
      </p:sp>
    </p:spTree>
    <p:extLst>
      <p:ext uri="{BB962C8B-B14F-4D97-AF65-F5344CB8AC3E}">
        <p14:creationId xmlns:p14="http://schemas.microsoft.com/office/powerpoint/2010/main" val="3611035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Course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We’ll explore the interplay between </a:t>
            </a:r>
            <a:r>
              <a:rPr lang="en-CA" b="1" dirty="0">
                <a:solidFill>
                  <a:schemeClr val="accent2"/>
                </a:solidFill>
              </a:rPr>
              <a:t>information technology and society</a:t>
            </a:r>
            <a:r>
              <a:rPr lang="en-CA" dirty="0"/>
              <a:t>, emphasizing ethical issues. </a:t>
            </a:r>
          </a:p>
          <a:p>
            <a:r>
              <a:rPr lang="en-CA" dirty="0"/>
              <a:t>You’ll come away with an increased:</a:t>
            </a:r>
          </a:p>
          <a:p>
            <a:pPr lvl="1"/>
            <a:r>
              <a:rPr lang="en-CA" dirty="0"/>
              <a:t>understanding of the </a:t>
            </a:r>
            <a:r>
              <a:rPr lang="en-CA" b="1" dirty="0">
                <a:solidFill>
                  <a:schemeClr val="accent1"/>
                </a:solidFill>
              </a:rPr>
              <a:t>social and ethical implications </a:t>
            </a:r>
            <a:r>
              <a:rPr lang="en-CA" dirty="0"/>
              <a:t>of computer use and abuse;</a:t>
            </a:r>
          </a:p>
          <a:p>
            <a:pPr lvl="1"/>
            <a:r>
              <a:rPr lang="en-CA" dirty="0"/>
              <a:t>ability to </a:t>
            </a:r>
            <a:r>
              <a:rPr lang="en-CA" b="1" dirty="0">
                <a:solidFill>
                  <a:schemeClr val="accent1"/>
                </a:solidFill>
              </a:rPr>
              <a:t>think critically and defend decisions </a:t>
            </a:r>
            <a:r>
              <a:rPr lang="en-CA" dirty="0"/>
              <a:t>logically;</a:t>
            </a:r>
          </a:p>
          <a:p>
            <a:pPr lvl="1"/>
            <a:r>
              <a:rPr lang="en-CA" dirty="0"/>
              <a:t>appreciation for </a:t>
            </a:r>
            <a:r>
              <a:rPr lang="en-CA" b="1" dirty="0">
                <a:solidFill>
                  <a:schemeClr val="accent1"/>
                </a:solidFill>
              </a:rPr>
              <a:t>alternate points of view</a:t>
            </a:r>
            <a:r>
              <a:rPr lang="en-CA" dirty="0"/>
              <a:t>. </a:t>
            </a:r>
          </a:p>
          <a:p>
            <a:r>
              <a:rPr lang="en-CA" dirty="0"/>
              <a:t>Our focus will be on </a:t>
            </a:r>
            <a:r>
              <a:rPr lang="en-CA" b="1" dirty="0">
                <a:solidFill>
                  <a:schemeClr val="accent2"/>
                </a:solidFill>
              </a:rPr>
              <a:t>reading, writing and discussion</a:t>
            </a:r>
            <a:r>
              <a:rPr lang="en-CA" dirty="0"/>
              <a:t>.</a:t>
            </a:r>
          </a:p>
          <a:p>
            <a:pPr lvl="1"/>
            <a:r>
              <a:rPr lang="en-CA" dirty="0"/>
              <a:t>Each week students will complete an </a:t>
            </a:r>
            <a:r>
              <a:rPr lang="en-CA" b="1" dirty="0">
                <a:solidFill>
                  <a:schemeClr val="accent1"/>
                </a:solidFill>
              </a:rPr>
              <a:t>assigned reading</a:t>
            </a:r>
            <a:r>
              <a:rPr lang="en-CA" dirty="0"/>
              <a:t>, write a </a:t>
            </a:r>
            <a:r>
              <a:rPr lang="en-CA" b="1" dirty="0">
                <a:solidFill>
                  <a:schemeClr val="accent1"/>
                </a:solidFill>
              </a:rPr>
              <a:t>mini-essay</a:t>
            </a:r>
            <a:r>
              <a:rPr lang="en-CA" dirty="0"/>
              <a:t> in response, and </a:t>
            </a:r>
            <a:r>
              <a:rPr lang="en-CA" b="1" dirty="0">
                <a:solidFill>
                  <a:schemeClr val="accent1"/>
                </a:solidFill>
              </a:rPr>
              <a:t>evaluate the work of others</a:t>
            </a:r>
            <a:r>
              <a:rPr lang="en-CA" dirty="0"/>
              <a:t>.</a:t>
            </a:r>
          </a:p>
          <a:p>
            <a:pPr lvl="1"/>
            <a:r>
              <a:rPr lang="en-CA" dirty="0"/>
              <a:t>Classes will emphasize discussion and debate.</a:t>
            </a:r>
          </a:p>
          <a:p>
            <a:pPr lvl="1"/>
            <a:r>
              <a:rPr lang="en-CA" dirty="0"/>
              <a:t>The ability to speak, read and write fluently in English is </a:t>
            </a:r>
            <a:r>
              <a:rPr lang="en-CA" b="1" dirty="0">
                <a:solidFill>
                  <a:schemeClr val="accent1"/>
                </a:solidFill>
              </a:rPr>
              <a:t>essential for success </a:t>
            </a:r>
            <a:r>
              <a:rPr lang="en-CA" dirty="0"/>
              <a:t>in the class.</a:t>
            </a:r>
          </a:p>
        </p:txBody>
      </p:sp>
    </p:spTree>
    <p:extLst>
      <p:ext uri="{BB962C8B-B14F-4D97-AF65-F5344CB8AC3E}">
        <p14:creationId xmlns:p14="http://schemas.microsoft.com/office/powerpoint/2010/main" val="375291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Grading Scheme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9381292"/>
              </p:ext>
            </p:extLst>
          </p:nvPr>
        </p:nvGraphicFramePr>
        <p:xfrm>
          <a:off x="1775520" y="1412776"/>
          <a:ext cx="8640960" cy="1371600"/>
        </p:xfrm>
        <a:graphic>
          <a:graphicData uri="http://schemas.openxmlformats.org/drawingml/2006/table">
            <a:tbl>
              <a:tblPr/>
              <a:tblGrid>
                <a:gridCol w="33843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7148679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A" sz="2400" baseline="0" dirty="0"/>
                        <a:t>Weekly Essay Questions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2400" baseline="0" dirty="0"/>
                        <a:t>70 %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Due Mon &amp; Fri at 1:30 PM</a:t>
                      </a:r>
                      <a:endParaRPr lang="en-CA" sz="2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 sz="2400" baseline="0" dirty="0"/>
                        <a:t>Weekly Peer Review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2400" baseline="0" dirty="0"/>
                        <a:t>20%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Due Mon &amp; Wed at 6 PM</a:t>
                      </a:r>
                      <a:endParaRPr lang="en-CA" sz="2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CA" sz="2400" baseline="0" dirty="0"/>
                        <a:t>In-class participation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CA" sz="2400" baseline="0" dirty="0"/>
                        <a:t>10%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CA" sz="2400" baseline="0" dirty="0"/>
                        <a:t>Every class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7066058"/>
                  </a:ext>
                </a:extLst>
              </a:tr>
            </a:tbl>
          </a:graphicData>
        </a:graphic>
      </p:graphicFrame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697006" y="3288432"/>
            <a:ext cx="8797989" cy="35695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200" dirty="0">
                <a:cs typeface="Arial" charset="0"/>
              </a:rPr>
              <a:t>No exams, but the essay questions are mini-exams that you’ll write in the Computer Based Testing Facility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200" dirty="0">
                <a:cs typeface="Arial" charset="0"/>
              </a:rPr>
              <a:t>The course emphasizes </a:t>
            </a:r>
            <a:r>
              <a:rPr lang="en-US" sz="2200" b="1" dirty="0">
                <a:solidFill>
                  <a:schemeClr val="accent2"/>
                </a:solidFill>
                <a:cs typeface="Arial" charset="0"/>
              </a:rPr>
              <a:t>making arguments and engaging with arguments made by your peers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200" dirty="0">
                <a:cs typeface="Arial"/>
              </a:rPr>
              <a:t>We may change the exact percentage breakdowns shown here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CA" sz="2200" dirty="0">
                <a:cs typeface="Arial" charset="0"/>
              </a:rPr>
              <a:t>This is</a:t>
            </a:r>
            <a:r>
              <a:rPr lang="en-CA" sz="2200" b="1" dirty="0">
                <a:solidFill>
                  <a:schemeClr val="accent2"/>
                </a:solidFill>
                <a:cs typeface="Arial" charset="0"/>
              </a:rPr>
              <a:t> not an easy course—something to hand in </a:t>
            </a:r>
            <a:r>
              <a:rPr lang="en-CA" sz="2200" b="1" i="1" dirty="0">
                <a:solidFill>
                  <a:schemeClr val="accent2"/>
                </a:solidFill>
                <a:cs typeface="Arial" charset="0"/>
              </a:rPr>
              <a:t>every</a:t>
            </a:r>
            <a:r>
              <a:rPr lang="en-CA" sz="2200" b="1" dirty="0">
                <a:solidFill>
                  <a:schemeClr val="accent2"/>
                </a:solidFill>
                <a:cs typeface="Arial" charset="0"/>
              </a:rPr>
              <a:t> class</a:t>
            </a:r>
            <a:endParaRPr lang="en-CA" sz="2200" dirty="0">
              <a:cs typeface="Arial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CA" sz="1700" dirty="0">
                <a:cs typeface="Arial" charset="0"/>
              </a:rPr>
              <a:t>Summer pace is particularly fast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CA" sz="1700" dirty="0">
                <a:cs typeface="Arial" charset="0"/>
              </a:rPr>
              <a:t>On the other hand, you’ll learn a lot, and students who work hard throughout the term can expect to do well</a:t>
            </a:r>
            <a:endParaRPr lang="en-US" sz="1700" dirty="0">
              <a:cs typeface="Arial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sz="2000" dirty="0">
              <a:cs typeface="Arial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124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4AE05-47C8-48E2-8808-99BB48945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Class Attendance and Participation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A4071-BDC9-4109-93DB-23C535E95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339" y="980728"/>
            <a:ext cx="11905323" cy="57606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Active participation </a:t>
            </a:r>
            <a:r>
              <a:rPr lang="en-US" dirty="0"/>
              <a:t>in the class is a key element of this course</a:t>
            </a:r>
          </a:p>
          <a:p>
            <a:pPr lvl="1"/>
            <a:r>
              <a:rPr lang="en-US" dirty="0"/>
              <a:t>“</a:t>
            </a:r>
            <a:r>
              <a:rPr lang="en-US" b="1" dirty="0">
                <a:solidFill>
                  <a:schemeClr val="accent1"/>
                </a:solidFill>
              </a:rPr>
              <a:t>Flipped classroom</a:t>
            </a:r>
            <a:r>
              <a:rPr lang="en-US" dirty="0"/>
              <a:t>”: lectures don’t focus on transmitting information</a:t>
            </a:r>
          </a:p>
          <a:p>
            <a:pPr lvl="1"/>
            <a:r>
              <a:rPr lang="en-US" dirty="0"/>
              <a:t>Instead, they focus on </a:t>
            </a:r>
            <a:r>
              <a:rPr lang="en-US" b="1" dirty="0">
                <a:solidFill>
                  <a:schemeClr val="accent1"/>
                </a:solidFill>
              </a:rPr>
              <a:t>interaction, discussion and critical analysis</a:t>
            </a:r>
          </a:p>
          <a:p>
            <a:r>
              <a:rPr lang="en-US" dirty="0"/>
              <a:t>Participating in </a:t>
            </a:r>
            <a:r>
              <a:rPr lang="en-US" b="1" dirty="0">
                <a:solidFill>
                  <a:schemeClr val="accent2"/>
                </a:solidFill>
              </a:rPr>
              <a:t>class discussions </a:t>
            </a:r>
            <a:r>
              <a:rPr lang="en-US" dirty="0"/>
              <a:t>contributes to your participation grade and reduces your peer grading workload:</a:t>
            </a:r>
            <a:endParaRPr lang="en-US" dirty="0">
              <a:cs typeface="Calibri"/>
            </a:endParaRPr>
          </a:p>
          <a:p>
            <a:pPr lvl="1">
              <a:buClr>
                <a:srgbClr val="000000"/>
              </a:buClr>
            </a:pPr>
            <a:r>
              <a:rPr lang="en-US" dirty="0"/>
              <a:t>We’ll use </a:t>
            </a:r>
            <a:r>
              <a:rPr lang="en-US" b="1" dirty="0">
                <a:solidFill>
                  <a:schemeClr val="accent1"/>
                </a:solidFill>
              </a:rPr>
              <a:t>Agora </a:t>
            </a:r>
            <a:r>
              <a:rPr lang="en-US" dirty="0"/>
              <a:t>to adjudicate in-class discussions</a:t>
            </a:r>
          </a:p>
          <a:p>
            <a:pPr lvl="2">
              <a:buClr>
                <a:srgbClr val="000000"/>
              </a:buClr>
            </a:pPr>
            <a:r>
              <a:rPr lang="en-US" dirty="0"/>
              <a:t>starting Wednesday, basis of participation grades</a:t>
            </a:r>
          </a:p>
          <a:p>
            <a:pPr lvl="1"/>
            <a:r>
              <a:rPr lang="en-US" dirty="0"/>
              <a:t>If you want to contribute to a discussion, you click a button to </a:t>
            </a:r>
            <a:r>
              <a:rPr lang="en-US" b="1" dirty="0">
                <a:solidFill>
                  <a:schemeClr val="accent1"/>
                </a:solidFill>
              </a:rPr>
              <a:t>raise your hand</a:t>
            </a:r>
          </a:p>
          <a:p>
            <a:pPr lvl="1"/>
            <a:r>
              <a:rPr lang="en-US" dirty="0"/>
              <a:t>Every time I call on someone</a:t>
            </a:r>
          </a:p>
          <a:p>
            <a:pPr lvl="2"/>
            <a:r>
              <a:rPr lang="en-US" b="1" dirty="0">
                <a:solidFill>
                  <a:schemeClr val="accent1"/>
                </a:solidFill>
              </a:rPr>
              <a:t>one student </a:t>
            </a:r>
            <a:r>
              <a:rPr lang="en-US" dirty="0"/>
              <a:t>with a raised hand will be randomly selected to respond</a:t>
            </a:r>
            <a:endParaRPr lang="en-US" dirty="0">
              <a:cs typeface="Calibri"/>
            </a:endParaRPr>
          </a:p>
          <a:p>
            <a:pPr lvl="2"/>
            <a:r>
              <a:rPr lang="en-US" b="1" dirty="0">
                <a:solidFill>
                  <a:schemeClr val="accent1"/>
                </a:solidFill>
              </a:rPr>
              <a:t>every student </a:t>
            </a:r>
            <a:r>
              <a:rPr lang="en-US" dirty="0"/>
              <a:t>who had a hand raised will be recorded for participation purposes</a:t>
            </a:r>
          </a:p>
          <a:p>
            <a:pPr lvl="1"/>
            <a:r>
              <a:rPr lang="en-US" dirty="0">
                <a:ea typeface="+mn-lt"/>
                <a:cs typeface="+mn-lt"/>
              </a:rPr>
              <a:t>Raising your hand reduces the number of peer reviews to 3 instead of 5 for the following deadline (typically, Friday for Monday and Monday for Wednesday).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4409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3790A-8853-40CB-B2C4-28A6E4BAA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Take a Minute to Log Into Agora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0EFADC0-2684-4B0F-8314-166CFDAAC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2D3B45"/>
                </a:solidFill>
                <a:latin typeface="Lato Extended"/>
              </a:rPr>
              <a:t>P</a:t>
            </a:r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latform to manage in class discussions</a:t>
            </a:r>
          </a:p>
          <a:p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log in at </a:t>
            </a:r>
            <a:r>
              <a:rPr lang="en-US" b="0" i="0" u="sng" dirty="0">
                <a:solidFill>
                  <a:srgbClr val="0055B7"/>
                </a:solidFill>
                <a:effectLst/>
                <a:latin typeface="Lato Extended"/>
                <a:hlinkClick r:id="rId2"/>
              </a:rPr>
              <a:t>https://agora.students.cs.ubc.ca/</a:t>
            </a:r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 using your CWL; enroll code for first time access: 40993.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D902C8-9E1C-4298-8C61-B005B3560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768" y="2561939"/>
            <a:ext cx="4176464" cy="417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294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4AE05-47C8-48E2-8808-99BB48945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Your 10% Participation Grade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A4071-BDC9-4109-93DB-23C535E95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solidFill>
                  <a:schemeClr val="accent2"/>
                </a:solidFill>
                <a:cs typeface="Calibri"/>
              </a:rPr>
              <a:t>Raising your hand </a:t>
            </a:r>
            <a:r>
              <a:rPr lang="en-US" dirty="0">
                <a:cs typeface="Calibri"/>
              </a:rPr>
              <a:t>(even if you are not called to speak) counts as participating</a:t>
            </a:r>
            <a:endParaRPr lang="en-US" dirty="0"/>
          </a:p>
          <a:p>
            <a:pPr>
              <a:buClr>
                <a:srgbClr val="000000"/>
              </a:buClr>
            </a:pPr>
            <a:r>
              <a:rPr lang="en-US" dirty="0"/>
              <a:t>If you’re </a:t>
            </a:r>
            <a:r>
              <a:rPr lang="en-US" b="1" dirty="0">
                <a:solidFill>
                  <a:schemeClr val="accent2"/>
                </a:solidFill>
              </a:rPr>
              <a:t>chosen to speak</a:t>
            </a:r>
            <a:endParaRPr lang="it-IT" b="1" dirty="0">
              <a:solidFill>
                <a:schemeClr val="accent2"/>
              </a:solidFill>
              <a:cs typeface="Calibri"/>
            </a:endParaRPr>
          </a:p>
          <a:p>
            <a:pPr lvl="1"/>
            <a:r>
              <a:rPr lang="en-US" dirty="0"/>
              <a:t>you will probably </a:t>
            </a:r>
            <a:r>
              <a:rPr lang="en-US" b="1" dirty="0">
                <a:solidFill>
                  <a:schemeClr val="accent1"/>
                </a:solidFill>
              </a:rPr>
              <a:t>not be chosen </a:t>
            </a:r>
            <a:r>
              <a:rPr lang="en-US" dirty="0"/>
              <a:t>to speak again during the same class </a:t>
            </a:r>
          </a:p>
          <a:p>
            <a:pPr lvl="2"/>
            <a:r>
              <a:rPr lang="en-US" dirty="0"/>
              <a:t>unless the only hands raised are from students who have already spoken</a:t>
            </a:r>
          </a:p>
          <a:p>
            <a:pPr lvl="1"/>
            <a:r>
              <a:rPr lang="en-US" dirty="0"/>
              <a:t>you’ll be </a:t>
            </a:r>
            <a:r>
              <a:rPr lang="en-US" b="1" dirty="0">
                <a:solidFill>
                  <a:schemeClr val="accent1"/>
                </a:solidFill>
              </a:rPr>
              <a:t>counted as having raised your hand </a:t>
            </a:r>
            <a:r>
              <a:rPr lang="en-US" dirty="0"/>
              <a:t>for the remainder of the class</a:t>
            </a:r>
          </a:p>
          <a:p>
            <a:pPr lvl="2"/>
            <a:r>
              <a:rPr lang="en-US" dirty="0"/>
              <a:t>But not if you leave right after having being called to answer! That cancels the points for the day</a:t>
            </a:r>
          </a:p>
          <a:p>
            <a:pPr lvl="2"/>
            <a:endParaRPr lang="en-US" dirty="0"/>
          </a:p>
          <a:p>
            <a:pPr lvl="1">
              <a:buClr>
                <a:srgbClr val="000000"/>
              </a:buClr>
            </a:pPr>
            <a:endParaRPr lang="en-US" dirty="0"/>
          </a:p>
          <a:p>
            <a:pPr lvl="1">
              <a:buClr>
                <a:srgbClr val="000000"/>
              </a:buClr>
            </a:pPr>
            <a:endParaRPr lang="en-US" dirty="0">
              <a:cs typeface="Calibri"/>
            </a:endParaRPr>
          </a:p>
          <a:p>
            <a:pPr lvl="1">
              <a:buClr>
                <a:srgbClr val="000000"/>
              </a:buClr>
            </a:pPr>
            <a:endParaRPr lang="en-US" dirty="0">
              <a:cs typeface="Calibri"/>
            </a:endParaRPr>
          </a:p>
          <a:p>
            <a:pPr lvl="1">
              <a:buClr>
                <a:srgbClr val="000000"/>
              </a:buClr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4" name="Tabella 4">
            <a:extLst>
              <a:ext uri="{FF2B5EF4-FFF2-40B4-BE49-F238E27FC236}">
                <a16:creationId xmlns:a16="http://schemas.microsoft.com/office/drawing/2014/main" id="{CD0E8300-AFCD-0C96-BAE0-0C2360E50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092488"/>
              </p:ext>
            </p:extLst>
          </p:nvPr>
        </p:nvGraphicFramePr>
        <p:xfrm>
          <a:off x="2456742" y="3675969"/>
          <a:ext cx="9468565" cy="2966717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6500601">
                  <a:extLst>
                    <a:ext uri="{9D8B030D-6E8A-4147-A177-3AD203B41FA5}">
                      <a16:colId xmlns:a16="http://schemas.microsoft.com/office/drawing/2014/main" val="833116088"/>
                    </a:ext>
                  </a:extLst>
                </a:gridCol>
                <a:gridCol w="2967964">
                  <a:extLst>
                    <a:ext uri="{9D8B030D-6E8A-4147-A177-3AD203B41FA5}">
                      <a16:colId xmlns:a16="http://schemas.microsoft.com/office/drawing/2014/main" val="23552450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noProof="0" dirty="0"/>
                        <a:t>Raise your hand this many times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/>
                        <a:t>Get this many points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143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584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054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noProof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905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noProof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/>
                        <a:t>6.5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387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noProof="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40837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CA" sz="1800" u="none" strike="noStrike" noProof="0" dirty="0"/>
                        <a:t>The median among students who participated at least once</a:t>
                      </a:r>
                      <a:endParaRPr lang="en-CA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CA" noProof="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25991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CA" sz="1800" u="none" strike="noStrike" noProof="0" dirty="0"/>
                        <a:t>The maximum among students who participated at least once</a:t>
                      </a:r>
                      <a:endParaRPr lang="en-CA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CA" noProof="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226873"/>
                  </a:ext>
                </a:extLst>
              </a:tr>
            </a:tbl>
          </a:graphicData>
        </a:graphic>
      </p:graphicFrame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FCC7E06F-9D06-6240-D06E-7D37B5B0C526}"/>
              </a:ext>
            </a:extLst>
          </p:cNvPr>
          <p:cNvCxnSpPr/>
          <p:nvPr/>
        </p:nvCxnSpPr>
        <p:spPr>
          <a:xfrm flipH="1">
            <a:off x="2331854" y="5918648"/>
            <a:ext cx="2699" cy="698612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C13094D-2C76-032A-1EEC-6F31283E5AE7}"/>
              </a:ext>
            </a:extLst>
          </p:cNvPr>
          <p:cNvSpPr txBox="1"/>
          <p:nvPr/>
        </p:nvSpPr>
        <p:spPr>
          <a:xfrm>
            <a:off x="156946" y="6021288"/>
            <a:ext cx="2225308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CA" i="1" dirty="0">
                <a:cs typeface="Calibri"/>
              </a:rPr>
              <a:t>Linear interpolation </a:t>
            </a:r>
            <a:r>
              <a:rPr lang="en-CA" sz="1100" dirty="0">
                <a:cs typeface="Calibri"/>
              </a:rPr>
              <a:t>(see Canvas)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87297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4AE05-47C8-48E2-8808-99BB48945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participation affects your grade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A4071-BDC9-4109-93DB-23C535E95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Severe </a:t>
            </a:r>
            <a:r>
              <a:rPr lang="en-US" b="1" dirty="0">
                <a:solidFill>
                  <a:srgbClr val="C00000"/>
                </a:solidFill>
              </a:rPr>
              <a:t>consequences</a:t>
            </a:r>
            <a:r>
              <a:rPr lang="en-US" dirty="0"/>
              <a:t> for trying to game the system</a:t>
            </a:r>
            <a:endParaRPr lang="it-IT" dirty="0"/>
          </a:p>
          <a:p>
            <a:pPr lvl="1"/>
            <a:r>
              <a:rPr lang="en-US" dirty="0"/>
              <a:t>If you clearly just raised your hand for points rather than to contribute to the discussion, you’ll get </a:t>
            </a:r>
            <a:r>
              <a:rPr lang="en-US" b="1" dirty="0">
                <a:solidFill>
                  <a:schemeClr val="accent1"/>
                </a:solidFill>
              </a:rPr>
              <a:t>zero points for the entire day</a:t>
            </a:r>
          </a:p>
          <a:p>
            <a:pPr lvl="2"/>
            <a:r>
              <a:rPr lang="en-US" dirty="0"/>
              <a:t>regardless of how many other points you might have been awarded earlier that day</a:t>
            </a:r>
          </a:p>
          <a:p>
            <a:pPr lvl="1"/>
            <a:r>
              <a:rPr lang="en-US" dirty="0"/>
              <a:t>If you use Agora to raise your hand while </a:t>
            </a:r>
            <a:r>
              <a:rPr lang="en-US" b="1" dirty="0">
                <a:solidFill>
                  <a:schemeClr val="accent1"/>
                </a:solidFill>
              </a:rPr>
              <a:t>not physically present in the class</a:t>
            </a:r>
            <a:r>
              <a:rPr lang="en-US" dirty="0"/>
              <a:t>, this will be treated as a case of </a:t>
            </a:r>
            <a:r>
              <a:rPr lang="en-US" b="1" dirty="0">
                <a:solidFill>
                  <a:schemeClr val="accent1"/>
                </a:solidFill>
              </a:rPr>
              <a:t>academic misconduct </a:t>
            </a:r>
            <a:r>
              <a:rPr lang="en-US" dirty="0"/>
              <a:t>and serious penalties will apply</a:t>
            </a:r>
          </a:p>
          <a:p>
            <a:pPr lvl="2"/>
            <a:r>
              <a:rPr lang="en-US" dirty="0"/>
              <a:t>TAs will always be able to see a real-time list of which students have put their hands up</a:t>
            </a:r>
          </a:p>
          <a:p>
            <a:pPr lvl="2"/>
            <a:r>
              <a:rPr lang="en-US" dirty="0"/>
              <a:t>The instructor has access to UBC Card photos via Workday</a:t>
            </a:r>
          </a:p>
          <a:p>
            <a:pPr lvl="2"/>
            <a:r>
              <a:rPr lang="en-US" dirty="0"/>
              <a:t>We reserve the right to verify physical attendance even for students who are not called upon.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791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F382B-27E9-47AF-A1B3-AF208AE9F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Essays in the CBTF</a:t>
            </a:r>
          </a:p>
        </p:txBody>
      </p:sp>
      <p:pic>
        <p:nvPicPr>
          <p:cNvPr id="2050" name="Picture 2" descr="Birds-eye view photo of the CBTF room.">
            <a:extLst>
              <a:ext uri="{FF2B5EF4-FFF2-40B4-BE49-F238E27FC236}">
                <a16:creationId xmlns:a16="http://schemas.microsoft.com/office/drawing/2014/main" id="{8BC23238-9D93-4DC1-899A-009F62292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0216" y="1124744"/>
            <a:ext cx="3833191" cy="2013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D0C3D9F-3462-46A2-95D3-A59DF2543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339" y="1052736"/>
            <a:ext cx="11663391" cy="5688632"/>
          </a:xfrm>
        </p:spPr>
        <p:txBody>
          <a:bodyPr>
            <a:normAutofit fontScale="85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Whitney SSm A"/>
              </a:rPr>
              <a:t>First, you need to enroll for 430 in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Whitney SSm A"/>
              </a:rPr>
              <a:t>PrairieTest</a:t>
            </a:r>
            <a:r>
              <a:rPr lang="en-US" b="0" i="0" dirty="0">
                <a:solidFill>
                  <a:srgbClr val="000000"/>
                </a:solidFill>
                <a:effectLst/>
                <a:latin typeface="Whitney SSm A"/>
              </a:rPr>
              <a:t>. </a:t>
            </a:r>
            <a:br>
              <a:rPr lang="en-US" b="0" i="0" dirty="0">
                <a:solidFill>
                  <a:srgbClr val="000000"/>
                </a:solidFill>
                <a:effectLst/>
                <a:latin typeface="Whitney SSm A"/>
              </a:rPr>
            </a:br>
            <a:r>
              <a:rPr lang="en-US" sz="2300" b="0" i="0" dirty="0">
                <a:solidFill>
                  <a:srgbClr val="000000"/>
                </a:solidFill>
                <a:effectLst/>
                <a:latin typeface="Whitney SSm A"/>
              </a:rPr>
              <a:t>(Some of you may already be enrolled; you'll find out when you try.)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Whitney SSm A"/>
              </a:rPr>
              <a:t>You will have to </a:t>
            </a:r>
            <a:r>
              <a:rPr lang="en-US" dirty="0">
                <a:solidFill>
                  <a:srgbClr val="000000"/>
                </a:solidFill>
                <a:latin typeface="Whitney SSm A"/>
              </a:rPr>
              <a:t>book a slot </a:t>
            </a:r>
            <a:r>
              <a:rPr lang="en-US" b="0" i="0" dirty="0">
                <a:solidFill>
                  <a:srgbClr val="000000"/>
                </a:solidFill>
                <a:effectLst/>
                <a:latin typeface="Whitney SSm A"/>
              </a:rPr>
              <a:t>before you can use it. </a:t>
            </a:r>
            <a:br>
              <a:rPr lang="en-US" b="0" i="0" dirty="0">
                <a:solidFill>
                  <a:srgbClr val="000000"/>
                </a:solidFill>
                <a:effectLst/>
                <a:latin typeface="Whitney SSm A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Whitney SSm A"/>
              </a:rPr>
              <a:t>Slots are 50 minutes long. You can make these ~10 days in </a:t>
            </a:r>
            <a:br>
              <a:rPr lang="en-US" b="0" i="0" dirty="0">
                <a:solidFill>
                  <a:srgbClr val="000000"/>
                </a:solidFill>
                <a:effectLst/>
                <a:latin typeface="Whitney SSm A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Whitney SSm A"/>
              </a:rPr>
              <a:t>advance and can adjust your reservation time up to 30 mins </a:t>
            </a:r>
            <a:br>
              <a:rPr lang="en-US" b="0" i="0" dirty="0">
                <a:solidFill>
                  <a:srgbClr val="000000"/>
                </a:solidFill>
                <a:effectLst/>
                <a:latin typeface="Whitney SSm A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Whitney SSm A"/>
              </a:rPr>
              <a:t>before your reservation starts.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Whitney SSm A"/>
              </a:rPr>
              <a:t>You'll need to bring your student ID for each reservation. </a:t>
            </a:r>
            <a:br>
              <a:rPr lang="en-US" b="0" i="0" dirty="0">
                <a:solidFill>
                  <a:srgbClr val="000000"/>
                </a:solidFill>
                <a:effectLst/>
                <a:latin typeface="Whitney SSm A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Whitney SSm A"/>
              </a:rPr>
              <a:t>You're not permitted any electronic devices during your exam.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Whitney SSm A"/>
              </a:rPr>
              <a:t>If you have an accommodation through the Accessibility Center, you'll most likely receive your accommodation </a:t>
            </a:r>
            <a:r>
              <a:rPr lang="en-US" dirty="0">
                <a:solidFill>
                  <a:srgbClr val="000000"/>
                </a:solidFill>
                <a:latin typeface="Whitney SSm A"/>
              </a:rPr>
              <a:t>at the CBTF.     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Whitney SSm A"/>
              </a:rPr>
              <a:t>You will get the essay prompt in advance. I recommend writing an outline and planning what you intend to write before heading to the CBTF.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Whitney SSm A"/>
              </a:rPr>
              <a:t>You're welcome to use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Whitney SSm A"/>
              </a:rPr>
              <a:t>ChatGPT</a:t>
            </a:r>
            <a:r>
              <a:rPr lang="en-US" b="0" i="0" dirty="0">
                <a:solidFill>
                  <a:srgbClr val="000000"/>
                </a:solidFill>
                <a:effectLst/>
                <a:latin typeface="Whitney SSm A"/>
              </a:rPr>
              <a:t> (or a friend) to help you plan your essay, but you can't bring any materials with you into the CBTF, so you'll have to write in your own words.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Whitney SSm A"/>
              </a:rPr>
              <a:t>Surveys of students in past offerings of the course indicate that they found 50 minutes long enough to write their essays. </a:t>
            </a:r>
            <a:r>
              <a:rPr lang="en-US" b="1" i="0" dirty="0">
                <a:solidFill>
                  <a:srgbClr val="000000"/>
                </a:solidFill>
                <a:effectLst/>
                <a:latin typeface="Whitney SSm A"/>
              </a:rPr>
              <a:t>If you need more time, you can book a second slot </a:t>
            </a:r>
            <a:r>
              <a:rPr lang="en-US" b="0" i="0" dirty="0">
                <a:solidFill>
                  <a:srgbClr val="000000"/>
                </a:solidFill>
                <a:effectLst/>
                <a:latin typeface="Whitney SSm A"/>
              </a:rPr>
              <a:t>and continue to edit (until the firm submission deadline). </a:t>
            </a:r>
          </a:p>
        </p:txBody>
      </p:sp>
    </p:spTree>
    <p:extLst>
      <p:ext uri="{BB962C8B-B14F-4D97-AF65-F5344CB8AC3E}">
        <p14:creationId xmlns:p14="http://schemas.microsoft.com/office/powerpoint/2010/main" val="1074708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Grading Your Essays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CA" sz="2400" dirty="0"/>
              <a:t>You’ll </a:t>
            </a:r>
            <a:r>
              <a:rPr lang="en-CA" sz="2400" b="1" dirty="0">
                <a:solidFill>
                  <a:schemeClr val="accent2"/>
                </a:solidFill>
              </a:rPr>
              <a:t>receive at least 3 peer reviews </a:t>
            </a:r>
            <a:r>
              <a:rPr lang="en-CA" sz="2400" dirty="0"/>
              <a:t>of your work, each week</a:t>
            </a:r>
          </a:p>
          <a:p>
            <a:pPr lvl="1"/>
            <a:r>
              <a:rPr lang="en-CA" sz="2000" dirty="0"/>
              <a:t>These reviews will be </a:t>
            </a:r>
            <a:r>
              <a:rPr lang="en-CA" sz="2000" b="1" dirty="0">
                <a:solidFill>
                  <a:schemeClr val="accent1"/>
                </a:solidFill>
              </a:rPr>
              <a:t>double-blind</a:t>
            </a:r>
            <a:r>
              <a:rPr lang="en-CA" sz="2000" dirty="0"/>
              <a:t> (you won’t know who reviewed you)</a:t>
            </a:r>
          </a:p>
          <a:p>
            <a:pPr lvl="1"/>
            <a:r>
              <a:rPr lang="en-CA" sz="2000" dirty="0"/>
              <a:t>You’ll be graded on a five-point scale on four dimensions:</a:t>
            </a:r>
          </a:p>
          <a:p>
            <a:pPr lvl="2"/>
            <a:r>
              <a:rPr lang="en-US" sz="1600" dirty="0"/>
              <a:t>Was the essay </a:t>
            </a:r>
            <a:r>
              <a:rPr lang="en-US" sz="1600" b="1" dirty="0">
                <a:solidFill>
                  <a:schemeClr val="accent1"/>
                </a:solidFill>
              </a:rPr>
              <a:t>well structured</a:t>
            </a:r>
            <a:r>
              <a:rPr lang="en-US" sz="1600" dirty="0"/>
              <a:t>, </a:t>
            </a:r>
            <a:r>
              <a:rPr lang="en-US" sz="1300" dirty="0"/>
              <a:t>stating a thesis, supporting it with argument(s) that are clearly related to this point and (if relevant) distinct from one another, and linking these arguments in a logical way?</a:t>
            </a:r>
            <a:endParaRPr lang="en-US" sz="1600" dirty="0"/>
          </a:p>
          <a:p>
            <a:pPr lvl="2"/>
            <a:r>
              <a:rPr lang="en-US" sz="1600" dirty="0"/>
              <a:t>Did the essay </a:t>
            </a:r>
            <a:r>
              <a:rPr lang="en-US" sz="1600" b="1" dirty="0">
                <a:solidFill>
                  <a:schemeClr val="accent1"/>
                </a:solidFill>
              </a:rPr>
              <a:t>do a good job of making its case</a:t>
            </a:r>
            <a:r>
              <a:rPr lang="en-US" sz="1600" dirty="0"/>
              <a:t>, </a:t>
            </a:r>
            <a:r>
              <a:rPr lang="en-US" sz="1300" dirty="0"/>
              <a:t>choosing relevant arguments, backing them up with evidence and examples at an appropriate level of detail, and responding to contrary views as appropriate?</a:t>
            </a:r>
            <a:endParaRPr lang="en-US" sz="1600" dirty="0"/>
          </a:p>
          <a:p>
            <a:pPr lvl="2"/>
            <a:r>
              <a:rPr lang="en-US" sz="1600" dirty="0"/>
              <a:t>Did the essay demonstrate a </a:t>
            </a:r>
            <a:r>
              <a:rPr lang="en-US" sz="1600" b="1" dirty="0">
                <a:solidFill>
                  <a:schemeClr val="accent1"/>
                </a:solidFill>
              </a:rPr>
              <a:t>good understanding of the course’s subject matter</a:t>
            </a:r>
            <a:r>
              <a:rPr lang="en-US" sz="1600" dirty="0"/>
              <a:t>, </a:t>
            </a:r>
            <a:r>
              <a:rPr lang="en-US" sz="1300" dirty="0"/>
              <a:t>including both the topic and the wider context?</a:t>
            </a:r>
            <a:endParaRPr lang="en-US" sz="1600" dirty="0"/>
          </a:p>
          <a:p>
            <a:pPr lvl="2"/>
            <a:r>
              <a:rPr lang="en-US" sz="1600" dirty="0"/>
              <a:t>Was the essay presented </a:t>
            </a:r>
            <a:r>
              <a:rPr lang="en-US" sz="1600" b="1" dirty="0">
                <a:solidFill>
                  <a:schemeClr val="accent1"/>
                </a:solidFill>
              </a:rPr>
              <a:t>clearly and in correct English</a:t>
            </a:r>
            <a:r>
              <a:rPr lang="en-US" sz="1600" dirty="0"/>
              <a:t>?</a:t>
            </a:r>
          </a:p>
          <a:p>
            <a:pPr lvl="1"/>
            <a:r>
              <a:rPr lang="en-CA" sz="2000" dirty="0"/>
              <a:t>Non-linear scale </a:t>
            </a:r>
            <a:r>
              <a:rPr lang="en-CA" sz="1500" dirty="0"/>
              <a:t>([0] 25; 50; 65; 80; 100)</a:t>
            </a:r>
            <a:r>
              <a:rPr lang="en-CA" sz="2000" dirty="0"/>
              <a:t>; elements unevenly weighted </a:t>
            </a:r>
            <a:r>
              <a:rPr lang="en-CA" sz="1500" dirty="0"/>
              <a:t>(English counts only 1/5 as much)</a:t>
            </a:r>
          </a:p>
          <a:p>
            <a:pPr lvl="1"/>
            <a:r>
              <a:rPr lang="en-CA" sz="2000" dirty="0"/>
              <a:t>Reserve 0 for completely missing/off topic answers</a:t>
            </a:r>
          </a:p>
          <a:p>
            <a:pPr lvl="1"/>
            <a:r>
              <a:rPr lang="en-CA" sz="2000" dirty="0"/>
              <a:t>You’ll also get comments on each item, and an outline of your essay</a:t>
            </a:r>
          </a:p>
          <a:p>
            <a:r>
              <a:rPr lang="en-CA" sz="2400" dirty="0"/>
              <a:t>When you also </a:t>
            </a:r>
            <a:r>
              <a:rPr lang="en-CA" sz="2400" b="1" dirty="0">
                <a:solidFill>
                  <a:schemeClr val="accent2"/>
                </a:solidFill>
              </a:rPr>
              <a:t>receive a review by a TA</a:t>
            </a:r>
            <a:r>
              <a:rPr lang="en-CA" sz="2400" dirty="0"/>
              <a:t>: </a:t>
            </a:r>
            <a:r>
              <a:rPr lang="en-CA" sz="2000" dirty="0"/>
              <a:t>only the TA evaluation matters for your grade</a:t>
            </a:r>
          </a:p>
          <a:p>
            <a:r>
              <a:rPr lang="en-CA" sz="2400" dirty="0"/>
              <a:t>When you are evaluated </a:t>
            </a:r>
            <a:r>
              <a:rPr lang="en-CA" sz="2400" b="1" dirty="0">
                <a:solidFill>
                  <a:schemeClr val="accent2"/>
                </a:solidFill>
              </a:rPr>
              <a:t>only by peers</a:t>
            </a:r>
            <a:r>
              <a:rPr lang="en-CA" sz="2400" dirty="0"/>
              <a:t>: </a:t>
            </a:r>
            <a:r>
              <a:rPr lang="en-CA" sz="2000" dirty="0"/>
              <a:t>each of your peer grades will be weighted in proportion to our estimates of your peers’ </a:t>
            </a:r>
            <a:r>
              <a:rPr lang="en-CA" sz="2000" b="1" dirty="0">
                <a:solidFill>
                  <a:schemeClr val="accent1"/>
                </a:solidFill>
              </a:rPr>
              <a:t>dependability </a:t>
            </a:r>
            <a:r>
              <a:rPr lang="en-CA" sz="2000" dirty="0"/>
              <a:t>as graders</a:t>
            </a:r>
          </a:p>
          <a:p>
            <a:pPr lvl="1"/>
            <a:r>
              <a:rPr lang="en-CA" sz="2000" dirty="0"/>
              <a:t>If you disagree with your grade </a:t>
            </a:r>
            <a:r>
              <a:rPr lang="en-CA" sz="2000" b="1" dirty="0">
                <a:solidFill>
                  <a:schemeClr val="accent1"/>
                </a:solidFill>
              </a:rPr>
              <a:t>you can appeal</a:t>
            </a:r>
            <a:r>
              <a:rPr lang="en-CA" sz="2000" dirty="0"/>
              <a:t>, and a TA will re-grade your essay; this grade will be final</a:t>
            </a:r>
          </a:p>
          <a:p>
            <a:r>
              <a:rPr lang="en-CA" sz="2400" dirty="0"/>
              <a:t>Essays are worth </a:t>
            </a:r>
            <a:r>
              <a:rPr lang="en-CA" sz="2400" b="1" dirty="0">
                <a:solidFill>
                  <a:schemeClr val="accent2"/>
                </a:solidFill>
              </a:rPr>
              <a:t>increasing amounts</a:t>
            </a:r>
            <a:r>
              <a:rPr lang="en-CA" sz="2400" dirty="0"/>
              <a:t> as the term goes on</a:t>
            </a:r>
          </a:p>
          <a:p>
            <a:pPr lvl="1">
              <a:buClr>
                <a:srgbClr val="000000"/>
              </a:buClr>
            </a:pPr>
            <a:r>
              <a:rPr lang="en-CA" sz="1600" dirty="0">
                <a:ea typeface="+mn-lt"/>
                <a:cs typeface="+mn-lt"/>
              </a:rPr>
              <a:t>your first 3 essay grades will be scaled by 0.6;</a:t>
            </a:r>
            <a:endParaRPr lang="en-CA" sz="1600" dirty="0">
              <a:cs typeface="Calibri"/>
            </a:endParaRPr>
          </a:p>
          <a:p>
            <a:pPr lvl="1">
              <a:buClr>
                <a:srgbClr val="000000"/>
              </a:buClr>
            </a:pPr>
            <a:r>
              <a:rPr lang="en-CA" sz="1600" dirty="0">
                <a:ea typeface="+mn-lt"/>
                <a:cs typeface="+mn-lt"/>
              </a:rPr>
              <a:t>your next 3 essay grades will be scaled by 0.8;</a:t>
            </a:r>
            <a:endParaRPr lang="en-CA" sz="1600" dirty="0">
              <a:cs typeface="Calibri"/>
            </a:endParaRPr>
          </a:p>
          <a:p>
            <a:pPr lvl="1">
              <a:buClr>
                <a:srgbClr val="000000"/>
              </a:buClr>
            </a:pPr>
            <a:r>
              <a:rPr lang="en-CA" sz="1600" dirty="0">
                <a:ea typeface="+mn-lt"/>
                <a:cs typeface="+mn-lt"/>
              </a:rPr>
              <a:t>your final 4 essays will be scaled by 1.0.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522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Peer Review: Reviewer Perspective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Do </a:t>
            </a:r>
            <a:r>
              <a:rPr lang="en-US" sz="2400" b="1" dirty="0">
                <a:solidFill>
                  <a:schemeClr val="accent2"/>
                </a:solidFill>
              </a:rPr>
              <a:t>at least 3 calibrated reviews</a:t>
            </a:r>
            <a:r>
              <a:rPr lang="en-US" sz="2000" b="1" dirty="0">
                <a:solidFill>
                  <a:schemeClr val="accent2"/>
                </a:solidFill>
              </a:rPr>
              <a:t> </a:t>
            </a:r>
            <a:r>
              <a:rPr lang="en-US" sz="2400" dirty="0"/>
              <a:t>by each deadline if you’re required to do so</a:t>
            </a:r>
          </a:p>
          <a:p>
            <a:pPr lvl="1"/>
            <a:r>
              <a:rPr lang="en-US" sz="2000" dirty="0"/>
              <a:t>Week 1: this means everyone!</a:t>
            </a:r>
          </a:p>
          <a:p>
            <a:pPr lvl="1"/>
            <a:r>
              <a:rPr lang="en-US" sz="2000" dirty="0"/>
              <a:t>Week 2+: only if required</a:t>
            </a:r>
            <a:endParaRPr lang="en-US" sz="900" dirty="0"/>
          </a:p>
          <a:p>
            <a:r>
              <a:rPr lang="en-US" sz="2400" b="1" dirty="0">
                <a:solidFill>
                  <a:schemeClr val="accent2"/>
                </a:solidFill>
              </a:rPr>
              <a:t>Complete the reading quiz </a:t>
            </a:r>
            <a:r>
              <a:rPr lang="en-US" sz="2400" dirty="0"/>
              <a:t>to access peer reviews (same deadline as </a:t>
            </a:r>
            <a:r>
              <a:rPr lang="en-US" sz="2400" u="sng" dirty="0"/>
              <a:t>essays</a:t>
            </a:r>
            <a:r>
              <a:rPr lang="en-US" sz="2400" dirty="0"/>
              <a:t>)</a:t>
            </a:r>
          </a:p>
          <a:p>
            <a:r>
              <a:rPr lang="en-US" sz="2400" dirty="0"/>
              <a:t>Do </a:t>
            </a:r>
            <a:r>
              <a:rPr lang="en-US" sz="2400" b="1" dirty="0">
                <a:solidFill>
                  <a:schemeClr val="accent2"/>
                </a:solidFill>
              </a:rPr>
              <a:t>assigned reviews of others’ essays</a:t>
            </a:r>
            <a:endParaRPr lang="en-US" sz="2400" dirty="0">
              <a:cs typeface="Calibri"/>
            </a:endParaRPr>
          </a:p>
          <a:p>
            <a:r>
              <a:rPr lang="en-CA" sz="2400" dirty="0"/>
              <a:t>How we’ll calculate </a:t>
            </a:r>
            <a:r>
              <a:rPr lang="en-CA" sz="2400" b="1" dirty="0">
                <a:solidFill>
                  <a:schemeClr val="accent2"/>
                </a:solidFill>
              </a:rPr>
              <a:t>your peer review grade </a:t>
            </a:r>
            <a:r>
              <a:rPr lang="en-CA" sz="2400" dirty="0"/>
              <a:t>(20% of the course):</a:t>
            </a:r>
            <a:endParaRPr lang="en-CA" sz="2400" dirty="0">
              <a:cs typeface="Calibri"/>
            </a:endParaRPr>
          </a:p>
          <a:p>
            <a:pPr lvl="1"/>
            <a:r>
              <a:rPr lang="en-CA" b="1" dirty="0">
                <a:solidFill>
                  <a:schemeClr val="accent1"/>
                </a:solidFill>
              </a:rPr>
              <a:t>Scaled dependability scores</a:t>
            </a:r>
            <a:r>
              <a:rPr lang="en-CA" dirty="0"/>
              <a:t>, snapshotted each week</a:t>
            </a:r>
            <a:endParaRPr lang="en-CA" b="1" dirty="0">
              <a:solidFill>
                <a:schemeClr val="accent1"/>
              </a:solidFill>
            </a:endParaRPr>
          </a:p>
          <a:p>
            <a:pPr lvl="1">
              <a:buClr>
                <a:srgbClr val="000000"/>
              </a:buClr>
            </a:pPr>
            <a:r>
              <a:rPr lang="en-CA" dirty="0">
                <a:ea typeface="+mn-lt"/>
                <a:cs typeface="+mn-lt"/>
              </a:rPr>
              <a:t>We'll scale your peer review grades like your essay grades:</a:t>
            </a:r>
          </a:p>
          <a:p>
            <a:pPr lvl="2">
              <a:buClr>
                <a:srgbClr val="000000"/>
              </a:buClr>
            </a:pPr>
            <a:r>
              <a:rPr lang="en-CA" dirty="0">
                <a:ea typeface="+mn-lt"/>
                <a:cs typeface="+mn-lt"/>
              </a:rPr>
              <a:t>your first 3 peer review grades will be scaled by 0.6;</a:t>
            </a:r>
            <a:endParaRPr lang="en-CA" dirty="0">
              <a:cs typeface="Calibri"/>
            </a:endParaRPr>
          </a:p>
          <a:p>
            <a:pPr lvl="2">
              <a:buClr>
                <a:srgbClr val="000000"/>
              </a:buClr>
            </a:pPr>
            <a:r>
              <a:rPr lang="en-CA" dirty="0">
                <a:ea typeface="+mn-lt"/>
                <a:cs typeface="+mn-lt"/>
              </a:rPr>
              <a:t>your next 3 peer review grades will be scaled by 0.8;</a:t>
            </a:r>
            <a:endParaRPr lang="en-CA" dirty="0">
              <a:cs typeface="Calibri"/>
            </a:endParaRPr>
          </a:p>
          <a:p>
            <a:pPr lvl="2">
              <a:buClr>
                <a:srgbClr val="000000"/>
              </a:buClr>
            </a:pPr>
            <a:r>
              <a:rPr lang="en-CA" dirty="0">
                <a:ea typeface="+mn-lt"/>
                <a:cs typeface="+mn-lt"/>
              </a:rPr>
              <a:t>your final 4 peer review grades will be scaled by 1.0.</a:t>
            </a:r>
            <a:endParaRPr lang="en-CA" dirty="0">
              <a:cs typeface="Calibri"/>
            </a:endParaRPr>
          </a:p>
          <a:p>
            <a:pPr lvl="1"/>
            <a:r>
              <a:rPr lang="en-CA" dirty="0"/>
              <a:t>If you don’t do all required reviews (peer reviews; calibrations when required) </a:t>
            </a:r>
            <a:br>
              <a:rPr lang="en-CA" dirty="0"/>
            </a:br>
            <a:r>
              <a:rPr lang="en-CA" dirty="0"/>
              <a:t>your dependability-based grade will be </a:t>
            </a:r>
            <a:r>
              <a:rPr lang="en-CA" b="1" dirty="0">
                <a:solidFill>
                  <a:schemeClr val="accent1"/>
                </a:solidFill>
              </a:rPr>
              <a:t>scaled down</a:t>
            </a:r>
            <a:r>
              <a:rPr lang="en-CA" dirty="0"/>
              <a:t>; see Canvas for formulas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0862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Peer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368" y="1052736"/>
            <a:ext cx="11521280" cy="5904656"/>
          </a:xfrm>
        </p:spPr>
        <p:txBody>
          <a:bodyPr>
            <a:normAutofit fontScale="92500" lnSpcReduction="10000"/>
          </a:bodyPr>
          <a:lstStyle/>
          <a:p>
            <a:pPr marL="514350" indent="-457200">
              <a:buFont typeface="+mj-lt"/>
              <a:buAutoNum type="arabicPeriod"/>
            </a:pPr>
            <a:r>
              <a:rPr lang="en-US" b="1" dirty="0">
                <a:solidFill>
                  <a:schemeClr val="accent2"/>
                </a:solidFill>
              </a:rPr>
              <a:t>Calibrated peer review</a:t>
            </a:r>
          </a:p>
          <a:p>
            <a:pPr marL="458787" lvl="1" indent="0">
              <a:buNone/>
            </a:pPr>
            <a:r>
              <a:rPr lang="en-US" i="1" dirty="0"/>
              <a:t>Grading essays from previous years that we’ve graded already</a:t>
            </a:r>
          </a:p>
          <a:p>
            <a:pPr marL="746125" lvl="1" indent="-287338"/>
            <a:r>
              <a:rPr lang="en-US" dirty="0"/>
              <a:t>Confirms that we all </a:t>
            </a:r>
            <a:r>
              <a:rPr lang="en-US" b="1" dirty="0">
                <a:solidFill>
                  <a:schemeClr val="accent1"/>
                </a:solidFill>
              </a:rPr>
              <a:t>understand the grading scheme </a:t>
            </a:r>
            <a:r>
              <a:rPr lang="en-US" dirty="0"/>
              <a:t>in the same way, and shows you examples of weak and strong essays</a:t>
            </a:r>
          </a:p>
          <a:p>
            <a:pPr marL="746125" lvl="1" indent="-287338"/>
            <a:endParaRPr lang="en-US" sz="1100" dirty="0"/>
          </a:p>
          <a:p>
            <a:pPr marL="514350" indent="-457200">
              <a:buFont typeface="+mj-lt"/>
              <a:buAutoNum type="arabicPeriod"/>
            </a:pPr>
            <a:r>
              <a:rPr lang="en-US" b="1" dirty="0">
                <a:solidFill>
                  <a:schemeClr val="accent2"/>
                </a:solidFill>
              </a:rPr>
              <a:t>Supervised peer review</a:t>
            </a:r>
          </a:p>
          <a:p>
            <a:pPr marL="457200" lvl="1" indent="0">
              <a:buNone/>
            </a:pPr>
            <a:r>
              <a:rPr lang="en-US" i="1" dirty="0"/>
              <a:t>Grading essays from this year when you haven’t yet demonstrated proficiency at peer review</a:t>
            </a:r>
          </a:p>
          <a:p>
            <a:pPr lvl="1"/>
            <a:r>
              <a:rPr lang="en-US" dirty="0"/>
              <a:t>A </a:t>
            </a:r>
            <a:r>
              <a:rPr lang="en-US" b="1" dirty="0">
                <a:solidFill>
                  <a:schemeClr val="accent1"/>
                </a:solidFill>
              </a:rPr>
              <a:t>TA will grade the same essays</a:t>
            </a:r>
            <a:r>
              <a:rPr lang="en-US" dirty="0"/>
              <a:t>, and only the TA grade will count</a:t>
            </a:r>
          </a:p>
          <a:p>
            <a:pPr lvl="1"/>
            <a:r>
              <a:rPr lang="en-US" dirty="0"/>
              <a:t>The TA will also assess whether you made </a:t>
            </a:r>
            <a:r>
              <a:rPr lang="en-US" b="1" dirty="0">
                <a:solidFill>
                  <a:schemeClr val="accent1"/>
                </a:solidFill>
              </a:rPr>
              <a:t>thoughtful comments</a:t>
            </a:r>
            <a:br>
              <a:rPr lang="en-US" sz="1900" dirty="0"/>
            </a:br>
            <a:endParaRPr lang="en-US" sz="1100" dirty="0"/>
          </a:p>
          <a:p>
            <a:pPr marL="514350" indent="-457200">
              <a:buFont typeface="+mj-lt"/>
              <a:buAutoNum type="arabicPeriod"/>
            </a:pPr>
            <a:r>
              <a:rPr lang="en-US" b="1" dirty="0">
                <a:solidFill>
                  <a:schemeClr val="accent2"/>
                </a:solidFill>
              </a:rPr>
              <a:t>Unsupervised peer review</a:t>
            </a:r>
          </a:p>
          <a:p>
            <a:pPr marL="457200" lvl="1" indent="0">
              <a:buNone/>
            </a:pPr>
            <a:r>
              <a:rPr lang="en-US" i="1" dirty="0"/>
              <a:t>Grading essays from this year once you’ve demonstrated proficiency</a:t>
            </a:r>
          </a:p>
          <a:p>
            <a:pPr lvl="1"/>
            <a:r>
              <a:rPr lang="en-US" dirty="0"/>
              <a:t>Your review may be </a:t>
            </a:r>
            <a:r>
              <a:rPr lang="en-US" b="1" dirty="0">
                <a:solidFill>
                  <a:schemeClr val="accent1"/>
                </a:solidFill>
              </a:rPr>
              <a:t>spot checked or appealed</a:t>
            </a:r>
            <a:r>
              <a:rPr lang="en-US" dirty="0"/>
              <a:t>: checked by TA</a:t>
            </a:r>
          </a:p>
          <a:p>
            <a:pPr lvl="2"/>
            <a:r>
              <a:rPr lang="en-US" dirty="0"/>
              <a:t>Spot checks: very positive ratings; severe disagreements; random</a:t>
            </a:r>
          </a:p>
          <a:p>
            <a:pPr lvl="1"/>
            <a:r>
              <a:rPr lang="en-US" dirty="0"/>
              <a:t>We’ll update your dependability score based on your degree of agreement with peers (taking their own dependability into account) and, when available, degree of agreement with TAs</a:t>
            </a:r>
          </a:p>
        </p:txBody>
      </p:sp>
    </p:spTree>
    <p:extLst>
      <p:ext uri="{BB962C8B-B14F-4D97-AF65-F5344CB8AC3E}">
        <p14:creationId xmlns:p14="http://schemas.microsoft.com/office/powerpoint/2010/main" val="2991139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0E5B7-1D0D-44E6-B6CA-63C80A61C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Dependability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41B0B-3710-475C-96DA-79155D8FD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We maintain estimates of each peer grader’s “</a:t>
            </a:r>
            <a:r>
              <a:rPr lang="en-US" b="1" dirty="0">
                <a:solidFill>
                  <a:schemeClr val="accent2"/>
                </a:solidFill>
              </a:rPr>
              <a:t>dependability</a:t>
            </a:r>
            <a:r>
              <a:rPr lang="en-US" dirty="0"/>
              <a:t>” via </a:t>
            </a:r>
            <a:r>
              <a:rPr lang="en-US" dirty="0">
                <a:hlinkClick r:id="rId2"/>
              </a:rPr>
              <a:t>Bayesian inference</a:t>
            </a:r>
            <a:endParaRPr lang="en-US" dirty="0"/>
          </a:p>
          <a:p>
            <a:pPr lvl="1"/>
            <a:r>
              <a:rPr lang="en-US" dirty="0"/>
              <a:t>The key idea is that calibrations and assignments graded by TAs give us information about which </a:t>
            </a:r>
            <a:br>
              <a:rPr lang="en-US" dirty="0"/>
            </a:br>
            <a:r>
              <a:rPr lang="en-US" b="1" dirty="0">
                <a:solidFill>
                  <a:schemeClr val="accent1"/>
                </a:solidFill>
              </a:rPr>
              <a:t>graders are more reliable</a:t>
            </a:r>
          </a:p>
          <a:p>
            <a:pPr lvl="1"/>
            <a:r>
              <a:rPr lang="en-US" dirty="0"/>
              <a:t>we then bootstrap this knowledge to decide how much to trust each grader on assignments that were </a:t>
            </a:r>
            <a:br>
              <a:rPr lang="en-US" dirty="0"/>
            </a:br>
            <a:r>
              <a:rPr lang="en-US" b="1" dirty="0">
                <a:solidFill>
                  <a:schemeClr val="accent1"/>
                </a:solidFill>
              </a:rPr>
              <a:t>not graded by a TA</a:t>
            </a:r>
          </a:p>
          <a:p>
            <a:r>
              <a:rPr lang="en-US" dirty="0"/>
              <a:t>Your dependability score is our estimate of </a:t>
            </a:r>
            <a:r>
              <a:rPr lang="en-US" b="1" i="1" dirty="0">
                <a:solidFill>
                  <a:schemeClr val="accent2"/>
                </a:solidFill>
              </a:rPr>
              <a:t>sensitivity</a:t>
            </a:r>
            <a:r>
              <a:rPr lang="en-US" b="1" dirty="0">
                <a:solidFill>
                  <a:schemeClr val="accent2"/>
                </a:solidFill>
              </a:rPr>
              <a:t> * (1/</a:t>
            </a:r>
            <a:r>
              <a:rPr lang="en-US" b="1" i="1" dirty="0">
                <a:solidFill>
                  <a:schemeClr val="accent2"/>
                </a:solidFill>
              </a:rPr>
              <a:t>variance</a:t>
            </a:r>
            <a:r>
              <a:rPr lang="en-US" b="1" dirty="0">
                <a:solidFill>
                  <a:schemeClr val="accent2"/>
                </a:solidFill>
              </a:rPr>
              <a:t>)</a:t>
            </a:r>
          </a:p>
          <a:p>
            <a:pPr lvl="1"/>
            <a:r>
              <a:rPr lang="en-US" b="1" i="1" dirty="0">
                <a:solidFill>
                  <a:schemeClr val="accent1"/>
                </a:solidFill>
              </a:rPr>
              <a:t>sensitivity</a:t>
            </a:r>
            <a:r>
              <a:rPr lang="en-US" dirty="0"/>
              <a:t> is (1 – prob that you assign some value near the class average without considering the essay)</a:t>
            </a:r>
          </a:p>
          <a:p>
            <a:pPr lvl="1"/>
            <a:r>
              <a:rPr lang="en-US" b="1" i="1" dirty="0">
                <a:solidFill>
                  <a:schemeClr val="accent1"/>
                </a:solidFill>
              </a:rPr>
              <a:t>variance</a:t>
            </a:r>
            <a:r>
              <a:rPr lang="en-US" dirty="0"/>
              <a:t> is your tendency to differ from true grades</a:t>
            </a:r>
          </a:p>
          <a:p>
            <a:r>
              <a:rPr lang="en-US" dirty="0"/>
              <a:t>The system starts out with the assumption that all students have </a:t>
            </a:r>
            <a:r>
              <a:rPr lang="en-US" b="1" dirty="0">
                <a:solidFill>
                  <a:schemeClr val="accent2"/>
                </a:solidFill>
              </a:rPr>
              <a:t>low dependability scores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sz="2100" dirty="0"/>
              <a:t>(specifically, low sensitivity and high variance)</a:t>
            </a:r>
            <a:endParaRPr lang="en-US" dirty="0"/>
          </a:p>
          <a:p>
            <a:r>
              <a:rPr lang="en-US" dirty="0"/>
              <a:t>As you grade assignments/calibrations, we </a:t>
            </a:r>
            <a:r>
              <a:rPr lang="en-US" b="1" dirty="0">
                <a:solidFill>
                  <a:schemeClr val="accent2"/>
                </a:solidFill>
              </a:rPr>
              <a:t>update these beliefs</a:t>
            </a:r>
          </a:p>
          <a:p>
            <a:pPr lvl="1"/>
            <a:r>
              <a:rPr lang="en-US" dirty="0"/>
              <a:t>doing </a:t>
            </a:r>
            <a:r>
              <a:rPr lang="en-US" b="1" dirty="0">
                <a:solidFill>
                  <a:schemeClr val="accent1"/>
                </a:solidFill>
              </a:rPr>
              <a:t>more calibrations </a:t>
            </a:r>
            <a:r>
              <a:rPr lang="en-US" dirty="0"/>
              <a:t>both helps you get better at grading and gives us evidence to counteract the system’s pessimistic initial belief </a:t>
            </a:r>
          </a:p>
          <a:p>
            <a:pPr lvl="1"/>
            <a:r>
              <a:rPr lang="en-US" dirty="0"/>
              <a:t>if you always assign values close to </a:t>
            </a:r>
            <a:r>
              <a:rPr lang="en-US" b="1" dirty="0">
                <a:solidFill>
                  <a:schemeClr val="accent1"/>
                </a:solidFill>
              </a:rPr>
              <a:t>the class average</a:t>
            </a:r>
            <a:r>
              <a:rPr lang="en-US" dirty="0"/>
              <a:t>, we’ll conclude that you have low sensitivity</a:t>
            </a:r>
          </a:p>
          <a:p>
            <a:pPr lvl="2"/>
            <a:r>
              <a:rPr lang="en-US" dirty="0"/>
              <a:t>you need to properly identify both strong and weak assignments in order to achieve a high dependability score</a:t>
            </a:r>
          </a:p>
          <a:p>
            <a:pPr lvl="1"/>
            <a:r>
              <a:rPr lang="en-US" dirty="0"/>
              <a:t>if you grade </a:t>
            </a:r>
            <a:r>
              <a:rPr lang="en-US" b="1" dirty="0">
                <a:solidFill>
                  <a:schemeClr val="accent1"/>
                </a:solidFill>
              </a:rPr>
              <a:t>too harshly or too generously</a:t>
            </a:r>
            <a:r>
              <a:rPr lang="en-US" dirty="0"/>
              <a:t>, we’ll conclude that you have high variance</a:t>
            </a:r>
          </a:p>
        </p:txBody>
      </p:sp>
    </p:spTree>
    <p:extLst>
      <p:ext uri="{BB962C8B-B14F-4D97-AF65-F5344CB8AC3E}">
        <p14:creationId xmlns:p14="http://schemas.microsoft.com/office/powerpoint/2010/main" val="42251607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3790A-8853-40CB-B2C4-28A6E4BAA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Take a Minute to Log Into MTA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0EFADC0-2684-4B0F-8314-166CFDAAC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2D3B45"/>
                </a:solidFill>
                <a:latin typeface="Lato Extended"/>
              </a:rPr>
              <a:t>P</a:t>
            </a:r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latform for quizzes, peer reviews and essays (the latter to be completed at the CBTF)</a:t>
            </a:r>
          </a:p>
          <a:p>
            <a:r>
              <a:rPr lang="en-US" dirty="0">
                <a:solidFill>
                  <a:srgbClr val="2D3B45"/>
                </a:solidFill>
                <a:latin typeface="Lato Extended"/>
              </a:rPr>
              <a:t>L</a:t>
            </a:r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og in at </a:t>
            </a:r>
            <a:r>
              <a:rPr lang="en-US" b="0" i="0" u="sng" dirty="0">
                <a:solidFill>
                  <a:srgbClr val="0055B7"/>
                </a:solidFill>
                <a:effectLst/>
                <a:latin typeface="Lato Extended"/>
                <a:hlinkClick r:id="rId2"/>
              </a:rPr>
              <a:t>https://mta.students.cs.ubc.ca/</a:t>
            </a:r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 using your CWL; enroll code for first time access: 520809</a:t>
            </a:r>
            <a:endParaRPr lang="en-CA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9B9FB6-25CC-43B3-BA2C-525163D6C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800" y="2996952"/>
            <a:ext cx="3600400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972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C106A-408B-48FF-93C2-0403E1E36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Summary of deadlines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0CA2D112-E963-4F3B-A561-4EE549454E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666B6B-5CB1-453F-BC80-FA1BCCFF3A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446" y="908720"/>
            <a:ext cx="9483108" cy="544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416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1504" y="44624"/>
            <a:ext cx="8928992" cy="1296144"/>
          </a:xfrm>
        </p:spPr>
        <p:txBody>
          <a:bodyPr>
            <a:noAutofit/>
          </a:bodyPr>
          <a:lstStyle/>
          <a:p>
            <a:r>
              <a:rPr lang="en-CA" sz="3600" dirty="0"/>
              <a:t>“What if something goes wrong, </a:t>
            </a:r>
            <a:br>
              <a:rPr lang="en-CA" sz="3600" dirty="0"/>
            </a:br>
            <a:r>
              <a:rPr lang="en-CA" sz="3600" dirty="0"/>
              <a:t>and I can’t submit an essay/review?”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76" y="1484784"/>
            <a:ext cx="11377264" cy="52700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CA" sz="2400" dirty="0"/>
              <a:t>We’ll </a:t>
            </a:r>
            <a:r>
              <a:rPr lang="en-CA" sz="2400" b="1" dirty="0">
                <a:solidFill>
                  <a:schemeClr val="accent2"/>
                </a:solidFill>
              </a:rPr>
              <a:t>drop your worst 2 essay and peer review grades</a:t>
            </a:r>
            <a:r>
              <a:rPr lang="en-CA" sz="2400" dirty="0"/>
              <a:t>, allowing for cases where:</a:t>
            </a:r>
          </a:p>
          <a:p>
            <a:pPr lvl="1"/>
            <a:r>
              <a:rPr lang="en-CA" sz="2000" dirty="0"/>
              <a:t>you miss the (firm) deadline</a:t>
            </a:r>
          </a:p>
          <a:p>
            <a:pPr lvl="1"/>
            <a:r>
              <a:rPr lang="en-CA" sz="2000" dirty="0"/>
              <a:t>you’re sick, out of town, have a conflict with another course, …</a:t>
            </a:r>
          </a:p>
          <a:p>
            <a:pPr lvl="1"/>
            <a:r>
              <a:rPr lang="en-CA" sz="2000" dirty="0"/>
              <a:t>you face hardships due to the pandemic</a:t>
            </a:r>
          </a:p>
          <a:p>
            <a:pPr lvl="1"/>
            <a:r>
              <a:rPr lang="en-CA" sz="2000" dirty="0"/>
              <a:t>you register for the course late</a:t>
            </a:r>
          </a:p>
          <a:p>
            <a:pPr lvl="1"/>
            <a:r>
              <a:rPr lang="en-CA" sz="2000" dirty="0"/>
              <a:t>you get a poor grade on one essay</a:t>
            </a:r>
          </a:p>
          <a:p>
            <a:pPr marL="0" indent="0">
              <a:buNone/>
            </a:pPr>
            <a:r>
              <a:rPr lang="en-CA" sz="2400" dirty="0"/>
              <a:t>    (We’ll renormalize your grades accordingly)</a:t>
            </a:r>
          </a:p>
          <a:p>
            <a:r>
              <a:rPr lang="en-CA" sz="2400" dirty="0">
                <a:cs typeface="Calibri"/>
              </a:rPr>
              <a:t>We'll also </a:t>
            </a:r>
            <a:r>
              <a:rPr lang="en-CA" sz="2400" b="1" dirty="0">
                <a:solidFill>
                  <a:schemeClr val="accent2"/>
                </a:solidFill>
              </a:rPr>
              <a:t>drop the 2 classes in which you have the lowest participation grades</a:t>
            </a:r>
            <a:endParaRPr lang="en-CA" sz="2400" dirty="0">
              <a:solidFill>
                <a:schemeClr val="accent2"/>
              </a:solidFill>
              <a:cs typeface="Calibri"/>
            </a:endParaRPr>
          </a:p>
          <a:p>
            <a:r>
              <a:rPr lang="en-CA" sz="2400" dirty="0"/>
              <a:t>Other extensions or waivers will be granted only in </a:t>
            </a:r>
            <a:r>
              <a:rPr lang="en-CA" sz="2400" b="1" dirty="0">
                <a:solidFill>
                  <a:schemeClr val="accent2"/>
                </a:solidFill>
              </a:rPr>
              <a:t>truly exceptional circumstances</a:t>
            </a:r>
            <a:endParaRPr lang="en-CA" sz="2400" dirty="0"/>
          </a:p>
          <a:p>
            <a:pPr lvl="1"/>
            <a:r>
              <a:rPr lang="en-CA" sz="2000" dirty="0"/>
              <a:t>Unless you have an exceptional excuse, you’ll simply get a grade of zero</a:t>
            </a:r>
          </a:p>
          <a:p>
            <a:pPr lvl="1"/>
            <a:r>
              <a:rPr lang="en-CA" sz="2000" dirty="0"/>
              <a:t>(Brief) illness isn’t an exceptional excuse, see above</a:t>
            </a:r>
          </a:p>
          <a:p>
            <a:pPr lvl="1"/>
            <a:r>
              <a:rPr lang="en-CA" sz="2000" dirty="0"/>
              <a:t>Registering in the course late isn’t an exceptional excuse</a:t>
            </a:r>
          </a:p>
          <a:p>
            <a:pPr lvl="2"/>
            <a:r>
              <a:rPr lang="en-CA" sz="1600" dirty="0"/>
              <a:t>If you’re on the waitlist, start actively participating now!</a:t>
            </a:r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0450469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81321-FE4F-4B50-801A-AA3B26F97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Academic Honesty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8CE0B-AE47-4906-9D22-83ABFB6F8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Students are expected to acknowledge ideas generated by others and to uphold the highest academic standards in all of their actions</a:t>
            </a:r>
          </a:p>
          <a:p>
            <a:r>
              <a:rPr lang="en-CA" b="1" dirty="0">
                <a:solidFill>
                  <a:schemeClr val="accent2"/>
                </a:solidFill>
              </a:rPr>
              <a:t>Plagiarism is a serious offence </a:t>
            </a:r>
            <a:r>
              <a:rPr lang="en-CA" dirty="0"/>
              <a:t>and will be dealt with harshly</a:t>
            </a:r>
          </a:p>
          <a:p>
            <a:pPr lvl="1"/>
            <a:r>
              <a:rPr lang="en-CA" dirty="0"/>
              <a:t>Plagiarism is the </a:t>
            </a:r>
            <a:r>
              <a:rPr lang="en-CA" b="1" dirty="0">
                <a:solidFill>
                  <a:schemeClr val="accent1"/>
                </a:solidFill>
              </a:rPr>
              <a:t>unattributed use </a:t>
            </a:r>
            <a:r>
              <a:rPr lang="en-CA" dirty="0"/>
              <a:t>of any external source (e.g., another student, a web site, a book, generative AI) in work for which a student takes credit, or the </a:t>
            </a:r>
            <a:r>
              <a:rPr lang="en-CA" b="1" dirty="0">
                <a:solidFill>
                  <a:schemeClr val="accent1"/>
                </a:solidFill>
              </a:rPr>
              <a:t>inappropriate use </a:t>
            </a:r>
            <a:r>
              <a:rPr lang="en-CA" dirty="0"/>
              <a:t>of any external source whether or not attribution is made</a:t>
            </a:r>
          </a:p>
          <a:p>
            <a:pPr lvl="1"/>
            <a:r>
              <a:rPr lang="en-CA" dirty="0"/>
              <a:t>You must </a:t>
            </a:r>
            <a:r>
              <a:rPr lang="en-CA" b="1" dirty="0">
                <a:solidFill>
                  <a:schemeClr val="accent1"/>
                </a:solidFill>
              </a:rPr>
              <a:t>write in your own words</a:t>
            </a:r>
          </a:p>
          <a:p>
            <a:pPr lvl="1"/>
            <a:r>
              <a:rPr lang="en-CA" dirty="0"/>
              <a:t>Any text that you take verbatim from another source must be in </a:t>
            </a:r>
            <a:r>
              <a:rPr lang="en-CA" b="1" dirty="0">
                <a:solidFill>
                  <a:schemeClr val="accent1"/>
                </a:solidFill>
              </a:rPr>
              <a:t>quotation marks </a:t>
            </a:r>
            <a:r>
              <a:rPr lang="en-CA" dirty="0"/>
              <a:t>and followed by a citation</a:t>
            </a:r>
          </a:p>
          <a:p>
            <a:r>
              <a:rPr lang="en-CA" dirty="0"/>
              <a:t>Other violations of academic honesty:</a:t>
            </a:r>
          </a:p>
          <a:p>
            <a:pPr lvl="1"/>
            <a:r>
              <a:rPr lang="en-CA" dirty="0"/>
              <a:t>using generative AI (or another person) to write your peer review</a:t>
            </a:r>
          </a:p>
          <a:p>
            <a:pPr lvl="1"/>
            <a:r>
              <a:rPr lang="en-CA" dirty="0"/>
              <a:t>“Raising your hand” to participate in class while not physically present</a:t>
            </a:r>
          </a:p>
        </p:txBody>
      </p:sp>
    </p:spTree>
    <p:extLst>
      <p:ext uri="{BB962C8B-B14F-4D97-AF65-F5344CB8AC3E}">
        <p14:creationId xmlns:p14="http://schemas.microsoft.com/office/powerpoint/2010/main" val="21651240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This all starts right away!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CA" dirty="0"/>
              <a:t>Before </a:t>
            </a:r>
            <a:r>
              <a:rPr lang="en-CA" b="1" dirty="0"/>
              <a:t>next class</a:t>
            </a:r>
            <a:r>
              <a:rPr lang="en-CA" dirty="0"/>
              <a:t>:</a:t>
            </a:r>
          </a:p>
          <a:p>
            <a:pPr lvl="1">
              <a:buSzPct val="80000"/>
              <a:buFont typeface="Wingdings" panose="05000000000000000000" pitchFamily="2" charset="2"/>
              <a:buChar char="ü"/>
            </a:pPr>
            <a:r>
              <a:rPr lang="en-CA" b="1" dirty="0">
                <a:solidFill>
                  <a:schemeClr val="accent2"/>
                </a:solidFill>
              </a:rPr>
              <a:t>read the assigned readings on essay writing </a:t>
            </a:r>
            <a:r>
              <a:rPr lang="en-CA" dirty="0"/>
              <a:t>(Additional resources 1-7)</a:t>
            </a:r>
          </a:p>
          <a:p>
            <a:pPr lvl="1">
              <a:buSzPct val="80000"/>
              <a:buFont typeface="Wingdings" panose="05000000000000000000" pitchFamily="2" charset="2"/>
              <a:buChar char="ü"/>
            </a:pPr>
            <a:r>
              <a:rPr lang="en-CA" dirty="0"/>
              <a:t>Log into </a:t>
            </a:r>
            <a:r>
              <a:rPr lang="en-CA" b="1" dirty="0">
                <a:solidFill>
                  <a:schemeClr val="accent2"/>
                </a:solidFill>
              </a:rPr>
              <a:t>Agora</a:t>
            </a:r>
          </a:p>
          <a:p>
            <a:pPr lvl="1">
              <a:buSzPct val="80000"/>
              <a:buFont typeface="Wingdings" panose="05000000000000000000" pitchFamily="2" charset="2"/>
              <a:buChar char="ü"/>
            </a:pPr>
            <a:r>
              <a:rPr lang="en-CA" dirty="0">
                <a:cs typeface="Calibri"/>
              </a:rPr>
              <a:t>Join </a:t>
            </a:r>
            <a:r>
              <a:rPr lang="en-CA" b="1" dirty="0">
                <a:solidFill>
                  <a:schemeClr val="accent2"/>
                </a:solidFill>
                <a:cs typeface="Calibri"/>
              </a:rPr>
              <a:t>Piazza </a:t>
            </a:r>
            <a:r>
              <a:rPr lang="en-CA" dirty="0"/>
              <a:t>(through Canvas)</a:t>
            </a:r>
          </a:p>
          <a:p>
            <a:pPr>
              <a:buSzPct val="80000"/>
            </a:pPr>
            <a:r>
              <a:rPr lang="en-CA" dirty="0"/>
              <a:t>By </a:t>
            </a:r>
            <a:r>
              <a:rPr lang="en-CA" b="1" dirty="0"/>
              <a:t>Friday, 1:30 PM:</a:t>
            </a:r>
            <a:endParaRPr lang="en-CA" b="1" dirty="0">
              <a:solidFill>
                <a:schemeClr val="accent2"/>
              </a:solidFill>
              <a:cs typeface="Calibri"/>
            </a:endParaRPr>
          </a:p>
          <a:p>
            <a:pPr lvl="1">
              <a:buClr>
                <a:schemeClr val="tx1"/>
              </a:buClr>
              <a:buSzPct val="80000"/>
              <a:buFont typeface="Wingdings" panose="05000000000000000000" pitchFamily="2" charset="2"/>
              <a:buChar char="ü"/>
            </a:pPr>
            <a:r>
              <a:rPr lang="en-CA" b="1" dirty="0">
                <a:solidFill>
                  <a:schemeClr val="accent2"/>
                </a:solidFill>
              </a:rPr>
              <a:t>log in </a:t>
            </a:r>
            <a:r>
              <a:rPr lang="en-CA" dirty="0"/>
              <a:t>to “Mechanical TA” and:</a:t>
            </a:r>
          </a:p>
          <a:p>
            <a:pPr lvl="2">
              <a:buSzPct val="80000"/>
              <a:buFont typeface="Wingdings" panose="05000000000000000000" pitchFamily="2" charset="2"/>
              <a:buChar char="ü"/>
            </a:pPr>
            <a:r>
              <a:rPr lang="en-CA" dirty="0"/>
              <a:t>complete the reading </a:t>
            </a:r>
            <a:r>
              <a:rPr lang="en-CA" b="1" dirty="0">
                <a:solidFill>
                  <a:schemeClr val="accent2"/>
                </a:solidFill>
              </a:rPr>
              <a:t>quiz </a:t>
            </a:r>
            <a:r>
              <a:rPr lang="en-CA" dirty="0"/>
              <a:t>(or you can’t do peer reviews later)</a:t>
            </a:r>
            <a:endParaRPr lang="en-CA" b="1" dirty="0">
              <a:solidFill>
                <a:schemeClr val="accent2"/>
              </a:solidFill>
            </a:endParaRPr>
          </a:p>
          <a:p>
            <a:pPr lvl="2">
              <a:buSzPct val="80000"/>
              <a:buFont typeface="Wingdings" panose="05000000000000000000" pitchFamily="2" charset="2"/>
              <a:buChar char="ü"/>
            </a:pPr>
            <a:r>
              <a:rPr lang="en-CA" dirty="0"/>
              <a:t>write an outline for your </a:t>
            </a:r>
            <a:r>
              <a:rPr lang="en-CA" b="1" dirty="0">
                <a:solidFill>
                  <a:schemeClr val="accent2"/>
                </a:solidFill>
              </a:rPr>
              <a:t>short essay </a:t>
            </a:r>
            <a:r>
              <a:rPr lang="en-CA" dirty="0"/>
              <a:t>of up to 150 characters</a:t>
            </a:r>
          </a:p>
          <a:p>
            <a:pPr lvl="1">
              <a:buSzPct val="80000"/>
              <a:buFont typeface="Wingdings" panose="05000000000000000000" pitchFamily="2" charset="2"/>
              <a:buChar char="ü"/>
            </a:pPr>
            <a:r>
              <a:rPr lang="en-CA" dirty="0"/>
              <a:t>Write your essay in the CBTF; you have to book an appointment first</a:t>
            </a:r>
          </a:p>
          <a:p>
            <a:pPr marL="514350" indent="-457200">
              <a:buSzPct val="80000"/>
            </a:pPr>
            <a:r>
              <a:rPr lang="en-CA" dirty="0"/>
              <a:t>By </a:t>
            </a:r>
            <a:r>
              <a:rPr lang="en-CA" b="1" dirty="0"/>
              <a:t>Friday, 6 PM:</a:t>
            </a:r>
          </a:p>
          <a:p>
            <a:pPr lvl="1">
              <a:buSzPct val="80000"/>
              <a:buFont typeface="Wingdings" panose="05000000000000000000" pitchFamily="2" charset="2"/>
              <a:buChar char="ü"/>
            </a:pPr>
            <a:r>
              <a:rPr lang="en-CA" dirty="0"/>
              <a:t>perform </a:t>
            </a:r>
            <a:r>
              <a:rPr lang="en-CA" b="1" dirty="0">
                <a:solidFill>
                  <a:schemeClr val="accent2"/>
                </a:solidFill>
              </a:rPr>
              <a:t>calibrated peer reviews</a:t>
            </a:r>
            <a:r>
              <a:rPr lang="en-CA" dirty="0"/>
              <a:t>; try to get into the independent pool</a:t>
            </a:r>
          </a:p>
          <a:p>
            <a:pPr lvl="1">
              <a:buClr>
                <a:srgbClr val="000000"/>
              </a:buClr>
              <a:buSzPct val="80000"/>
              <a:buFont typeface="Wingdings" pitchFamily="2" charset="2"/>
              <a:buChar char=""/>
            </a:pPr>
            <a:endParaRPr lang="en-CA" dirty="0">
              <a:cs typeface="Calibri"/>
            </a:endParaRPr>
          </a:p>
          <a:p>
            <a:r>
              <a:rPr lang="en-CA" dirty="0"/>
              <a:t>Don’t leave this to the last minute! </a:t>
            </a:r>
          </a:p>
          <a:p>
            <a:pPr lvl="1"/>
            <a:r>
              <a:rPr lang="en-CA" dirty="0"/>
              <a:t>It might take you a bit of time to get your accounts set up, etc. </a:t>
            </a:r>
          </a:p>
          <a:p>
            <a:pPr lvl="1"/>
            <a:r>
              <a:rPr lang="en-CA" dirty="0"/>
              <a:t>Not everyone can have a CBTF slot immediately before next class</a:t>
            </a:r>
          </a:p>
          <a:p>
            <a:pPr>
              <a:buClr>
                <a:srgbClr val="000000"/>
              </a:buClr>
            </a:pPr>
            <a:endParaRPr lang="en-CA" dirty="0">
              <a:cs typeface="Calibri"/>
            </a:endParaRPr>
          </a:p>
          <a:p>
            <a:pPr>
              <a:buClr>
                <a:srgbClr val="000000"/>
              </a:buClr>
            </a:pPr>
            <a:r>
              <a:rPr lang="en-CA" dirty="0">
                <a:cs typeface="Calibri"/>
              </a:rPr>
              <a:t>For everything else, check Canvas</a:t>
            </a:r>
          </a:p>
          <a:p>
            <a:pPr marL="457200" lvl="1" indent="0">
              <a:buClr>
                <a:prstClr val="black"/>
              </a:buClr>
              <a:buNone/>
            </a:pPr>
            <a:endParaRPr lang="en-CA" sz="17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56819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3CE59C-0A98-437D-8C35-18306B508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5CD967-F2D7-4BBF-80CA-4C2723F695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OK, I get where the room is and how you’ll compute my grade. What will we be learning?</a:t>
            </a:r>
          </a:p>
        </p:txBody>
      </p:sp>
    </p:spTree>
    <p:extLst>
      <p:ext uri="{BB962C8B-B14F-4D97-AF65-F5344CB8AC3E}">
        <p14:creationId xmlns:p14="http://schemas.microsoft.com/office/powerpoint/2010/main" val="13448211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Textbook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1504" y="1052736"/>
            <a:ext cx="4464496" cy="56886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CA" dirty="0"/>
              <a:t>We will be using the textbook </a:t>
            </a:r>
            <a:r>
              <a:rPr lang="en-CA" b="1" i="1" dirty="0">
                <a:solidFill>
                  <a:schemeClr val="accent2"/>
                </a:solidFill>
              </a:rPr>
              <a:t>Ethics for the Information Age, 9</a:t>
            </a:r>
            <a:r>
              <a:rPr lang="en-CA" b="1" i="1" baseline="30000" dirty="0">
                <a:solidFill>
                  <a:schemeClr val="accent2"/>
                </a:solidFill>
              </a:rPr>
              <a:t>th</a:t>
            </a:r>
            <a:r>
              <a:rPr lang="en-CA" b="1" i="1" dirty="0">
                <a:solidFill>
                  <a:schemeClr val="accent2"/>
                </a:solidFill>
              </a:rPr>
              <a:t> Ed</a:t>
            </a:r>
            <a:r>
              <a:rPr lang="en-CA" dirty="0"/>
              <a:t>, </a:t>
            </a:r>
            <a:br>
              <a:rPr lang="en-CA" dirty="0"/>
            </a:br>
            <a:r>
              <a:rPr lang="en-CA" dirty="0"/>
              <a:t>by Michael J. Quinn.</a:t>
            </a:r>
          </a:p>
          <a:p>
            <a:r>
              <a:rPr lang="en-CA" dirty="0"/>
              <a:t>It’s important that you have a copy, because we’ll be reading the whole thing</a:t>
            </a:r>
          </a:p>
          <a:p>
            <a:r>
              <a:rPr lang="en-CA" dirty="0"/>
              <a:t>Old editions exist, but you’re responsible for all material in the 9</a:t>
            </a:r>
            <a:r>
              <a:rPr lang="en-CA" baseline="30000" dirty="0"/>
              <a:t>th</a:t>
            </a:r>
            <a:r>
              <a:rPr lang="en-CA" dirty="0"/>
              <a:t> edition.</a:t>
            </a:r>
          </a:p>
          <a:p>
            <a:endParaRPr lang="en-CA" dirty="0"/>
          </a:p>
        </p:txBody>
      </p:sp>
      <p:pic>
        <p:nvPicPr>
          <p:cNvPr id="1026" name="Picture 2" descr="https://www.pearson.com/store/pmccommercewebservices/v2/medias/size-W370-A1030-00-34-94-A103000349421-A103000349421-Lrg.jpg?context=bWFzdGVyfGltYWdlc3wyMTIxNjd8aW1hZ2UvanBlZ3xzeXMtbWFzdGVyL2ltYWdlcy9oNjAvaDIzLzEzMDIxNTMxODY1MTE4L3NpemVfVzM3MF8vQTEwMzAvMDAvMzQvOTQvQTEwMzAwMDM0OTQyMS9BMTAzMDAwMzQ5NDIxX0xyZy5qcGd8OTA3YzIyZjJkMzVkMWYzOTAzMTEzOWZlNTE0OTE5NDU1OTg0NzMzZmMzOWMwYjE0YTc3M2FiZTA2NTg0NGI4ZA">
            <a:extLst>
              <a:ext uri="{FF2B5EF4-FFF2-40B4-BE49-F238E27FC236}">
                <a16:creationId xmlns:a16="http://schemas.microsoft.com/office/drawing/2014/main" id="{BBF8DD8B-6707-490F-AC5E-664C1C951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2144" y="1052736"/>
            <a:ext cx="4104456" cy="5235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54425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Topics </a:t>
            </a:r>
            <a:r>
              <a:rPr lang="en-CA" sz="3200" dirty="0"/>
              <a:t>(pretty cool stuff, actually </a:t>
            </a:r>
            <a:r>
              <a:rPr lang="en-CA" sz="3200" dirty="0">
                <a:sym typeface="Wingdings" pitchFamily="2" charset="2"/>
              </a:rPr>
              <a:t>)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1504" y="908720"/>
            <a:ext cx="8928992" cy="5832648"/>
          </a:xfrm>
        </p:spPr>
        <p:txBody>
          <a:bodyPr>
            <a:normAutofit fontScale="85000" lnSpcReduction="20000"/>
          </a:bodyPr>
          <a:lstStyle/>
          <a:p>
            <a:r>
              <a:rPr lang="en-CA" dirty="0"/>
              <a:t>Writing and argumentation, History of computing, storage, networking </a:t>
            </a:r>
            <a:endParaRPr lang="en-CA" sz="2400" dirty="0"/>
          </a:p>
          <a:p>
            <a:r>
              <a:rPr lang="en-CA" dirty="0"/>
              <a:t>Ethics &amp; Argumentation </a:t>
            </a:r>
            <a:endParaRPr lang="en-CA" sz="2400" dirty="0"/>
          </a:p>
          <a:p>
            <a:r>
              <a:rPr lang="en-CA" dirty="0"/>
              <a:t>Social issues:</a:t>
            </a:r>
          </a:p>
          <a:p>
            <a:pPr lvl="1">
              <a:tabLst>
                <a:tab pos="4848225" algn="l"/>
              </a:tabLst>
            </a:pPr>
            <a:r>
              <a:rPr lang="en-CA" dirty="0"/>
              <a:t>Networked communications	–  Computer &amp; Network Security</a:t>
            </a:r>
          </a:p>
          <a:p>
            <a:pPr lvl="1">
              <a:tabLst>
                <a:tab pos="4848225" algn="l"/>
              </a:tabLst>
            </a:pPr>
            <a:r>
              <a:rPr lang="en-CA" dirty="0"/>
              <a:t>Intellectual Property	–  Computer Reliability</a:t>
            </a:r>
          </a:p>
          <a:p>
            <a:pPr lvl="1">
              <a:tabLst>
                <a:tab pos="4848225" algn="l"/>
              </a:tabLst>
            </a:pPr>
            <a:r>
              <a:rPr lang="en-CA" dirty="0"/>
              <a:t>Information Privacy	–  Professional Ethics</a:t>
            </a:r>
          </a:p>
          <a:p>
            <a:pPr lvl="1">
              <a:tabLst>
                <a:tab pos="4848225" algn="l"/>
              </a:tabLst>
            </a:pPr>
            <a:r>
              <a:rPr lang="en-CA" dirty="0"/>
              <a:t>Privacy and the Government	–  Automation and Globalization </a:t>
            </a:r>
          </a:p>
          <a:p>
            <a:pPr lvl="1">
              <a:tabLst>
                <a:tab pos="4848225" algn="l"/>
              </a:tabLst>
            </a:pPr>
            <a:r>
              <a:rPr lang="en-CA" dirty="0"/>
              <a:t>Artificial Intelligence</a:t>
            </a:r>
          </a:p>
          <a:p>
            <a:pPr>
              <a:tabLst>
                <a:tab pos="4848225" algn="l"/>
              </a:tabLst>
            </a:pPr>
            <a:r>
              <a:rPr lang="en-CA" dirty="0"/>
              <a:t>Rest of today: </a:t>
            </a:r>
          </a:p>
          <a:p>
            <a:pPr lvl="1">
              <a:tabLst>
                <a:tab pos="4848225" algn="l"/>
              </a:tabLst>
            </a:pPr>
            <a:r>
              <a:rPr lang="en-CA" dirty="0"/>
              <a:t>break into 18 groups</a:t>
            </a:r>
          </a:p>
          <a:p>
            <a:pPr lvl="1">
              <a:tabLst>
                <a:tab pos="4848225" algn="l"/>
              </a:tabLst>
            </a:pPr>
            <a:r>
              <a:rPr lang="en-CA" dirty="0"/>
              <a:t>get assigned a statement and a position for or against</a:t>
            </a:r>
          </a:p>
          <a:p>
            <a:pPr lvl="1">
              <a:tabLst>
                <a:tab pos="4848225" algn="l"/>
              </a:tabLst>
            </a:pPr>
            <a:r>
              <a:rPr lang="en-CA" dirty="0"/>
              <a:t>develop arguments for your assigned position</a:t>
            </a:r>
          </a:p>
          <a:p>
            <a:pPr lvl="1">
              <a:tabLst>
                <a:tab pos="4848225" algn="l"/>
              </a:tabLst>
            </a:pPr>
            <a:r>
              <a:rPr lang="en-CA" dirty="0"/>
              <a:t>present your arguments to the class; we’ll discuss briefly</a:t>
            </a:r>
          </a:p>
          <a:p>
            <a:pPr lvl="1">
              <a:tabLst>
                <a:tab pos="4848225" algn="l"/>
              </a:tabLst>
            </a:pPr>
            <a:r>
              <a:rPr lang="en-CA" dirty="0"/>
              <a:t>everyone votes on the issue (you vote freely)</a:t>
            </a:r>
          </a:p>
          <a:p>
            <a:pPr lvl="1">
              <a:tabLst>
                <a:tab pos="4848225" algn="l"/>
              </a:tabLst>
            </a:pPr>
            <a:r>
              <a:rPr lang="en-CA" dirty="0"/>
              <a:t>we’ll revisit these questions throughout the course. </a:t>
            </a:r>
            <a:br>
              <a:rPr lang="en-CA" dirty="0"/>
            </a:br>
            <a:r>
              <a:rPr lang="en-CA" dirty="0"/>
              <a:t>You’ll get to see if your opinions change.</a:t>
            </a:r>
          </a:p>
          <a:p>
            <a:pPr lvl="1">
              <a:tabLst>
                <a:tab pos="4848225" algn="l"/>
              </a:tabLst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67929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11EB3-2368-48D5-8483-5301A6308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Groups</a:t>
            </a:r>
          </a:p>
        </p:txBody>
      </p:sp>
      <p:graphicFrame>
        <p:nvGraphicFramePr>
          <p:cNvPr id="3" name="Tabella 12">
            <a:extLst>
              <a:ext uri="{FF2B5EF4-FFF2-40B4-BE49-F238E27FC236}">
                <a16:creationId xmlns:a16="http://schemas.microsoft.com/office/drawing/2014/main" id="{E61FA4E7-531A-EE8B-277D-2B717CC5D2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711903"/>
              </p:ext>
            </p:extLst>
          </p:nvPr>
        </p:nvGraphicFramePr>
        <p:xfrm>
          <a:off x="590044" y="923840"/>
          <a:ext cx="11014374" cy="56484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71458">
                  <a:extLst>
                    <a:ext uri="{9D8B030D-6E8A-4147-A177-3AD203B41FA5}">
                      <a16:colId xmlns:a16="http://schemas.microsoft.com/office/drawing/2014/main" val="1803329088"/>
                    </a:ext>
                  </a:extLst>
                </a:gridCol>
                <a:gridCol w="3671458">
                  <a:extLst>
                    <a:ext uri="{9D8B030D-6E8A-4147-A177-3AD203B41FA5}">
                      <a16:colId xmlns:a16="http://schemas.microsoft.com/office/drawing/2014/main" val="1423531012"/>
                    </a:ext>
                  </a:extLst>
                </a:gridCol>
                <a:gridCol w="3671458">
                  <a:extLst>
                    <a:ext uri="{9D8B030D-6E8A-4147-A177-3AD203B41FA5}">
                      <a16:colId xmlns:a16="http://schemas.microsoft.com/office/drawing/2014/main" val="799481005"/>
                    </a:ext>
                  </a:extLst>
                </a:gridCol>
              </a:tblGrid>
              <a:tr h="188281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CA" sz="1800" b="1" i="0" u="none" strike="noStrike" noProof="0" dirty="0">
                          <a:latin typeface="Calibri"/>
                        </a:rPr>
                        <a:t>Networked Communications</a:t>
                      </a:r>
                      <a:endParaRPr lang="en-CA" noProof="0" dirty="0"/>
                    </a:p>
                    <a:p>
                      <a:pPr lvl="0" algn="ctr">
                        <a:buNone/>
                      </a:pPr>
                      <a:endParaRPr lang="en-CA" sz="1800" b="0" i="0" u="none" strike="noStrike" noProof="0" dirty="0"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CA" sz="1400" b="0" i="0" u="none" strike="noStrike" noProof="0" dirty="0">
                          <a:latin typeface="Calibri"/>
                        </a:rPr>
                        <a:t>“</a:t>
                      </a:r>
                      <a:r>
                        <a:rPr lang="en-US" sz="1400" dirty="0">
                          <a:ea typeface="+mn-lt"/>
                          <a:cs typeface="+mn-lt"/>
                        </a:rPr>
                        <a:t>Social networks should be held </a:t>
                      </a:r>
                      <a:br>
                        <a:rPr lang="en-US" sz="1400" dirty="0">
                          <a:ea typeface="+mn-lt"/>
                          <a:cs typeface="+mn-lt"/>
                        </a:rPr>
                      </a:br>
                      <a:r>
                        <a:rPr lang="en-US" sz="1400" dirty="0">
                          <a:ea typeface="+mn-lt"/>
                          <a:cs typeface="+mn-lt"/>
                        </a:rPr>
                        <a:t>legally liable for the content of any post </a:t>
                      </a:r>
                      <a:br>
                        <a:rPr lang="en-US" sz="1400" dirty="0">
                          <a:ea typeface="+mn-lt"/>
                          <a:cs typeface="+mn-lt"/>
                        </a:rPr>
                      </a:br>
                      <a:r>
                        <a:rPr lang="en-US" sz="1400" dirty="0">
                          <a:ea typeface="+mn-lt"/>
                          <a:cs typeface="+mn-lt"/>
                        </a:rPr>
                        <a:t>promoted to the feeds of over 100,000 users.</a:t>
                      </a:r>
                      <a:r>
                        <a:rPr lang="en-CA" sz="1400" b="0" i="0" u="none" strike="noStrike" noProof="0" dirty="0">
                          <a:latin typeface="Calibri"/>
                        </a:rPr>
                        <a:t>”</a:t>
                      </a:r>
                    </a:p>
                    <a:p>
                      <a:pPr lvl="0" algn="ctr">
                        <a:buNone/>
                      </a:pPr>
                      <a:endParaRPr lang="en-CA" sz="1400" b="0" i="0" u="none" strike="noStrike" noProof="0" dirty="0"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CA" sz="1800" b="1" i="0" u="none" strike="noStrike" noProof="0" dirty="0">
                          <a:latin typeface="Calibri"/>
                        </a:rPr>
                        <a:t>1: for; 10: against</a:t>
                      </a:r>
                      <a:endParaRPr lang="en-CA" sz="1400" b="1" i="0" u="none" strike="noStrike" noProof="0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CA" sz="1800" b="1" i="0" u="none" strike="noStrike" noProof="0" dirty="0">
                          <a:latin typeface="Calibri"/>
                        </a:rPr>
                        <a:t>Intellectual Property</a:t>
                      </a:r>
                      <a:endParaRPr lang="en-CA" b="1" noProof="0" dirty="0"/>
                    </a:p>
                    <a:p>
                      <a:pPr lvl="0" algn="ctr">
                        <a:buNone/>
                      </a:pPr>
                      <a:endParaRPr lang="en-CA" sz="1800" b="0" i="0" u="none" strike="noStrike" noProof="0" dirty="0"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CA" sz="1200" b="0" i="0" u="none" strike="noStrike" noProof="0" dirty="0">
                          <a:latin typeface="Calibri"/>
                        </a:rPr>
                        <a:t>“</a:t>
                      </a:r>
                      <a:r>
                        <a:rPr lang="en-CA" sz="1200" dirty="0"/>
                        <a:t>The Canadian government should impose $50 fines per infraction for illegal streaming of movies and TV shows, charged directly to an internet subscriber’s account, after three warnings.”</a:t>
                      </a:r>
                      <a:endParaRPr lang="en-CA" sz="1200" b="0" i="0" u="none" strike="noStrike" noProof="0" dirty="0"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endParaRPr lang="en-CA" sz="1400" b="0" i="0" u="none" strike="noStrike" noProof="0" dirty="0">
                        <a:latin typeface="Calibri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b="1" i="0" u="none" strike="noStrike" noProof="0" dirty="0"/>
                        <a:t>2: for; 11: against</a:t>
                      </a:r>
                      <a:endParaRPr lang="en-CA" sz="1800" b="0" i="0" u="none" strike="noStrike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CA" sz="1800" b="1" i="0" u="none" strike="noStrike" noProof="0" dirty="0">
                          <a:latin typeface="Calibri"/>
                        </a:rPr>
                        <a:t>Information Privacy</a:t>
                      </a:r>
                      <a:endParaRPr lang="en-CA" b="1" noProof="0" dirty="0"/>
                    </a:p>
                    <a:p>
                      <a:pPr lvl="0" algn="ctr">
                        <a:buNone/>
                      </a:pPr>
                      <a:endParaRPr lang="en-CA" sz="1800" b="0" i="0" u="none" strike="noStrike" noProof="0" dirty="0"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CA" sz="1400" b="0" i="0" u="none" strike="noStrike" noProof="0" dirty="0">
                          <a:latin typeface="Calibri"/>
                        </a:rPr>
                        <a:t>“It should be illegal for shopping malls to install cameras for tracking customer behavior.”</a:t>
                      </a:r>
                    </a:p>
                    <a:p>
                      <a:pPr lvl="0" algn="ctr">
                        <a:buNone/>
                      </a:pPr>
                      <a:endParaRPr lang="en-CA" sz="1400" b="0" i="0" u="none" strike="noStrike" noProof="0" dirty="0"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endParaRPr lang="en-CA" sz="1400" b="0" i="0" u="none" strike="noStrike" noProof="0" dirty="0">
                        <a:latin typeface="Calibri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b="1" i="0" u="none" strike="noStrike" noProof="0" dirty="0"/>
                        <a:t>3: for; 12: against</a:t>
                      </a:r>
                      <a:endParaRPr lang="en-CA" sz="1800" b="0" i="0" u="none" strike="noStrike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705295"/>
                  </a:ext>
                </a:extLst>
              </a:tr>
              <a:tr h="188281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CA" sz="1800" b="1" i="0" u="none" strike="noStrike" noProof="0" dirty="0">
                          <a:latin typeface="Calibri"/>
                        </a:rPr>
                        <a:t>Privacy and the Government</a:t>
                      </a:r>
                      <a:endParaRPr lang="en-CA" b="1" noProof="0"/>
                    </a:p>
                    <a:p>
                      <a:pPr lvl="0" algn="ctr">
                        <a:buNone/>
                      </a:pPr>
                      <a:endParaRPr lang="en-CA" sz="1800" b="1" i="0" u="none" strike="noStrike" noProof="0" dirty="0"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CA" sz="1400" b="0" i="0" u="none" strike="noStrike" noProof="0" dirty="0">
                          <a:latin typeface="Calibri"/>
                        </a:rPr>
                        <a:t>“It should be illegal to sell a mobile phone that cannot be decrypted by the police if so ordered by a court.”</a:t>
                      </a:r>
                    </a:p>
                    <a:p>
                      <a:pPr lvl="0" algn="ctr">
                        <a:buNone/>
                      </a:pPr>
                      <a:endParaRPr lang="en-CA" sz="1400" b="0" i="0" u="none" strike="noStrike" noProof="0" dirty="0">
                        <a:latin typeface="Calibri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b="1" i="0" u="none" strike="noStrike" noProof="0" dirty="0"/>
                        <a:t>4: for; 13: against</a:t>
                      </a:r>
                      <a:endParaRPr lang="en-CA" sz="1800" b="0" i="0" u="none" strike="noStrike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CA" sz="1800" b="1" i="0" u="none" strike="noStrike" noProof="0" dirty="0">
                          <a:latin typeface="Calibri"/>
                        </a:rPr>
                        <a:t>Computer and Network Security</a:t>
                      </a:r>
                      <a:endParaRPr lang="en-CA" b="1" noProof="0" dirty="0"/>
                    </a:p>
                    <a:p>
                      <a:pPr lvl="0" algn="ctr">
                        <a:buNone/>
                      </a:pPr>
                      <a:endParaRPr lang="en-CA" sz="1800" b="0" i="0" u="none" strike="noStrike" noProof="0" dirty="0"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CA" sz="1400" b="0" i="0" u="none" strike="noStrike" noProof="0" dirty="0">
                          <a:latin typeface="Calibri"/>
                        </a:rPr>
                        <a:t>“Canadians should be able to vote online in federal, provincial and municipal elections.”</a:t>
                      </a:r>
                    </a:p>
                    <a:p>
                      <a:pPr lvl="0" algn="ctr">
                        <a:buNone/>
                      </a:pPr>
                      <a:endParaRPr lang="en-CA" sz="1400" b="0" i="0" u="none" strike="noStrike" noProof="0" dirty="0"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endParaRPr lang="en-CA" sz="1400" b="0" i="0" u="none" strike="noStrike" noProof="0" dirty="0">
                        <a:latin typeface="Calibri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b="1" i="0" u="none" strike="noStrike" noProof="0" dirty="0"/>
                        <a:t>5: for; 14: against</a:t>
                      </a:r>
                      <a:endParaRPr lang="en-CA" sz="1800" b="0" i="0" u="none" strike="noStrike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CA" sz="1800" b="1" i="0" u="none" strike="noStrike" noProof="0" dirty="0">
                          <a:latin typeface="Calibri"/>
                        </a:rPr>
                        <a:t>Computer Reliability</a:t>
                      </a:r>
                      <a:endParaRPr lang="en-CA" b="1" noProof="0" dirty="0"/>
                    </a:p>
                    <a:p>
                      <a:pPr lvl="0" algn="ctr">
                        <a:buNone/>
                      </a:pPr>
                      <a:endParaRPr lang="en-CA" sz="1050" b="0" i="0" u="none" strike="noStrike" noProof="0" dirty="0">
                        <a:latin typeface="Calibri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CA" sz="1200" dirty="0"/>
                        <a:t>“Chatbots should be prohibited from offering advice on any topic about which a human would not be allowed to offer similar advice without holding a professional license (e.g., drafting legal documents; diagnosing disease; psychotherapy.)”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b="1" i="0" u="none" strike="noStrike" noProof="0" dirty="0"/>
                        <a:t>6: for; 15: against</a:t>
                      </a:r>
                      <a:endParaRPr lang="en-CA" sz="1800" b="0" i="0" u="none" strike="noStrike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659401"/>
                  </a:ext>
                </a:extLst>
              </a:tr>
              <a:tr h="188281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CA" sz="1800" b="1" i="0" u="none" strike="noStrike" noProof="0" dirty="0">
                          <a:latin typeface="Calibri"/>
                        </a:rPr>
                        <a:t>Professional Ethics</a:t>
                      </a:r>
                      <a:endParaRPr lang="en-CA" b="1" noProof="0"/>
                    </a:p>
                    <a:p>
                      <a:pPr lvl="0" algn="ctr">
                        <a:buNone/>
                      </a:pPr>
                      <a:endParaRPr lang="en-CA" sz="1800" b="0" i="0" u="none" strike="noStrike" noProof="0" dirty="0"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CA" sz="1400" b="0" i="0" u="none" strike="noStrike" noProof="0" dirty="0">
                          <a:latin typeface="Calibri"/>
                        </a:rPr>
                        <a:t>“Computer scientists and data scientists should not aid in the development of autonomous weapon systems.”</a:t>
                      </a:r>
                    </a:p>
                    <a:p>
                      <a:pPr lvl="0" algn="ctr">
                        <a:buNone/>
                      </a:pPr>
                      <a:endParaRPr lang="en-CA" sz="1400" b="0" i="0" u="none" strike="noStrike" noProof="0" dirty="0">
                        <a:latin typeface="Calibri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b="1" i="0" u="none" strike="noStrike" noProof="0" dirty="0"/>
                        <a:t>7: for; 16: against</a:t>
                      </a:r>
                      <a:endParaRPr lang="en-CA" sz="1800" b="0" i="0" u="none" strike="noStrike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CA" sz="1800" b="1" i="0" u="none" strike="noStrike" noProof="0" dirty="0">
                          <a:latin typeface="+mn-lt"/>
                        </a:rPr>
                        <a:t>Automation and Globalization </a:t>
                      </a:r>
                      <a:endParaRPr lang="en-CA" sz="1050" b="0" i="0" u="none" strike="noStrike" noProof="0" dirty="0"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endParaRPr lang="en-CA" sz="1200" b="0" i="0" u="none" strike="noStrike" noProof="0" dirty="0"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CA" sz="1200" b="0" i="0" u="none" strike="noStrike" noProof="0" dirty="0">
                          <a:latin typeface="Calibri"/>
                        </a:rPr>
                        <a:t>“</a:t>
                      </a:r>
                      <a:r>
                        <a:rPr lang="en-CA" sz="1200" dirty="0"/>
                        <a:t>The activity of a company's employees on their work computers, such as what applications </a:t>
                      </a:r>
                      <a:br>
                        <a:rPr lang="en-CA" sz="1200" dirty="0"/>
                      </a:br>
                      <a:r>
                        <a:rPr lang="en-CA" sz="1200" dirty="0"/>
                        <a:t>they have opened and for how long, </a:t>
                      </a:r>
                      <a:br>
                        <a:rPr lang="en-CA" sz="1200" dirty="0"/>
                      </a:br>
                      <a:r>
                        <a:rPr lang="en-CA" sz="1200" dirty="0"/>
                        <a:t>should be considered private </a:t>
                      </a:r>
                      <a:br>
                        <a:rPr lang="en-CA" sz="1200" dirty="0"/>
                      </a:br>
                      <a:r>
                        <a:rPr lang="en-CA" sz="1200" dirty="0"/>
                        <a:t>and may not be tracked by the company</a:t>
                      </a:r>
                      <a:r>
                        <a:rPr lang="en-CA" sz="1200" b="0" i="0" u="none" strike="noStrike" noProof="0" dirty="0">
                          <a:latin typeface="Calibri"/>
                        </a:rPr>
                        <a:t>.”</a:t>
                      </a:r>
                    </a:p>
                    <a:p>
                      <a:pPr lvl="0" algn="ctr">
                        <a:buNone/>
                      </a:pPr>
                      <a:endParaRPr lang="en-CA" sz="800" b="0" i="0" u="none" strike="noStrike" noProof="0" dirty="0">
                        <a:latin typeface="Calibri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b="1" i="0" u="none" strike="noStrike" noProof="0" dirty="0"/>
                        <a:t>8: for; 17: against</a:t>
                      </a:r>
                      <a:endParaRPr lang="en-CA" sz="1800" b="0" i="0" u="none" strike="noStrike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CA" sz="1800" b="1" i="0" u="none" strike="noStrike" noProof="0" dirty="0">
                          <a:latin typeface="Calibri"/>
                        </a:rPr>
                        <a:t>Artificial Intelligence</a:t>
                      </a:r>
                      <a:endParaRPr lang="en-CA" b="1" noProof="0" dirty="0"/>
                    </a:p>
                    <a:p>
                      <a:pPr lvl="0" algn="ctr">
                        <a:buNone/>
                      </a:pPr>
                      <a:endParaRPr lang="en-CA" sz="1100" b="0" i="0" u="none" strike="noStrike" noProof="0" dirty="0"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en-CA" sz="1400" b="0" i="0" u="none" strike="noStrike" noProof="0" dirty="0">
                          <a:latin typeface="Calibri"/>
                        </a:rPr>
                        <a:t>“</a:t>
                      </a:r>
                      <a:r>
                        <a:rPr lang="en-CA" sz="1400" dirty="0"/>
                        <a:t>Content generated by artificial intelligence systems (e.g., </a:t>
                      </a:r>
                      <a:r>
                        <a:rPr lang="en-CA" sz="1400" dirty="0" err="1"/>
                        <a:t>ChatGPT</a:t>
                      </a:r>
                      <a:r>
                        <a:rPr lang="en-CA" sz="1400" dirty="0"/>
                        <a:t>, DALL-E) that require minimal human input should not receive copyright protection</a:t>
                      </a:r>
                      <a:r>
                        <a:rPr lang="en-CA" sz="1400" b="0" i="0" u="none" strike="noStrike" noProof="0" dirty="0">
                          <a:latin typeface="Calibri"/>
                        </a:rPr>
                        <a:t>.”</a:t>
                      </a:r>
                    </a:p>
                    <a:p>
                      <a:pPr lvl="0" algn="ctr">
                        <a:buNone/>
                      </a:pPr>
                      <a:endParaRPr lang="en-CA" sz="1000" b="0" i="0" u="none" strike="noStrike" noProof="0" dirty="0">
                        <a:latin typeface="Calibri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 b="1" i="0" u="none" strike="noStrike" noProof="0" dirty="0"/>
                        <a:t>9: for; 18: against</a:t>
                      </a:r>
                      <a:endParaRPr lang="en-CA" sz="1800" b="0" i="0" u="none" strike="noStrike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9080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20686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A04CE-DA9E-4A88-8C7C-5829DA2D7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Time Permits…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31EEE-0C85-412A-A2EF-70E5D38CD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Break into small groups</a:t>
            </a:r>
          </a:p>
          <a:p>
            <a:r>
              <a:rPr lang="en-US" dirty="0"/>
              <a:t>What topic at the interface of computers and society concerns you most?</a:t>
            </a:r>
          </a:p>
          <a:p>
            <a:r>
              <a:rPr lang="en-US" dirty="0"/>
              <a:t>How should we go about evaluating arguments about what should be done to address this issue?</a:t>
            </a:r>
          </a:p>
        </p:txBody>
      </p:sp>
    </p:spTree>
    <p:extLst>
      <p:ext uri="{BB962C8B-B14F-4D97-AF65-F5344CB8AC3E}">
        <p14:creationId xmlns:p14="http://schemas.microsoft.com/office/powerpoint/2010/main" val="3909840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ML Intro</Template>
  <TotalTime>5473</TotalTime>
  <Words>3042</Words>
  <Application>Microsoft Office PowerPoint</Application>
  <PresentationFormat>Widescreen</PresentationFormat>
  <Paragraphs>295</Paragraphs>
  <Slides>26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Lato Extended</vt:lpstr>
      <vt:lpstr>Whitney SSm A</vt:lpstr>
      <vt:lpstr>Wingdings</vt:lpstr>
      <vt:lpstr>Office Theme</vt:lpstr>
      <vt:lpstr>Computers and Society CPSC 430</vt:lpstr>
      <vt:lpstr>Course Logistics</vt:lpstr>
      <vt:lpstr>Course Organization</vt:lpstr>
      <vt:lpstr>What if I’m on the wait list?</vt:lpstr>
      <vt:lpstr>Essays, peer review, and participation</vt:lpstr>
      <vt:lpstr>Course Description</vt:lpstr>
      <vt:lpstr>Grading Scheme</vt:lpstr>
      <vt:lpstr>In Class Attendance and Participation</vt:lpstr>
      <vt:lpstr>Let’s Take a Minute to Log Into Agora</vt:lpstr>
      <vt:lpstr>Calculating Your 10% Participation Grade</vt:lpstr>
      <vt:lpstr>How participation affects your grade</vt:lpstr>
      <vt:lpstr>Essays in the CBTF</vt:lpstr>
      <vt:lpstr>Grading Your Essays</vt:lpstr>
      <vt:lpstr>Peer Review: Reviewer Perspective</vt:lpstr>
      <vt:lpstr>Types of Peer Review</vt:lpstr>
      <vt:lpstr>Estimating Dependability</vt:lpstr>
      <vt:lpstr>Let’s Take a Minute to Log Into MTA</vt:lpstr>
      <vt:lpstr>Summary of deadlines</vt:lpstr>
      <vt:lpstr>“What if something goes wrong,  and I can’t submit an essay/review?”</vt:lpstr>
      <vt:lpstr>Academic Honesty</vt:lpstr>
      <vt:lpstr>This all starts right away!</vt:lpstr>
      <vt:lpstr>Course content</vt:lpstr>
      <vt:lpstr>Textbook</vt:lpstr>
      <vt:lpstr>Topics (pretty cool stuff, actually )</vt:lpstr>
      <vt:lpstr>Small Groups</vt:lpstr>
      <vt:lpstr>If Time Permits…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CPSC 430 Computers and Society</dc:title>
  <dc:creator>kevinlb</dc:creator>
  <cp:lastModifiedBy>Toti, Giulia</cp:lastModifiedBy>
  <cp:revision>327</cp:revision>
  <cp:lastPrinted>2013-09-05T20:28:22Z</cp:lastPrinted>
  <dcterms:created xsi:type="dcterms:W3CDTF">2012-01-03T23:22:43Z</dcterms:created>
  <dcterms:modified xsi:type="dcterms:W3CDTF">2026-07-06T03:37:38Z</dcterms:modified>
</cp:coreProperties>
</file>