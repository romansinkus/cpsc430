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37"/>
  </p:notesMasterIdLst>
  <p:sldIdLst>
    <p:sldId id="256" r:id="rId2"/>
    <p:sldId id="380" r:id="rId3"/>
    <p:sldId id="404" r:id="rId4"/>
    <p:sldId id="405" r:id="rId5"/>
    <p:sldId id="381" r:id="rId6"/>
    <p:sldId id="382" r:id="rId7"/>
    <p:sldId id="403" r:id="rId8"/>
    <p:sldId id="394" r:id="rId9"/>
    <p:sldId id="396" r:id="rId10"/>
    <p:sldId id="397" r:id="rId11"/>
    <p:sldId id="398" r:id="rId12"/>
    <p:sldId id="400" r:id="rId13"/>
    <p:sldId id="401" r:id="rId14"/>
    <p:sldId id="406" r:id="rId15"/>
    <p:sldId id="419" r:id="rId16"/>
    <p:sldId id="362" r:id="rId17"/>
    <p:sldId id="363" r:id="rId18"/>
    <p:sldId id="364" r:id="rId19"/>
    <p:sldId id="366" r:id="rId20"/>
    <p:sldId id="368" r:id="rId21"/>
    <p:sldId id="371" r:id="rId22"/>
    <p:sldId id="372" r:id="rId23"/>
    <p:sldId id="369" r:id="rId24"/>
    <p:sldId id="370" r:id="rId25"/>
    <p:sldId id="418" r:id="rId26"/>
    <p:sldId id="412" r:id="rId27"/>
    <p:sldId id="420" r:id="rId28"/>
    <p:sldId id="407" r:id="rId29"/>
    <p:sldId id="408" r:id="rId30"/>
    <p:sldId id="411" r:id="rId31"/>
    <p:sldId id="414" r:id="rId32"/>
    <p:sldId id="415" r:id="rId33"/>
    <p:sldId id="416" r:id="rId34"/>
    <p:sldId id="417" r:id="rId35"/>
    <p:sldId id="410" r:id="rId36"/>
  </p:sldIdLst>
  <p:sldSz cx="9144000" cy="5143500" type="screen16x9"/>
  <p:notesSz cx="6858000" cy="9144000"/>
  <p:defaultTextStyle>
    <a:defPPr>
      <a:defRPr lang="en-US"/>
    </a:defPPr>
    <a:lvl1pPr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1pPr>
    <a:lvl2pPr marL="3429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2pPr>
    <a:lvl3pPr marL="6858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3pPr>
    <a:lvl4pPr marL="10287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4pPr>
    <a:lvl5pPr marL="1371600" algn="l" rtl="0" eaLnBrk="0" fontAlgn="base" hangingPunct="0">
      <a:spcBef>
        <a:spcPct val="0"/>
      </a:spcBef>
      <a:spcAft>
        <a:spcPct val="0"/>
      </a:spcAft>
      <a:defRPr sz="1800" b="1" kern="1200">
        <a:solidFill>
          <a:schemeClr val="tx1"/>
        </a:solidFill>
        <a:latin typeface="Arial" panose="020B0604020202020204" pitchFamily="34" charset="0"/>
        <a:ea typeface="ヒラギノ角ゴ Pro W3" pitchFamily="-48" charset="-128"/>
        <a:cs typeface="+mn-cs"/>
      </a:defRPr>
    </a:lvl5pPr>
    <a:lvl6pPr marL="17145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6pPr>
    <a:lvl7pPr marL="20574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7pPr>
    <a:lvl8pPr marL="24003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8pPr>
    <a:lvl9pPr marL="2743200" algn="l" defTabSz="685800" rtl="0" eaLnBrk="1" latinLnBrk="0" hangingPunct="1">
      <a:defRPr sz="1800" b="1" kern="1200">
        <a:solidFill>
          <a:schemeClr val="tx1"/>
        </a:solidFill>
        <a:latin typeface="Arial" panose="020B0604020202020204" pitchFamily="34" charset="0"/>
        <a:ea typeface="ヒラギノ角ゴ Pro W3" pitchFamily="-48" charset="-128"/>
        <a:cs typeface="+mn-cs"/>
      </a:defRPr>
    </a:lvl9pPr>
  </p:defaultTextStyle>
  <p:extLs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40"/>
    <a:srgbClr val="000099"/>
    <a:srgbClr val="18A6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9" autoAdjust="0"/>
    <p:restoredTop sz="94660"/>
  </p:normalViewPr>
  <p:slideViewPr>
    <p:cSldViewPr>
      <p:cViewPr>
        <p:scale>
          <a:sx n="122" d="100"/>
          <a:sy n="122" d="100"/>
        </p:scale>
        <p:origin x="51" y="204"/>
      </p:cViewPr>
      <p:guideLst>
        <p:guide orient="horz"/>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ti, Giulia" userId="ae793f63-b342-411f-bdc7-f371695c6665" providerId="ADAL" clId="{81AF9857-EDFF-4CAC-893E-C2E4499B1D4F}"/>
    <pc:docChg chg="custSel addSld delSld modSld sldOrd">
      <pc:chgData name="Toti, Giulia" userId="ae793f63-b342-411f-bdc7-f371695c6665" providerId="ADAL" clId="{81AF9857-EDFF-4CAC-893E-C2E4499B1D4F}" dt="2026-07-13T02:28:14.591" v="590" actId="3626"/>
      <pc:docMkLst>
        <pc:docMk/>
      </pc:docMkLst>
      <pc:sldChg chg="modSp mod">
        <pc:chgData name="Toti, Giulia" userId="ae793f63-b342-411f-bdc7-f371695c6665" providerId="ADAL" clId="{81AF9857-EDFF-4CAC-893E-C2E4499B1D4F}" dt="2026-07-13T01:06:24.285" v="48" actId="20577"/>
        <pc:sldMkLst>
          <pc:docMk/>
          <pc:sldMk cId="3996834184" sldId="256"/>
        </pc:sldMkLst>
        <pc:spChg chg="mod">
          <ac:chgData name="Toti, Giulia" userId="ae793f63-b342-411f-bdc7-f371695c6665" providerId="ADAL" clId="{81AF9857-EDFF-4CAC-893E-C2E4499B1D4F}" dt="2026-07-13T01:06:13.880" v="36" actId="20577"/>
          <ac:spMkLst>
            <pc:docMk/>
            <pc:sldMk cId="3996834184" sldId="256"/>
            <ac:spMk id="2" creationId="{4B6CD041-6123-41EC-8961-0E182C690F32}"/>
          </ac:spMkLst>
        </pc:spChg>
        <pc:spChg chg="mod">
          <ac:chgData name="Toti, Giulia" userId="ae793f63-b342-411f-bdc7-f371695c6665" providerId="ADAL" clId="{81AF9857-EDFF-4CAC-893E-C2E4499B1D4F}" dt="2026-07-13T01:06:24.285" v="48" actId="20577"/>
          <ac:spMkLst>
            <pc:docMk/>
            <pc:sldMk cId="3996834184" sldId="256"/>
            <ac:spMk id="6" creationId="{6931CC9E-D373-7534-9D61-1ADE9B6BB5E7}"/>
          </ac:spMkLst>
        </pc:spChg>
      </pc:sldChg>
      <pc:sldChg chg="del">
        <pc:chgData name="Toti, Giulia" userId="ae793f63-b342-411f-bdc7-f371695c6665" providerId="ADAL" clId="{81AF9857-EDFF-4CAC-893E-C2E4499B1D4F}" dt="2026-07-13T01:07:49.668" v="49" actId="47"/>
        <pc:sldMkLst>
          <pc:docMk/>
          <pc:sldMk cId="0" sldId="332"/>
        </pc:sldMkLst>
      </pc:sldChg>
      <pc:sldChg chg="del">
        <pc:chgData name="Toti, Giulia" userId="ae793f63-b342-411f-bdc7-f371695c6665" providerId="ADAL" clId="{81AF9857-EDFF-4CAC-893E-C2E4499B1D4F}" dt="2026-07-13T01:07:49.668" v="49" actId="47"/>
        <pc:sldMkLst>
          <pc:docMk/>
          <pc:sldMk cId="0" sldId="333"/>
        </pc:sldMkLst>
      </pc:sldChg>
      <pc:sldChg chg="del">
        <pc:chgData name="Toti, Giulia" userId="ae793f63-b342-411f-bdc7-f371695c6665" providerId="ADAL" clId="{81AF9857-EDFF-4CAC-893E-C2E4499B1D4F}" dt="2026-07-13T01:07:49.668" v="49" actId="47"/>
        <pc:sldMkLst>
          <pc:docMk/>
          <pc:sldMk cId="0" sldId="334"/>
        </pc:sldMkLst>
      </pc:sldChg>
      <pc:sldChg chg="del">
        <pc:chgData name="Toti, Giulia" userId="ae793f63-b342-411f-bdc7-f371695c6665" providerId="ADAL" clId="{81AF9857-EDFF-4CAC-893E-C2E4499B1D4F}" dt="2026-07-13T01:07:49.668" v="49" actId="47"/>
        <pc:sldMkLst>
          <pc:docMk/>
          <pc:sldMk cId="0" sldId="335"/>
        </pc:sldMkLst>
      </pc:sldChg>
      <pc:sldChg chg="del">
        <pc:chgData name="Toti, Giulia" userId="ae793f63-b342-411f-bdc7-f371695c6665" providerId="ADAL" clId="{81AF9857-EDFF-4CAC-893E-C2E4499B1D4F}" dt="2026-07-13T01:07:49.668" v="49" actId="47"/>
        <pc:sldMkLst>
          <pc:docMk/>
          <pc:sldMk cId="0" sldId="340"/>
        </pc:sldMkLst>
      </pc:sldChg>
      <pc:sldChg chg="del">
        <pc:chgData name="Toti, Giulia" userId="ae793f63-b342-411f-bdc7-f371695c6665" providerId="ADAL" clId="{81AF9857-EDFF-4CAC-893E-C2E4499B1D4F}" dt="2026-07-13T01:07:49.668" v="49" actId="47"/>
        <pc:sldMkLst>
          <pc:docMk/>
          <pc:sldMk cId="0" sldId="341"/>
        </pc:sldMkLst>
      </pc:sldChg>
      <pc:sldChg chg="del">
        <pc:chgData name="Toti, Giulia" userId="ae793f63-b342-411f-bdc7-f371695c6665" providerId="ADAL" clId="{81AF9857-EDFF-4CAC-893E-C2E4499B1D4F}" dt="2026-07-13T01:07:49.668" v="49" actId="47"/>
        <pc:sldMkLst>
          <pc:docMk/>
          <pc:sldMk cId="0" sldId="342"/>
        </pc:sldMkLst>
      </pc:sldChg>
      <pc:sldChg chg="add">
        <pc:chgData name="Toti, Giulia" userId="ae793f63-b342-411f-bdc7-f371695c6665" providerId="ADAL" clId="{81AF9857-EDFF-4CAC-893E-C2E4499B1D4F}" dt="2026-07-13T01:20:37.126" v="452"/>
        <pc:sldMkLst>
          <pc:docMk/>
          <pc:sldMk cId="0" sldId="362"/>
        </pc:sldMkLst>
      </pc:sldChg>
      <pc:sldChg chg="modSp add mod">
        <pc:chgData name="Toti, Giulia" userId="ae793f63-b342-411f-bdc7-f371695c6665" providerId="ADAL" clId="{81AF9857-EDFF-4CAC-893E-C2E4499B1D4F}" dt="2026-07-13T02:10:53.026" v="555" actId="20577"/>
        <pc:sldMkLst>
          <pc:docMk/>
          <pc:sldMk cId="0" sldId="363"/>
        </pc:sldMkLst>
        <pc:spChg chg="mod">
          <ac:chgData name="Toti, Giulia" userId="ae793f63-b342-411f-bdc7-f371695c6665" providerId="ADAL" clId="{81AF9857-EDFF-4CAC-893E-C2E4499B1D4F}" dt="2026-07-13T02:10:53.026" v="555" actId="20577"/>
          <ac:spMkLst>
            <pc:docMk/>
            <pc:sldMk cId="0" sldId="363"/>
            <ac:spMk id="3" creationId="{80E0DD67-DABA-4397-9A79-EB222EAF7D12}"/>
          </ac:spMkLst>
        </pc:spChg>
        <pc:spChg chg="mod">
          <ac:chgData name="Toti, Giulia" userId="ae793f63-b342-411f-bdc7-f371695c6665" providerId="ADAL" clId="{81AF9857-EDFF-4CAC-893E-C2E4499B1D4F}" dt="2026-07-13T01:20:37.257" v="453" actId="27636"/>
          <ac:spMkLst>
            <pc:docMk/>
            <pc:sldMk cId="0" sldId="363"/>
            <ac:spMk id="16386" creationId="{B9B79AFC-F4BA-4B0C-BCE8-04E3C5ADD043}"/>
          </ac:spMkLst>
        </pc:spChg>
      </pc:sldChg>
      <pc:sldChg chg="add">
        <pc:chgData name="Toti, Giulia" userId="ae793f63-b342-411f-bdc7-f371695c6665" providerId="ADAL" clId="{81AF9857-EDFF-4CAC-893E-C2E4499B1D4F}" dt="2026-07-13T01:20:37.126" v="452"/>
        <pc:sldMkLst>
          <pc:docMk/>
          <pc:sldMk cId="0" sldId="364"/>
        </pc:sldMkLst>
      </pc:sldChg>
      <pc:sldChg chg="add">
        <pc:chgData name="Toti, Giulia" userId="ae793f63-b342-411f-bdc7-f371695c6665" providerId="ADAL" clId="{81AF9857-EDFF-4CAC-893E-C2E4499B1D4F}" dt="2026-07-13T01:24:49.502" v="454"/>
        <pc:sldMkLst>
          <pc:docMk/>
          <pc:sldMk cId="0" sldId="366"/>
        </pc:sldMkLst>
      </pc:sldChg>
      <pc:sldChg chg="add">
        <pc:chgData name="Toti, Giulia" userId="ae793f63-b342-411f-bdc7-f371695c6665" providerId="ADAL" clId="{81AF9857-EDFF-4CAC-893E-C2E4499B1D4F}" dt="2026-07-13T01:24:49.502" v="454"/>
        <pc:sldMkLst>
          <pc:docMk/>
          <pc:sldMk cId="0" sldId="368"/>
        </pc:sldMkLst>
      </pc:sldChg>
      <pc:sldChg chg="add del">
        <pc:chgData name="Toti, Giulia" userId="ae793f63-b342-411f-bdc7-f371695c6665" providerId="ADAL" clId="{81AF9857-EDFF-4CAC-893E-C2E4499B1D4F}" dt="2026-07-13T01:25:37.097" v="502" actId="2696"/>
        <pc:sldMkLst>
          <pc:docMk/>
          <pc:sldMk cId="0" sldId="369"/>
        </pc:sldMkLst>
      </pc:sldChg>
      <pc:sldChg chg="add">
        <pc:chgData name="Toti, Giulia" userId="ae793f63-b342-411f-bdc7-f371695c6665" providerId="ADAL" clId="{81AF9857-EDFF-4CAC-893E-C2E4499B1D4F}" dt="2026-07-13T01:25:42.170" v="503"/>
        <pc:sldMkLst>
          <pc:docMk/>
          <pc:sldMk cId="3508325785" sldId="369"/>
        </pc:sldMkLst>
      </pc:sldChg>
      <pc:sldChg chg="add del">
        <pc:chgData name="Toti, Giulia" userId="ae793f63-b342-411f-bdc7-f371695c6665" providerId="ADAL" clId="{81AF9857-EDFF-4CAC-893E-C2E4499B1D4F}" dt="2026-07-13T01:25:37.097" v="502" actId="2696"/>
        <pc:sldMkLst>
          <pc:docMk/>
          <pc:sldMk cId="0" sldId="370"/>
        </pc:sldMkLst>
      </pc:sldChg>
      <pc:sldChg chg="add">
        <pc:chgData name="Toti, Giulia" userId="ae793f63-b342-411f-bdc7-f371695c6665" providerId="ADAL" clId="{81AF9857-EDFF-4CAC-893E-C2E4499B1D4F}" dt="2026-07-13T01:25:42.170" v="503"/>
        <pc:sldMkLst>
          <pc:docMk/>
          <pc:sldMk cId="926541812" sldId="370"/>
        </pc:sldMkLst>
      </pc:sldChg>
      <pc:sldChg chg="modSp add mod modAnim">
        <pc:chgData name="Toti, Giulia" userId="ae793f63-b342-411f-bdc7-f371695c6665" providerId="ADAL" clId="{81AF9857-EDFF-4CAC-893E-C2E4499B1D4F}" dt="2026-07-13T02:28:14.591" v="590" actId="3626"/>
        <pc:sldMkLst>
          <pc:docMk/>
          <pc:sldMk cId="0" sldId="371"/>
        </pc:sldMkLst>
        <pc:spChg chg="mod">
          <ac:chgData name="Toti, Giulia" userId="ae793f63-b342-411f-bdc7-f371695c6665" providerId="ADAL" clId="{81AF9857-EDFF-4CAC-893E-C2E4499B1D4F}" dt="2026-07-13T02:28:14.591" v="590" actId="3626"/>
          <ac:spMkLst>
            <pc:docMk/>
            <pc:sldMk cId="0" sldId="371"/>
            <ac:spMk id="24579" creationId="{84B0A9B4-9A9F-42B2-9BEE-6FD16DC30C7F}"/>
          </ac:spMkLst>
        </pc:spChg>
      </pc:sldChg>
      <pc:sldChg chg="add">
        <pc:chgData name="Toti, Giulia" userId="ae793f63-b342-411f-bdc7-f371695c6665" providerId="ADAL" clId="{81AF9857-EDFF-4CAC-893E-C2E4499B1D4F}" dt="2026-07-13T01:24:49.502" v="454"/>
        <pc:sldMkLst>
          <pc:docMk/>
          <pc:sldMk cId="0" sldId="372"/>
        </pc:sldMkLst>
      </pc:sldChg>
      <pc:sldChg chg="del">
        <pc:chgData name="Toti, Giulia" userId="ae793f63-b342-411f-bdc7-f371695c6665" providerId="ADAL" clId="{81AF9857-EDFF-4CAC-893E-C2E4499B1D4F}" dt="2026-07-13T01:07:49.668" v="49" actId="47"/>
        <pc:sldMkLst>
          <pc:docMk/>
          <pc:sldMk cId="0" sldId="378"/>
        </pc:sldMkLst>
      </pc:sldChg>
      <pc:sldChg chg="add">
        <pc:chgData name="Toti, Giulia" userId="ae793f63-b342-411f-bdc7-f371695c6665" providerId="ADAL" clId="{81AF9857-EDFF-4CAC-893E-C2E4499B1D4F}" dt="2026-07-13T01:20:37.126" v="452"/>
        <pc:sldMkLst>
          <pc:docMk/>
          <pc:sldMk cId="0" sldId="394"/>
        </pc:sldMkLst>
      </pc:sldChg>
      <pc:sldChg chg="add">
        <pc:chgData name="Toti, Giulia" userId="ae793f63-b342-411f-bdc7-f371695c6665" providerId="ADAL" clId="{81AF9857-EDFF-4CAC-893E-C2E4499B1D4F}" dt="2026-07-13T01:20:37.126" v="452"/>
        <pc:sldMkLst>
          <pc:docMk/>
          <pc:sldMk cId="0" sldId="396"/>
        </pc:sldMkLst>
      </pc:sldChg>
      <pc:sldChg chg="add">
        <pc:chgData name="Toti, Giulia" userId="ae793f63-b342-411f-bdc7-f371695c6665" providerId="ADAL" clId="{81AF9857-EDFF-4CAC-893E-C2E4499B1D4F}" dt="2026-07-13T01:20:37.126" v="452"/>
        <pc:sldMkLst>
          <pc:docMk/>
          <pc:sldMk cId="0" sldId="397"/>
        </pc:sldMkLst>
      </pc:sldChg>
      <pc:sldChg chg="modSp add mod">
        <pc:chgData name="Toti, Giulia" userId="ae793f63-b342-411f-bdc7-f371695c6665" providerId="ADAL" clId="{81AF9857-EDFF-4CAC-893E-C2E4499B1D4F}" dt="2026-07-13T01:57:39.409" v="552" actId="20577"/>
        <pc:sldMkLst>
          <pc:docMk/>
          <pc:sldMk cId="0" sldId="398"/>
        </pc:sldMkLst>
        <pc:spChg chg="mod">
          <ac:chgData name="Toti, Giulia" userId="ae793f63-b342-411f-bdc7-f371695c6665" providerId="ADAL" clId="{81AF9857-EDFF-4CAC-893E-C2E4499B1D4F}" dt="2026-07-13T01:57:39.409" v="552" actId="20577"/>
          <ac:spMkLst>
            <pc:docMk/>
            <pc:sldMk cId="0" sldId="398"/>
            <ac:spMk id="20483" creationId="{92D91290-8DB7-4B69-B594-0F3D3A023F3B}"/>
          </ac:spMkLst>
        </pc:spChg>
      </pc:sldChg>
      <pc:sldChg chg="add">
        <pc:chgData name="Toti, Giulia" userId="ae793f63-b342-411f-bdc7-f371695c6665" providerId="ADAL" clId="{81AF9857-EDFF-4CAC-893E-C2E4499B1D4F}" dt="2026-07-13T01:20:37.126" v="452"/>
        <pc:sldMkLst>
          <pc:docMk/>
          <pc:sldMk cId="0" sldId="400"/>
        </pc:sldMkLst>
      </pc:sldChg>
      <pc:sldChg chg="add">
        <pc:chgData name="Toti, Giulia" userId="ae793f63-b342-411f-bdc7-f371695c6665" providerId="ADAL" clId="{81AF9857-EDFF-4CAC-893E-C2E4499B1D4F}" dt="2026-07-13T01:20:37.126" v="452"/>
        <pc:sldMkLst>
          <pc:docMk/>
          <pc:sldMk cId="0" sldId="401"/>
        </pc:sldMkLst>
      </pc:sldChg>
      <pc:sldChg chg="del">
        <pc:chgData name="Toti, Giulia" userId="ae793f63-b342-411f-bdc7-f371695c6665" providerId="ADAL" clId="{81AF9857-EDFF-4CAC-893E-C2E4499B1D4F}" dt="2026-07-13T01:07:49.668" v="49" actId="47"/>
        <pc:sldMkLst>
          <pc:docMk/>
          <pc:sldMk cId="2402386425" sldId="402"/>
        </pc:sldMkLst>
      </pc:sldChg>
      <pc:sldChg chg="modSp mod">
        <pc:chgData name="Toti, Giulia" userId="ae793f63-b342-411f-bdc7-f371695c6665" providerId="ADAL" clId="{81AF9857-EDFF-4CAC-893E-C2E4499B1D4F}" dt="2026-07-13T01:14:05.941" v="451" actId="20577"/>
        <pc:sldMkLst>
          <pc:docMk/>
          <pc:sldMk cId="3578424866" sldId="403"/>
        </pc:sldMkLst>
        <pc:spChg chg="mod">
          <ac:chgData name="Toti, Giulia" userId="ae793f63-b342-411f-bdc7-f371695c6665" providerId="ADAL" clId="{81AF9857-EDFF-4CAC-893E-C2E4499B1D4F}" dt="2026-07-13T01:14:05.941" v="451" actId="20577"/>
          <ac:spMkLst>
            <pc:docMk/>
            <pc:sldMk cId="3578424866" sldId="403"/>
            <ac:spMk id="3" creationId="{C06AEE44-DE0E-45BD-9261-5203B4B70E0F}"/>
          </ac:spMkLst>
        </pc:spChg>
      </pc:sldChg>
      <pc:sldChg chg="modSp new mod">
        <pc:chgData name="Toti, Giulia" userId="ae793f63-b342-411f-bdc7-f371695c6665" providerId="ADAL" clId="{81AF9857-EDFF-4CAC-893E-C2E4499B1D4F}" dt="2026-07-13T01:11:21.821" v="384" actId="20577"/>
        <pc:sldMkLst>
          <pc:docMk/>
          <pc:sldMk cId="1559598190" sldId="404"/>
        </pc:sldMkLst>
        <pc:spChg chg="mod">
          <ac:chgData name="Toti, Giulia" userId="ae793f63-b342-411f-bdc7-f371695c6665" providerId="ADAL" clId="{81AF9857-EDFF-4CAC-893E-C2E4499B1D4F}" dt="2026-07-13T01:08:00.319" v="69" actId="20577"/>
          <ac:spMkLst>
            <pc:docMk/>
            <pc:sldMk cId="1559598190" sldId="404"/>
            <ac:spMk id="2" creationId="{54B9ADCF-4292-4747-B773-E12A54ADCBBD}"/>
          </ac:spMkLst>
        </pc:spChg>
        <pc:spChg chg="mod">
          <ac:chgData name="Toti, Giulia" userId="ae793f63-b342-411f-bdc7-f371695c6665" providerId="ADAL" clId="{81AF9857-EDFF-4CAC-893E-C2E4499B1D4F}" dt="2026-07-13T01:11:21.821" v="384" actId="20577"/>
          <ac:spMkLst>
            <pc:docMk/>
            <pc:sldMk cId="1559598190" sldId="404"/>
            <ac:spMk id="3" creationId="{4D1E6C5E-A1C5-49BD-A178-FB7F123FF0CE}"/>
          </ac:spMkLst>
        </pc:spChg>
      </pc:sldChg>
      <pc:sldChg chg="addSp delSp modSp new mod modClrScheme chgLayout">
        <pc:chgData name="Toti, Giulia" userId="ae793f63-b342-411f-bdc7-f371695c6665" providerId="ADAL" clId="{81AF9857-EDFF-4CAC-893E-C2E4499B1D4F}" dt="2026-07-13T01:12:05.663" v="406" actId="1076"/>
        <pc:sldMkLst>
          <pc:docMk/>
          <pc:sldMk cId="2392372760" sldId="405"/>
        </pc:sldMkLst>
        <pc:spChg chg="del mod ord">
          <ac:chgData name="Toti, Giulia" userId="ae793f63-b342-411f-bdc7-f371695c6665" providerId="ADAL" clId="{81AF9857-EDFF-4CAC-893E-C2E4499B1D4F}" dt="2026-07-13T01:11:38.459" v="386" actId="700"/>
          <ac:spMkLst>
            <pc:docMk/>
            <pc:sldMk cId="2392372760" sldId="405"/>
            <ac:spMk id="2" creationId="{6C33D8B6-6C18-4A87-9E7D-AF37CE0288A9}"/>
          </ac:spMkLst>
        </pc:spChg>
        <pc:spChg chg="del mod ord">
          <ac:chgData name="Toti, Giulia" userId="ae793f63-b342-411f-bdc7-f371695c6665" providerId="ADAL" clId="{81AF9857-EDFF-4CAC-893E-C2E4499B1D4F}" dt="2026-07-13T01:11:38.459" v="386" actId="700"/>
          <ac:spMkLst>
            <pc:docMk/>
            <pc:sldMk cId="2392372760" sldId="405"/>
            <ac:spMk id="3" creationId="{59B4EBBA-F835-46E5-A530-3D8CBBA48B2C}"/>
          </ac:spMkLst>
        </pc:spChg>
        <pc:spChg chg="add mod ord">
          <ac:chgData name="Toti, Giulia" userId="ae793f63-b342-411f-bdc7-f371695c6665" providerId="ADAL" clId="{81AF9857-EDFF-4CAC-893E-C2E4499B1D4F}" dt="2026-07-13T01:12:05.663" v="406" actId="1076"/>
          <ac:spMkLst>
            <pc:docMk/>
            <pc:sldMk cId="2392372760" sldId="405"/>
            <ac:spMk id="4" creationId="{891062A0-6391-4E19-B466-8875D69A6940}"/>
          </ac:spMkLst>
        </pc:spChg>
        <pc:spChg chg="add del mod ord">
          <ac:chgData name="Toti, Giulia" userId="ae793f63-b342-411f-bdc7-f371695c6665" providerId="ADAL" clId="{81AF9857-EDFF-4CAC-893E-C2E4499B1D4F}" dt="2026-07-13T01:12:01.974" v="405" actId="478"/>
          <ac:spMkLst>
            <pc:docMk/>
            <pc:sldMk cId="2392372760" sldId="405"/>
            <ac:spMk id="5" creationId="{07D1018D-761A-4CDD-8613-79F9576D41C0}"/>
          </ac:spMkLst>
        </pc:spChg>
      </pc:sldChg>
      <pc:sldChg chg="add">
        <pc:chgData name="Toti, Giulia" userId="ae793f63-b342-411f-bdc7-f371695c6665" providerId="ADAL" clId="{81AF9857-EDFF-4CAC-893E-C2E4499B1D4F}" dt="2026-07-13T01:20:37.126" v="452"/>
        <pc:sldMkLst>
          <pc:docMk/>
          <pc:sldMk cId="2963101824" sldId="406"/>
        </pc:sldMkLst>
      </pc:sldChg>
      <pc:sldChg chg="add">
        <pc:chgData name="Toti, Giulia" userId="ae793f63-b342-411f-bdc7-f371695c6665" providerId="ADAL" clId="{81AF9857-EDFF-4CAC-893E-C2E4499B1D4F}" dt="2026-07-13T01:24:49.502" v="454"/>
        <pc:sldMkLst>
          <pc:docMk/>
          <pc:sldMk cId="0" sldId="407"/>
        </pc:sldMkLst>
      </pc:sldChg>
      <pc:sldChg chg="add">
        <pc:chgData name="Toti, Giulia" userId="ae793f63-b342-411f-bdc7-f371695c6665" providerId="ADAL" clId="{81AF9857-EDFF-4CAC-893E-C2E4499B1D4F}" dt="2026-07-13T01:24:49.502" v="454"/>
        <pc:sldMkLst>
          <pc:docMk/>
          <pc:sldMk cId="0" sldId="408"/>
        </pc:sldMkLst>
      </pc:sldChg>
      <pc:sldChg chg="add">
        <pc:chgData name="Toti, Giulia" userId="ae793f63-b342-411f-bdc7-f371695c6665" providerId="ADAL" clId="{81AF9857-EDFF-4CAC-893E-C2E4499B1D4F}" dt="2026-07-13T01:24:49.502" v="454"/>
        <pc:sldMkLst>
          <pc:docMk/>
          <pc:sldMk cId="3556407511" sldId="410"/>
        </pc:sldMkLst>
      </pc:sldChg>
      <pc:sldChg chg="add">
        <pc:chgData name="Toti, Giulia" userId="ae793f63-b342-411f-bdc7-f371695c6665" providerId="ADAL" clId="{81AF9857-EDFF-4CAC-893E-C2E4499B1D4F}" dt="2026-07-13T01:24:49.502" v="454"/>
        <pc:sldMkLst>
          <pc:docMk/>
          <pc:sldMk cId="2006693293" sldId="411"/>
        </pc:sldMkLst>
      </pc:sldChg>
      <pc:sldChg chg="add del">
        <pc:chgData name="Toti, Giulia" userId="ae793f63-b342-411f-bdc7-f371695c6665" providerId="ADAL" clId="{81AF9857-EDFF-4CAC-893E-C2E4499B1D4F}" dt="2026-07-13T01:25:37.097" v="502" actId="2696"/>
        <pc:sldMkLst>
          <pc:docMk/>
          <pc:sldMk cId="0" sldId="412"/>
        </pc:sldMkLst>
      </pc:sldChg>
      <pc:sldChg chg="add">
        <pc:chgData name="Toti, Giulia" userId="ae793f63-b342-411f-bdc7-f371695c6665" providerId="ADAL" clId="{81AF9857-EDFF-4CAC-893E-C2E4499B1D4F}" dt="2026-07-13T01:25:42.170" v="503"/>
        <pc:sldMkLst>
          <pc:docMk/>
          <pc:sldMk cId="2821696117" sldId="412"/>
        </pc:sldMkLst>
      </pc:sldChg>
      <pc:sldChg chg="add">
        <pc:chgData name="Toti, Giulia" userId="ae793f63-b342-411f-bdc7-f371695c6665" providerId="ADAL" clId="{81AF9857-EDFF-4CAC-893E-C2E4499B1D4F}" dt="2026-07-13T01:24:49.502" v="454"/>
        <pc:sldMkLst>
          <pc:docMk/>
          <pc:sldMk cId="3068427511" sldId="414"/>
        </pc:sldMkLst>
      </pc:sldChg>
      <pc:sldChg chg="add">
        <pc:chgData name="Toti, Giulia" userId="ae793f63-b342-411f-bdc7-f371695c6665" providerId="ADAL" clId="{81AF9857-EDFF-4CAC-893E-C2E4499B1D4F}" dt="2026-07-13T01:24:49.502" v="454"/>
        <pc:sldMkLst>
          <pc:docMk/>
          <pc:sldMk cId="0" sldId="415"/>
        </pc:sldMkLst>
      </pc:sldChg>
      <pc:sldChg chg="add">
        <pc:chgData name="Toti, Giulia" userId="ae793f63-b342-411f-bdc7-f371695c6665" providerId="ADAL" clId="{81AF9857-EDFF-4CAC-893E-C2E4499B1D4F}" dt="2026-07-13T01:24:49.502" v="454"/>
        <pc:sldMkLst>
          <pc:docMk/>
          <pc:sldMk cId="0" sldId="416"/>
        </pc:sldMkLst>
      </pc:sldChg>
      <pc:sldChg chg="add">
        <pc:chgData name="Toti, Giulia" userId="ae793f63-b342-411f-bdc7-f371695c6665" providerId="ADAL" clId="{81AF9857-EDFF-4CAC-893E-C2E4499B1D4F}" dt="2026-07-13T01:24:49.502" v="454"/>
        <pc:sldMkLst>
          <pc:docMk/>
          <pc:sldMk cId="0" sldId="417"/>
        </pc:sldMkLst>
      </pc:sldChg>
      <pc:sldChg chg="add del">
        <pc:chgData name="Toti, Giulia" userId="ae793f63-b342-411f-bdc7-f371695c6665" providerId="ADAL" clId="{81AF9857-EDFF-4CAC-893E-C2E4499B1D4F}" dt="2026-07-13T01:25:37.097" v="502" actId="2696"/>
        <pc:sldMkLst>
          <pc:docMk/>
          <pc:sldMk cId="0" sldId="418"/>
        </pc:sldMkLst>
      </pc:sldChg>
      <pc:sldChg chg="modSp add">
        <pc:chgData name="Toti, Giulia" userId="ae793f63-b342-411f-bdc7-f371695c6665" providerId="ADAL" clId="{81AF9857-EDFF-4CAC-893E-C2E4499B1D4F}" dt="2026-07-13T01:26:12.816" v="505" actId="20577"/>
        <pc:sldMkLst>
          <pc:docMk/>
          <pc:sldMk cId="2621988239" sldId="418"/>
        </pc:sldMkLst>
        <pc:spChg chg="mod">
          <ac:chgData name="Toti, Giulia" userId="ae793f63-b342-411f-bdc7-f371695c6665" providerId="ADAL" clId="{81AF9857-EDFF-4CAC-893E-C2E4499B1D4F}" dt="2026-07-13T01:26:12.816" v="505" actId="20577"/>
          <ac:spMkLst>
            <pc:docMk/>
            <pc:sldMk cId="2621988239" sldId="418"/>
            <ac:spMk id="3" creationId="{E7556180-62E3-4596-B5FF-496384227658}"/>
          </ac:spMkLst>
        </pc:spChg>
      </pc:sldChg>
      <pc:sldChg chg="modSp add mod ord">
        <pc:chgData name="Toti, Giulia" userId="ae793f63-b342-411f-bdc7-f371695c6665" providerId="ADAL" clId="{81AF9857-EDFF-4CAC-893E-C2E4499B1D4F}" dt="2026-07-13T01:25:14.105" v="485" actId="20577"/>
        <pc:sldMkLst>
          <pc:docMk/>
          <pc:sldMk cId="2678835971" sldId="419"/>
        </pc:sldMkLst>
        <pc:spChg chg="mod">
          <ac:chgData name="Toti, Giulia" userId="ae793f63-b342-411f-bdc7-f371695c6665" providerId="ADAL" clId="{81AF9857-EDFF-4CAC-893E-C2E4499B1D4F}" dt="2026-07-13T01:25:14.105" v="485" actId="20577"/>
          <ac:spMkLst>
            <pc:docMk/>
            <pc:sldMk cId="2678835971" sldId="419"/>
            <ac:spMk id="4" creationId="{891062A0-6391-4E19-B466-8875D69A6940}"/>
          </ac:spMkLst>
        </pc:spChg>
      </pc:sldChg>
      <pc:sldChg chg="modSp add mod">
        <pc:chgData name="Toti, Giulia" userId="ae793f63-b342-411f-bdc7-f371695c6665" providerId="ADAL" clId="{81AF9857-EDFF-4CAC-893E-C2E4499B1D4F}" dt="2026-07-13T01:25:24.838" v="501" actId="20577"/>
        <pc:sldMkLst>
          <pc:docMk/>
          <pc:sldMk cId="109392146" sldId="420"/>
        </pc:sldMkLst>
        <pc:spChg chg="mod">
          <ac:chgData name="Toti, Giulia" userId="ae793f63-b342-411f-bdc7-f371695c6665" providerId="ADAL" clId="{81AF9857-EDFF-4CAC-893E-C2E4499B1D4F}" dt="2026-07-13T01:25:24.838" v="501" actId="20577"/>
          <ac:spMkLst>
            <pc:docMk/>
            <pc:sldMk cId="109392146" sldId="420"/>
            <ac:spMk id="4" creationId="{891062A0-6391-4E19-B466-8875D69A69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0AF732CE-8945-46D9-8A11-9304867BC4C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b="0">
                <a:latin typeface="Times" pitchFamily="-48" charset="0"/>
              </a:defRPr>
            </a:lvl1pPr>
          </a:lstStyle>
          <a:p>
            <a:pPr>
              <a:defRPr/>
            </a:pPr>
            <a:endParaRPr lang="en-US"/>
          </a:p>
        </p:txBody>
      </p:sp>
      <p:sp>
        <p:nvSpPr>
          <p:cNvPr id="91139" name="Rectangle 3">
            <a:extLst>
              <a:ext uri="{FF2B5EF4-FFF2-40B4-BE49-F238E27FC236}">
                <a16:creationId xmlns:a16="http://schemas.microsoft.com/office/drawing/2014/main" id="{5BAE9BE6-5311-4A3F-BBF6-B6EB31067998}"/>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latin typeface="Times" pitchFamily="-48" charset="0"/>
              </a:defRPr>
            </a:lvl1pPr>
          </a:lstStyle>
          <a:p>
            <a:pPr>
              <a:defRPr/>
            </a:pPr>
            <a:endParaRPr lang="en-US"/>
          </a:p>
        </p:txBody>
      </p:sp>
      <p:sp>
        <p:nvSpPr>
          <p:cNvPr id="12292" name="Rectangle 4">
            <a:extLst>
              <a:ext uri="{FF2B5EF4-FFF2-40B4-BE49-F238E27FC236}">
                <a16:creationId xmlns:a16="http://schemas.microsoft.com/office/drawing/2014/main" id="{EF4B5C3E-F9C2-4FFF-AA09-48EE26B8AEA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1" name="Rectangle 5">
            <a:extLst>
              <a:ext uri="{FF2B5EF4-FFF2-40B4-BE49-F238E27FC236}">
                <a16:creationId xmlns:a16="http://schemas.microsoft.com/office/drawing/2014/main" id="{F0939F25-F830-43E1-B251-47A7A4F93985}"/>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1142" name="Rectangle 6">
            <a:extLst>
              <a:ext uri="{FF2B5EF4-FFF2-40B4-BE49-F238E27FC236}">
                <a16:creationId xmlns:a16="http://schemas.microsoft.com/office/drawing/2014/main" id="{0E4E6748-38D8-40E0-BC32-0672B464FEE7}"/>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b="0">
                <a:latin typeface="Times" pitchFamily="-48" charset="0"/>
              </a:defRPr>
            </a:lvl1pPr>
          </a:lstStyle>
          <a:p>
            <a:pPr>
              <a:defRPr/>
            </a:pPr>
            <a:endParaRPr lang="en-US"/>
          </a:p>
        </p:txBody>
      </p:sp>
      <p:sp>
        <p:nvSpPr>
          <p:cNvPr id="91143" name="Rectangle 7">
            <a:extLst>
              <a:ext uri="{FF2B5EF4-FFF2-40B4-BE49-F238E27FC236}">
                <a16:creationId xmlns:a16="http://schemas.microsoft.com/office/drawing/2014/main" id="{109097C7-582F-4742-9F1E-500779D4B27D}"/>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b="0">
                <a:latin typeface="Times" panose="02020603050405020304" pitchFamily="18" charset="0"/>
              </a:defRPr>
            </a:lvl1pPr>
          </a:lstStyle>
          <a:p>
            <a:pPr>
              <a:defRPr/>
            </a:pPr>
            <a:fld id="{6E02A8D8-4F9F-4AC0-A758-067784CF67F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Times" pitchFamily="-48" charset="0"/>
        <a:ea typeface="+mn-ea"/>
        <a:cs typeface="+mn-cs"/>
      </a:defRPr>
    </a:lvl1pPr>
    <a:lvl2pPr marL="342900" algn="l" rtl="0" eaLnBrk="0" fontAlgn="base" hangingPunct="0">
      <a:spcBef>
        <a:spcPct val="30000"/>
      </a:spcBef>
      <a:spcAft>
        <a:spcPct val="0"/>
      </a:spcAft>
      <a:defRPr sz="900" kern="1200">
        <a:solidFill>
          <a:schemeClr val="tx1"/>
        </a:solidFill>
        <a:latin typeface="Times" pitchFamily="-48" charset="0"/>
        <a:ea typeface="+mn-ea"/>
        <a:cs typeface="+mn-cs"/>
      </a:defRPr>
    </a:lvl2pPr>
    <a:lvl3pPr marL="685800" algn="l" rtl="0" eaLnBrk="0" fontAlgn="base" hangingPunct="0">
      <a:spcBef>
        <a:spcPct val="30000"/>
      </a:spcBef>
      <a:spcAft>
        <a:spcPct val="0"/>
      </a:spcAft>
      <a:defRPr sz="900" kern="1200">
        <a:solidFill>
          <a:schemeClr val="tx1"/>
        </a:solidFill>
        <a:latin typeface="Times" pitchFamily="-48" charset="0"/>
        <a:ea typeface="+mn-ea"/>
        <a:cs typeface="+mn-cs"/>
      </a:defRPr>
    </a:lvl3pPr>
    <a:lvl4pPr marL="1028700" algn="l" rtl="0" eaLnBrk="0" fontAlgn="base" hangingPunct="0">
      <a:spcBef>
        <a:spcPct val="30000"/>
      </a:spcBef>
      <a:spcAft>
        <a:spcPct val="0"/>
      </a:spcAft>
      <a:defRPr sz="900" kern="1200">
        <a:solidFill>
          <a:schemeClr val="tx1"/>
        </a:solidFill>
        <a:latin typeface="Times" pitchFamily="-48" charset="0"/>
        <a:ea typeface="+mn-ea"/>
        <a:cs typeface="+mn-cs"/>
      </a:defRPr>
    </a:lvl4pPr>
    <a:lvl5pPr marL="1371600" algn="l" rtl="0" eaLnBrk="0" fontAlgn="base" hangingPunct="0">
      <a:spcBef>
        <a:spcPct val="30000"/>
      </a:spcBef>
      <a:spcAft>
        <a:spcPct val="0"/>
      </a:spcAft>
      <a:defRPr sz="900" kern="1200">
        <a:solidFill>
          <a:schemeClr val="tx1"/>
        </a:solidFill>
        <a:latin typeface="Times" pitchFamily="-48"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78185" name="Rectangle 9"/>
          <p:cNvSpPr>
            <a:spLocks noGrp="1" noChangeArrowheads="1"/>
          </p:cNvSpPr>
          <p:nvPr>
            <p:ph type="ctrTitle" sz="quarter"/>
          </p:nvPr>
        </p:nvSpPr>
        <p:spPr>
          <a:xfrm>
            <a:off x="457200" y="133350"/>
            <a:ext cx="7924800" cy="609600"/>
          </a:xfrm>
        </p:spPr>
        <p:txBody>
          <a:bodyPr wrap="none" anchor="ctr"/>
          <a:lstStyle>
            <a:lvl1pPr algn="l">
              <a:defRPr sz="3000">
                <a:latin typeface="+mj-lt"/>
                <a:cs typeface="Calibri" pitchFamily="34" charset="0"/>
              </a:defRPr>
            </a:lvl1pPr>
          </a:lstStyle>
          <a:p>
            <a:endParaRPr lang="en-US" dirty="0"/>
          </a:p>
        </p:txBody>
      </p:sp>
    </p:spTree>
    <p:extLst>
      <p:ext uri="{BB962C8B-B14F-4D97-AF65-F5344CB8AC3E}">
        <p14:creationId xmlns:p14="http://schemas.microsoft.com/office/powerpoint/2010/main" val="286118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000"/>
            </a:lvl1pPr>
          </a:lstStyle>
          <a:p>
            <a:r>
              <a:rPr lang="en-US" dirty="0"/>
              <a:t>Click to edit Master title style</a:t>
            </a:r>
          </a:p>
        </p:txBody>
      </p:sp>
      <p:sp>
        <p:nvSpPr>
          <p:cNvPr id="3" name="Content Placeholder 2"/>
          <p:cNvSpPr>
            <a:spLocks noGrp="1"/>
          </p:cNvSpPr>
          <p:nvPr>
            <p:ph idx="1"/>
          </p:nvPr>
        </p:nvSpPr>
        <p:spPr>
          <a:xfrm>
            <a:off x="457200" y="971550"/>
            <a:ext cx="8305800" cy="4000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7861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Slide Number Placeholder 3">
            <a:extLst>
              <a:ext uri="{FF2B5EF4-FFF2-40B4-BE49-F238E27FC236}">
                <a16:creationId xmlns:a16="http://schemas.microsoft.com/office/drawing/2014/main" id="{86DAFE51-662F-413B-8050-EE165F49CE88}"/>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7BE712BE-252B-4A36-8314-13BB9F802821}" type="slidenum">
              <a:rPr lang="en-US" altLang="en-US"/>
              <a:pPr>
                <a:defRPr/>
              </a:pPr>
              <a:t>‹#›</a:t>
            </a:fld>
            <a:endParaRPr lang="en-US" altLang="en-US"/>
          </a:p>
        </p:txBody>
      </p:sp>
    </p:spTree>
    <p:extLst>
      <p:ext uri="{BB962C8B-B14F-4D97-AF65-F5344CB8AC3E}">
        <p14:creationId xmlns:p14="http://schemas.microsoft.com/office/powerpoint/2010/main" val="1646024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767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200150"/>
            <a:ext cx="40767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1BF6F164-C76B-4210-B95F-57DC1EFC2465}"/>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28AD637D-460E-4A1B-93E0-BAC2C99AC2F9}" type="slidenum">
              <a:rPr lang="en-US" altLang="en-US"/>
              <a:pPr>
                <a:defRPr/>
              </a:pPr>
              <a:t>‹#›</a:t>
            </a:fld>
            <a:endParaRPr lang="en-US" altLang="en-US"/>
          </a:p>
        </p:txBody>
      </p:sp>
    </p:spTree>
    <p:extLst>
      <p:ext uri="{BB962C8B-B14F-4D97-AF65-F5344CB8AC3E}">
        <p14:creationId xmlns:p14="http://schemas.microsoft.com/office/powerpoint/2010/main" val="236421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B7219BA-CDFF-4306-81E0-B4949BD12E9D}"/>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A790DC3D-879E-4DDB-A5DA-B28523309460}" type="slidenum">
              <a:rPr lang="en-US" altLang="en-US"/>
              <a:pPr>
                <a:defRPr/>
              </a:pPr>
              <a:t>‹#›</a:t>
            </a:fld>
            <a:endParaRPr lang="en-US" altLang="en-US"/>
          </a:p>
        </p:txBody>
      </p:sp>
    </p:spTree>
    <p:extLst>
      <p:ext uri="{BB962C8B-B14F-4D97-AF65-F5344CB8AC3E}">
        <p14:creationId xmlns:p14="http://schemas.microsoft.com/office/powerpoint/2010/main" val="813061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828E8DAD-C0B8-4A3F-A6F5-B6533461FC7D}"/>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3780C8C1-F5E9-4375-A3CD-DD02CEC2D98D}" type="slidenum">
              <a:rPr lang="en-US" altLang="en-US"/>
              <a:pPr>
                <a:defRPr/>
              </a:pPr>
              <a:t>‹#›</a:t>
            </a:fld>
            <a:endParaRPr lang="en-US" altLang="en-US"/>
          </a:p>
        </p:txBody>
      </p:sp>
    </p:spTree>
    <p:extLst>
      <p:ext uri="{BB962C8B-B14F-4D97-AF65-F5344CB8AC3E}">
        <p14:creationId xmlns:p14="http://schemas.microsoft.com/office/powerpoint/2010/main" val="3094054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67AD3D-65E9-49DB-A56F-89666118413C}"/>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E5508378-E81F-499B-9449-6B789BAD49A6}" type="slidenum">
              <a:rPr lang="en-US" altLang="en-US"/>
              <a:pPr>
                <a:defRPr/>
              </a:pPr>
              <a:t>‹#›</a:t>
            </a:fld>
            <a:endParaRPr lang="en-US" altLang="en-US"/>
          </a:p>
        </p:txBody>
      </p:sp>
    </p:spTree>
    <p:extLst>
      <p:ext uri="{BB962C8B-B14F-4D97-AF65-F5344CB8AC3E}">
        <p14:creationId xmlns:p14="http://schemas.microsoft.com/office/powerpoint/2010/main" val="3435252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Slide Number Placeholder 4">
            <a:extLst>
              <a:ext uri="{FF2B5EF4-FFF2-40B4-BE49-F238E27FC236}">
                <a16:creationId xmlns:a16="http://schemas.microsoft.com/office/drawing/2014/main" id="{8531F27D-41B3-4137-B7C0-B269561D1FAB}"/>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445AABFC-277D-40FB-8B7F-EBC5ABAEF6D9}" type="slidenum">
              <a:rPr lang="en-US" altLang="en-US"/>
              <a:pPr>
                <a:defRPr/>
              </a:pPr>
              <a:t>‹#›</a:t>
            </a:fld>
            <a:endParaRPr lang="en-US" altLang="en-US"/>
          </a:p>
        </p:txBody>
      </p:sp>
    </p:spTree>
    <p:extLst>
      <p:ext uri="{BB962C8B-B14F-4D97-AF65-F5344CB8AC3E}">
        <p14:creationId xmlns:p14="http://schemas.microsoft.com/office/powerpoint/2010/main" val="14017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Slide Number Placeholder 4">
            <a:extLst>
              <a:ext uri="{FF2B5EF4-FFF2-40B4-BE49-F238E27FC236}">
                <a16:creationId xmlns:a16="http://schemas.microsoft.com/office/drawing/2014/main" id="{71F83BD8-84A5-407F-903C-21273C087B38}"/>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B56EF2DB-C4B2-4BBB-8F24-7A2F36932C3B}" type="slidenum">
              <a:rPr lang="en-US" altLang="en-US"/>
              <a:pPr>
                <a:defRPr/>
              </a:pPr>
              <a:t>‹#›</a:t>
            </a:fld>
            <a:endParaRPr lang="en-US" altLang="en-US"/>
          </a:p>
        </p:txBody>
      </p:sp>
    </p:spTree>
    <p:extLst>
      <p:ext uri="{BB962C8B-B14F-4D97-AF65-F5344CB8AC3E}">
        <p14:creationId xmlns:p14="http://schemas.microsoft.com/office/powerpoint/2010/main" val="3884405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990CC62A-2AFF-4846-917E-A3D4427A7776}"/>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AB7D533E-71B8-4EE4-8C2D-A544052DE5B5}" type="slidenum">
              <a:rPr lang="en-US" altLang="en-US"/>
              <a:pPr>
                <a:defRPr/>
              </a:pPr>
              <a:t>‹#›</a:t>
            </a:fld>
            <a:endParaRPr lang="en-US" altLang="en-US"/>
          </a:p>
        </p:txBody>
      </p:sp>
    </p:spTree>
    <p:extLst>
      <p:ext uri="{BB962C8B-B14F-4D97-AF65-F5344CB8AC3E}">
        <p14:creationId xmlns:p14="http://schemas.microsoft.com/office/powerpoint/2010/main" val="2007377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076450" cy="4229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7150"/>
            <a:ext cx="6076950" cy="4229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916A9F7D-2384-4DBA-9030-72E8C4BCA337}"/>
              </a:ext>
            </a:extLst>
          </p:cNvPr>
          <p:cNvSpPr>
            <a:spLocks noGrp="1" noChangeArrowheads="1"/>
          </p:cNvSpPr>
          <p:nvPr>
            <p:ph type="sldNum" sz="quarter" idx="10"/>
          </p:nvPr>
        </p:nvSpPr>
        <p:spPr>
          <a:xfrm>
            <a:off x="7162800" y="4798219"/>
            <a:ext cx="1905000" cy="342900"/>
          </a:xfrm>
          <a:prstGeom prst="rect">
            <a:avLst/>
          </a:prstGeom>
        </p:spPr>
        <p:txBody>
          <a:bodyPr vert="horz" wrap="square" lIns="91440" tIns="45720" rIns="91440" bIns="45720" numCol="1" anchor="t" anchorCtr="0" compatLnSpc="1">
            <a:prstTxWarp prst="textNoShape">
              <a:avLst/>
            </a:prstTxWarp>
          </a:bodyPr>
          <a:lstStyle>
            <a:lvl1pPr algn="ctr" eaLnBrk="1" hangingPunct="1">
              <a:defRPr/>
            </a:lvl1pPr>
          </a:lstStyle>
          <a:p>
            <a:pPr>
              <a:defRPr/>
            </a:pPr>
            <a:r>
              <a:rPr lang="en-US" altLang="en-US"/>
              <a:t>1-</a:t>
            </a:r>
            <a:fld id="{C25C629F-D08A-4CE6-AE38-89AC38307FE9}" type="slidenum">
              <a:rPr lang="en-US" altLang="en-US"/>
              <a:pPr>
                <a:defRPr/>
              </a:pPr>
              <a:t>‹#›</a:t>
            </a:fld>
            <a:endParaRPr lang="en-US" altLang="en-US"/>
          </a:p>
        </p:txBody>
      </p:sp>
    </p:spTree>
    <p:extLst>
      <p:ext uri="{BB962C8B-B14F-4D97-AF65-F5344CB8AC3E}">
        <p14:creationId xmlns:p14="http://schemas.microsoft.com/office/powerpoint/2010/main" val="463164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327CD-BEC3-4B77-A4FC-1291A0E9BA35}"/>
              </a:ext>
            </a:extLst>
          </p:cNvPr>
          <p:cNvSpPr>
            <a:spLocks noGrp="1"/>
          </p:cNvSpPr>
          <p:nvPr>
            <p:ph type="ctrTitle"/>
          </p:nvPr>
        </p:nvSpPr>
        <p:spPr>
          <a:xfrm>
            <a:off x="1143000" y="841375"/>
            <a:ext cx="6858000" cy="1790700"/>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E0B922CE-0E51-4C0B-BD7F-4661EF9D5B3C}"/>
              </a:ext>
            </a:extLst>
          </p:cNvPr>
          <p:cNvSpPr>
            <a:spLocks noGrp="1"/>
          </p:cNvSpPr>
          <p:nvPr>
            <p:ph type="subTitle" idx="1"/>
          </p:nvPr>
        </p:nvSpPr>
        <p:spPr>
          <a:xfrm>
            <a:off x="1143000" y="2701926"/>
            <a:ext cx="6858000" cy="1241425"/>
          </a:xfrm>
        </p:spPr>
        <p:txBody>
          <a:bodyPr/>
          <a:lstStyle>
            <a:lvl1pPr marL="0" indent="0" algn="ctr">
              <a:buNone/>
              <a:defRPr sz="2400"/>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Tree>
    <p:extLst>
      <p:ext uri="{BB962C8B-B14F-4D97-AF65-F5344CB8AC3E}">
        <p14:creationId xmlns:p14="http://schemas.microsoft.com/office/powerpoint/2010/main" val="744451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B1C14AAB-7F7D-4892-85A3-6275F0F0B38F}"/>
              </a:ext>
            </a:extLst>
          </p:cNvPr>
          <p:cNvSpPr>
            <a:spLocks noGrp="1" noChangeArrowheads="1"/>
          </p:cNvSpPr>
          <p:nvPr>
            <p:ph type="title"/>
          </p:nvPr>
        </p:nvSpPr>
        <p:spPr bwMode="auto">
          <a:xfrm>
            <a:off x="457200" y="13335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8" name="Rectangle 4">
            <a:extLst>
              <a:ext uri="{FF2B5EF4-FFF2-40B4-BE49-F238E27FC236}">
                <a16:creationId xmlns:a16="http://schemas.microsoft.com/office/drawing/2014/main" id="{A9C1E6EE-E402-4A4F-8DC6-74F4E674EEF1}"/>
              </a:ext>
            </a:extLst>
          </p:cNvPr>
          <p:cNvSpPr>
            <a:spLocks noGrp="1" noChangeArrowheads="1"/>
          </p:cNvSpPr>
          <p:nvPr>
            <p:ph type="body" idx="1"/>
          </p:nvPr>
        </p:nvSpPr>
        <p:spPr bwMode="auto">
          <a:xfrm>
            <a:off x="457200" y="971550"/>
            <a:ext cx="83058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Tree>
  </p:cSld>
  <p:clrMap bg1="lt1" tx1="dk1" bg2="lt2" tx2="dk2" accent1="accent1" accent2="accent2" accent3="accent3" accent4="accent4" accent5="accent5" accent6="accent6" hlink="hlink" folHlink="folHlink"/>
  <p:sldLayoutIdLst>
    <p:sldLayoutId id="2147484257" r:id="rId1"/>
    <p:sldLayoutId id="2147484256" r:id="rId2"/>
    <p:sldLayoutId id="2147484258" r:id="rId3"/>
    <p:sldLayoutId id="2147484259" r:id="rId4"/>
    <p:sldLayoutId id="2147484260" r:id="rId5"/>
    <p:sldLayoutId id="2147484261" r:id="rId6"/>
    <p:sldLayoutId id="2147484262" r:id="rId7"/>
    <p:sldLayoutId id="2147484263" r:id="rId8"/>
    <p:sldLayoutId id="2147484264" r:id="rId9"/>
    <p:sldLayoutId id="2147484265" r:id="rId10"/>
    <p:sldLayoutId id="2147484266" r:id="rId11"/>
    <p:sldLayoutId id="2147484267" r:id="rId12"/>
  </p:sldLayoutIdLst>
  <p:hf sldNum="0" hdr="0" ftr="0" dt="0"/>
  <p:txStyles>
    <p:titleStyle>
      <a:lvl1pPr algn="l" rtl="0" eaLnBrk="0" fontAlgn="base" hangingPunct="0">
        <a:spcBef>
          <a:spcPct val="0"/>
        </a:spcBef>
        <a:spcAft>
          <a:spcPct val="0"/>
        </a:spcAft>
        <a:defRPr sz="3000" b="1">
          <a:solidFill>
            <a:srgbClr val="002040"/>
          </a:solidFill>
          <a:latin typeface="+mj-lt"/>
          <a:ea typeface="+mj-ea"/>
          <a:cs typeface="Calibri" pitchFamily="34" charset="0"/>
        </a:defRPr>
      </a:lvl1pPr>
      <a:lvl2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2pPr>
      <a:lvl3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3pPr>
      <a:lvl4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4pPr>
      <a:lvl5pPr algn="l" rtl="0" eaLnBrk="0" fontAlgn="base" hangingPunct="0">
        <a:spcBef>
          <a:spcPct val="0"/>
        </a:spcBef>
        <a:spcAft>
          <a:spcPct val="0"/>
        </a:spcAft>
        <a:defRPr sz="2700" b="1">
          <a:solidFill>
            <a:schemeClr val="tx1"/>
          </a:solidFill>
          <a:latin typeface="Calibri" pitchFamily="34" charset="0"/>
          <a:ea typeface="ヒラギノ角ゴ Pro W3" pitchFamily="-48" charset="-128"/>
          <a:cs typeface="Calibri" pitchFamily="34" charset="0"/>
        </a:defRPr>
      </a:lvl5pPr>
      <a:lvl6pPr marL="342900" algn="l" rtl="0" fontAlgn="base">
        <a:spcBef>
          <a:spcPct val="0"/>
        </a:spcBef>
        <a:spcAft>
          <a:spcPct val="0"/>
        </a:spcAft>
        <a:defRPr sz="2700" b="1">
          <a:solidFill>
            <a:schemeClr val="tx1"/>
          </a:solidFill>
          <a:latin typeface="Arial" charset="0"/>
          <a:ea typeface="ヒラギノ角ゴ Pro W3" pitchFamily="-48" charset="-128"/>
        </a:defRPr>
      </a:lvl6pPr>
      <a:lvl7pPr marL="685800" algn="l" rtl="0" fontAlgn="base">
        <a:spcBef>
          <a:spcPct val="0"/>
        </a:spcBef>
        <a:spcAft>
          <a:spcPct val="0"/>
        </a:spcAft>
        <a:defRPr sz="2700" b="1">
          <a:solidFill>
            <a:schemeClr val="tx1"/>
          </a:solidFill>
          <a:latin typeface="Arial" charset="0"/>
          <a:ea typeface="ヒラギノ角ゴ Pro W3" pitchFamily="-48" charset="-128"/>
        </a:defRPr>
      </a:lvl7pPr>
      <a:lvl8pPr marL="1028700" algn="l" rtl="0" fontAlgn="base">
        <a:spcBef>
          <a:spcPct val="0"/>
        </a:spcBef>
        <a:spcAft>
          <a:spcPct val="0"/>
        </a:spcAft>
        <a:defRPr sz="2700" b="1">
          <a:solidFill>
            <a:schemeClr val="tx1"/>
          </a:solidFill>
          <a:latin typeface="Arial" charset="0"/>
          <a:ea typeface="ヒラギノ角ゴ Pro W3" pitchFamily="-48" charset="-128"/>
        </a:defRPr>
      </a:lvl8pPr>
      <a:lvl9pPr marL="1371600" algn="l" rtl="0" fontAlgn="base">
        <a:spcBef>
          <a:spcPct val="0"/>
        </a:spcBef>
        <a:spcAft>
          <a:spcPct val="0"/>
        </a:spcAft>
        <a:defRPr sz="2700" b="1">
          <a:solidFill>
            <a:schemeClr val="tx1"/>
          </a:solidFill>
          <a:latin typeface="Arial" charset="0"/>
          <a:ea typeface="ヒラギノ角ゴ Pro W3" pitchFamily="-48" charset="-128"/>
        </a:defRPr>
      </a:lvl9pPr>
    </p:titleStyle>
    <p:bodyStyle>
      <a:lvl1pPr marL="228600" indent="-228600" algn="l" rtl="0" eaLnBrk="0" fontAlgn="base" hangingPunct="0">
        <a:spcBef>
          <a:spcPts val="1200"/>
        </a:spcBef>
        <a:spcAft>
          <a:spcPct val="0"/>
        </a:spcAft>
        <a:buClr>
          <a:srgbClr val="002040"/>
        </a:buClr>
        <a:buFont typeface="Times" panose="02020603050405020304" pitchFamily="18" charset="0"/>
        <a:buChar char="•"/>
        <a:defRPr sz="2200">
          <a:solidFill>
            <a:srgbClr val="002040"/>
          </a:solidFill>
          <a:latin typeface="+mn-lt"/>
          <a:ea typeface="+mn-ea"/>
          <a:cs typeface="Calibri" pitchFamily="34" charset="0"/>
        </a:defRPr>
      </a:lvl1pPr>
      <a:lvl2pPr marL="514350" indent="-214313" algn="l" rtl="0" eaLnBrk="0" fontAlgn="base" hangingPunct="0">
        <a:spcBef>
          <a:spcPts val="300"/>
        </a:spcBef>
        <a:spcAft>
          <a:spcPct val="0"/>
        </a:spcAft>
        <a:buClr>
          <a:schemeClr val="bg2"/>
        </a:buClr>
        <a:buChar char="–"/>
        <a:defRPr sz="1700">
          <a:solidFill>
            <a:srgbClr val="002040">
              <a:alpha val="70000"/>
            </a:srgbClr>
          </a:solidFill>
          <a:latin typeface="HelveticaNeueLT Com 45 Lt" panose="020B0403020202020204" pitchFamily="34" charset="0"/>
          <a:ea typeface="+mn-ea"/>
          <a:cs typeface="Calibri" pitchFamily="34" charset="0"/>
        </a:defRPr>
      </a:lvl2pPr>
      <a:lvl3pPr marL="744538" indent="-171450" algn="l" rtl="0" eaLnBrk="0" fontAlgn="base" hangingPunct="0">
        <a:spcBef>
          <a:spcPts val="200"/>
        </a:spcBef>
        <a:spcAft>
          <a:spcPct val="0"/>
        </a:spcAft>
        <a:buClr>
          <a:schemeClr val="bg2"/>
        </a:buClr>
        <a:buFont typeface="Wingdings" panose="05000000000000000000" pitchFamily="2" charset="2"/>
        <a:buChar char="§"/>
        <a:defRPr sz="1200">
          <a:solidFill>
            <a:srgbClr val="002040">
              <a:alpha val="55000"/>
            </a:srgbClr>
          </a:solidFill>
          <a:latin typeface="HelveticaNeueLT Com 35 Th" panose="020B0403020202020204" pitchFamily="34" charset="0"/>
          <a:ea typeface="+mn-ea"/>
          <a:cs typeface="Calibri" pitchFamily="34" charset="0"/>
        </a:defRPr>
      </a:lvl3pPr>
      <a:lvl4pPr marL="969963" indent="-171450" algn="l" rtl="0" eaLnBrk="0" fontAlgn="base" hangingPunct="0">
        <a:spcBef>
          <a:spcPts val="200"/>
        </a:spcBef>
        <a:spcAft>
          <a:spcPct val="0"/>
        </a:spcAft>
        <a:buClr>
          <a:schemeClr val="bg2"/>
        </a:buClr>
        <a:buChar char="–"/>
        <a:defRPr sz="1050">
          <a:solidFill>
            <a:srgbClr val="002040">
              <a:alpha val="30000"/>
            </a:srgbClr>
          </a:solidFill>
          <a:latin typeface="HelveticaNeueLT Com 35 Th" panose="020B0403020202020204" pitchFamily="34" charset="0"/>
          <a:ea typeface="+mn-ea"/>
          <a:cs typeface="Calibri" pitchFamily="34" charset="0"/>
        </a:defRPr>
      </a:lvl4pPr>
      <a:lvl5pPr marL="1200150" indent="-171450" algn="l" rtl="0" eaLnBrk="0" fontAlgn="base" hangingPunct="0">
        <a:spcBef>
          <a:spcPts val="200"/>
        </a:spcBef>
        <a:spcAft>
          <a:spcPct val="0"/>
        </a:spcAft>
        <a:buClr>
          <a:schemeClr val="bg2"/>
        </a:buClr>
        <a:buChar char="»"/>
        <a:defRPr sz="900">
          <a:solidFill>
            <a:srgbClr val="002040">
              <a:alpha val="30000"/>
            </a:srgbClr>
          </a:solidFill>
          <a:latin typeface="HelveticaNeueLT Com 35 Th" panose="020B0403020202020204" pitchFamily="34" charset="0"/>
          <a:ea typeface="+mn-ea"/>
          <a:cs typeface="Calibri" pitchFamily="34" charset="0"/>
        </a:defRPr>
      </a:lvl5pPr>
      <a:lvl6pPr marL="1885950" indent="-171450" algn="l" rtl="0" fontAlgn="base">
        <a:spcBef>
          <a:spcPct val="20000"/>
        </a:spcBef>
        <a:spcAft>
          <a:spcPct val="0"/>
        </a:spcAft>
        <a:buClr>
          <a:schemeClr val="bg2"/>
        </a:buClr>
        <a:buChar char="»"/>
        <a:defRPr sz="1500">
          <a:solidFill>
            <a:schemeClr val="tx1"/>
          </a:solidFill>
          <a:latin typeface="+mn-lt"/>
          <a:ea typeface="+mn-ea"/>
        </a:defRPr>
      </a:lvl6pPr>
      <a:lvl7pPr marL="2228850" indent="-171450" algn="l" rtl="0" fontAlgn="base">
        <a:spcBef>
          <a:spcPct val="20000"/>
        </a:spcBef>
        <a:spcAft>
          <a:spcPct val="0"/>
        </a:spcAft>
        <a:buClr>
          <a:schemeClr val="bg2"/>
        </a:buClr>
        <a:buChar char="»"/>
        <a:defRPr sz="1500">
          <a:solidFill>
            <a:schemeClr val="tx1"/>
          </a:solidFill>
          <a:latin typeface="+mn-lt"/>
          <a:ea typeface="+mn-ea"/>
        </a:defRPr>
      </a:lvl7pPr>
      <a:lvl8pPr marL="2571750" indent="-171450" algn="l" rtl="0" fontAlgn="base">
        <a:spcBef>
          <a:spcPct val="20000"/>
        </a:spcBef>
        <a:spcAft>
          <a:spcPct val="0"/>
        </a:spcAft>
        <a:buClr>
          <a:schemeClr val="bg2"/>
        </a:buClr>
        <a:buChar char="»"/>
        <a:defRPr sz="1500">
          <a:solidFill>
            <a:schemeClr val="tx1"/>
          </a:solidFill>
          <a:latin typeface="+mn-lt"/>
          <a:ea typeface="+mn-ea"/>
        </a:defRPr>
      </a:lvl8pPr>
      <a:lvl9pPr marL="2914650" indent="-171450" algn="l" rtl="0" fontAlgn="base">
        <a:spcBef>
          <a:spcPct val="20000"/>
        </a:spcBef>
        <a:spcAft>
          <a:spcPct val="0"/>
        </a:spcAft>
        <a:buClr>
          <a:schemeClr val="bg2"/>
        </a:buClr>
        <a:buChar char="»"/>
        <a:defRPr sz="1500">
          <a:solidFill>
            <a:schemeClr val="tx1"/>
          </a:solidFill>
          <a:latin typeface="+mn-lt"/>
          <a:ea typeface="+mn-ea"/>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southernnetwork.org/site/seven-teachings"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theguardian.com/uk-news/2017/mar/14/public-faces-mass-invasion-of-privacy-as-big-data-and-surveillance-merge"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CD041-6123-41EC-8961-0E182C690F32}"/>
              </a:ext>
            </a:extLst>
          </p:cNvPr>
          <p:cNvSpPr>
            <a:spLocks noGrp="1"/>
          </p:cNvSpPr>
          <p:nvPr>
            <p:ph type="ctrTitle"/>
          </p:nvPr>
        </p:nvSpPr>
        <p:spPr>
          <a:xfrm>
            <a:off x="1143000" y="864695"/>
            <a:ext cx="6858000" cy="1790700"/>
          </a:xfrm>
        </p:spPr>
        <p:txBody>
          <a:bodyPr anchor="ctr">
            <a:normAutofit fontScale="90000"/>
          </a:bodyPr>
          <a:lstStyle/>
          <a:p>
            <a:pPr>
              <a:spcBef>
                <a:spcPts val="0"/>
              </a:spcBef>
              <a:spcAft>
                <a:spcPts val="2000"/>
              </a:spcAft>
            </a:pPr>
            <a:r>
              <a:rPr lang="en-CA" dirty="0"/>
              <a:t>More workable ethical frameworks</a:t>
            </a:r>
            <a:br>
              <a:rPr lang="en-CA" dirty="0"/>
            </a:br>
            <a:br>
              <a:rPr lang="en-CA" sz="1200" dirty="0"/>
            </a:br>
            <a:r>
              <a:rPr lang="en-CA" sz="2800" dirty="0">
                <a:latin typeface="HelveticaNeueLT Com 45 Lt" panose="020B0403020202020204" pitchFamily="34" charset="0"/>
              </a:rPr>
              <a:t>Lecture 2-2</a:t>
            </a:r>
            <a:endParaRPr lang="en-US" dirty="0"/>
          </a:p>
        </p:txBody>
      </p:sp>
      <p:sp>
        <p:nvSpPr>
          <p:cNvPr id="6" name="Subtitle 2">
            <a:extLst>
              <a:ext uri="{FF2B5EF4-FFF2-40B4-BE49-F238E27FC236}">
                <a16:creationId xmlns:a16="http://schemas.microsoft.com/office/drawing/2014/main" id="{6931CC9E-D373-7534-9D61-1ADE9B6BB5E7}"/>
              </a:ext>
            </a:extLst>
          </p:cNvPr>
          <p:cNvSpPr>
            <a:spLocks noGrp="1"/>
          </p:cNvSpPr>
          <p:nvPr/>
        </p:nvSpPr>
        <p:spPr>
          <a:xfrm>
            <a:off x="1143000" y="3346764"/>
            <a:ext cx="6858000" cy="1620570"/>
          </a:xfrm>
          <a:prstGeom prst="rect">
            <a:avLst/>
          </a:prstGeom>
        </p:spPr>
        <p:txBody>
          <a:bodyPr>
            <a:normAutofit/>
          </a:bodyPr>
          <a:lstStyle>
            <a:lvl1pPr marL="0" indent="0" algn="ctr" defTabSz="914400" rtl="0" eaLnBrk="1" latinLnBrk="0" hangingPunct="1">
              <a:lnSpc>
                <a:spcPct val="90000"/>
              </a:lnSpc>
              <a:spcBef>
                <a:spcPts val="1000"/>
              </a:spcBef>
              <a:buClr>
                <a:srgbClr val="002040"/>
              </a:buClr>
              <a:buFont typeface="Arial" panose="020B0604020202020204" pitchFamily="34" charset="0"/>
              <a:buNone/>
              <a:defRPr lang="en-US" sz="2400" kern="1200">
                <a:solidFill>
                  <a:srgbClr val="002040"/>
                </a:solidFill>
                <a:latin typeface="HelveticaNeueLT Com 55 Roman" panose="020B0604020202020204" pitchFamily="34" charset="0"/>
                <a:ea typeface="ＭＳ Ｐゴシック" charset="-128"/>
                <a:cs typeface="+mn-cs"/>
              </a:defRPr>
            </a:lvl1pPr>
            <a:lvl2pPr marL="457200" indent="0" algn="ctr" defTabSz="914400" rtl="0" eaLnBrk="1" latinLnBrk="0" hangingPunct="1">
              <a:lnSpc>
                <a:spcPct val="90000"/>
              </a:lnSpc>
              <a:spcBef>
                <a:spcPts val="500"/>
              </a:spcBef>
              <a:buClr>
                <a:srgbClr val="002040"/>
              </a:buClr>
              <a:buFont typeface="Arial" panose="020B0604020202020204" pitchFamily="34" charset="0"/>
              <a:buNone/>
              <a:defRPr lang="en-US" sz="2000" kern="1200">
                <a:solidFill>
                  <a:srgbClr val="002040">
                    <a:alpha val="70000"/>
                  </a:srgbClr>
                </a:solidFill>
                <a:latin typeface="HelveticaNeueLT Com 45 Lt" panose="020B0403020202020204" pitchFamily="34" charset="0"/>
                <a:ea typeface="ＭＳ Ｐゴシック" charset="-128"/>
                <a:cs typeface="+mn-cs"/>
              </a:defRPr>
            </a:lvl2pPr>
            <a:lvl3pPr marL="914400" indent="0" algn="ctr" defTabSz="914400" rtl="0" eaLnBrk="1" latinLnBrk="0" hangingPunct="1">
              <a:lnSpc>
                <a:spcPct val="90000"/>
              </a:lnSpc>
              <a:spcBef>
                <a:spcPts val="500"/>
              </a:spcBef>
              <a:buFont typeface="Arial" panose="020B0604020202020204" pitchFamily="34" charset="0"/>
              <a:buNone/>
              <a:defRPr lang="en-US" sz="1800" kern="1200">
                <a:solidFill>
                  <a:srgbClr val="002040">
                    <a:alpha val="55000"/>
                  </a:srgbClr>
                </a:solidFill>
                <a:latin typeface="HelveticaNeueLT Com 35 Th" panose="020B0403020202020204" pitchFamily="34" charset="0"/>
                <a:ea typeface="ＭＳ Ｐゴシック" charset="-128"/>
                <a:cs typeface="+mn-cs"/>
              </a:defRPr>
            </a:lvl3pPr>
            <a:lvl4pPr marL="1371600" indent="0" algn="ctr" defTabSz="914400" rtl="0" eaLnBrk="1" latinLnBrk="0" hangingPunct="1">
              <a:lnSpc>
                <a:spcPct val="90000"/>
              </a:lnSpc>
              <a:spcBef>
                <a:spcPts val="500"/>
              </a:spcBef>
              <a:buFont typeface="Arial" panose="020B0604020202020204" pitchFamily="34" charset="0"/>
              <a:buNone/>
              <a:defRPr lang="en-US" sz="1600" kern="1200">
                <a:solidFill>
                  <a:srgbClr val="002040">
                    <a:alpha val="30000"/>
                  </a:srgbClr>
                </a:solidFill>
                <a:latin typeface="HelveticaNeueLT Com 35 Th" panose="020B0403020202020204" pitchFamily="34" charset="0"/>
                <a:ea typeface="ＭＳ Ｐゴシック" charset="-128"/>
                <a:cs typeface="+mn-cs"/>
              </a:defRPr>
            </a:lvl4pPr>
            <a:lvl5pPr marL="1828800" indent="0" algn="ctr" defTabSz="914400" rtl="0" eaLnBrk="1" latinLnBrk="0" hangingPunct="1">
              <a:lnSpc>
                <a:spcPct val="90000"/>
              </a:lnSpc>
              <a:spcBef>
                <a:spcPts val="500"/>
              </a:spcBef>
              <a:buFont typeface="Arial" panose="020B0604020202020204" pitchFamily="34" charset="0"/>
              <a:buNone/>
              <a:defRPr lang="en-US" sz="1600" kern="1200">
                <a:solidFill>
                  <a:srgbClr val="002040">
                    <a:alpha val="30000"/>
                  </a:srgbClr>
                </a:solidFill>
                <a:latin typeface="HelveticaNeueLT Com 35 Th" panose="020B0403020202020204" pitchFamily="34" charset="0"/>
                <a:ea typeface="ＭＳ Ｐゴシック" charset="-128"/>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0" defTabSz="914400" eaLnBrk="1" fontAlgn="auto" hangingPunct="1">
              <a:spcAft>
                <a:spcPts val="0"/>
              </a:spcAft>
            </a:pPr>
            <a:r>
              <a:rPr lang="en-CA" sz="2400" dirty="0">
                <a:solidFill>
                  <a:prstClr val="black">
                    <a:tint val="75000"/>
                  </a:prstClr>
                </a:solidFill>
                <a:latin typeface="HelveticaNeueLT Com 55 Roman" panose="020B0604020202020204" pitchFamily="34" charset="0"/>
                <a:ea typeface="+mn-ea"/>
                <a:cs typeface="+mn-cs"/>
              </a:rPr>
              <a:t>Computers &amp; </a:t>
            </a:r>
            <a:r>
              <a:rPr lang="en-CA" sz="2400" dirty="0">
                <a:solidFill>
                  <a:prstClr val="white">
                    <a:lumMod val="50000"/>
                  </a:prstClr>
                </a:solidFill>
                <a:latin typeface="HelveticaNeueLT Com 55 Roman" panose="020B0604020202020204" pitchFamily="34" charset="0"/>
                <a:ea typeface="+mn-ea"/>
                <a:cs typeface="+mn-cs"/>
              </a:rPr>
              <a:t>Society</a:t>
            </a:r>
            <a:r>
              <a:rPr lang="en-CA" sz="2400" dirty="0">
                <a:solidFill>
                  <a:prstClr val="black">
                    <a:tint val="75000"/>
                  </a:prstClr>
                </a:solidFill>
                <a:latin typeface="HelveticaNeueLT Com 55 Roman" panose="020B0604020202020204" pitchFamily="34" charset="0"/>
                <a:ea typeface="+mn-ea"/>
                <a:cs typeface="+mn-cs"/>
              </a:rPr>
              <a:t> </a:t>
            </a:r>
            <a:r>
              <a:rPr lang="en-CA" sz="1800" dirty="0">
                <a:solidFill>
                  <a:prstClr val="black">
                    <a:tint val="75000"/>
                  </a:prstClr>
                </a:solidFill>
                <a:latin typeface="HelveticaNeueLT Com 55 Roman" panose="020B0604020202020204" pitchFamily="34" charset="0"/>
                <a:ea typeface="+mn-ea"/>
                <a:cs typeface="+mn-cs"/>
              </a:rPr>
              <a:t>(CPSC 430)</a:t>
            </a:r>
            <a:endParaRPr lang="en-CA" sz="2400" dirty="0">
              <a:solidFill>
                <a:prstClr val="black">
                  <a:tint val="75000"/>
                </a:prstClr>
              </a:solidFill>
              <a:latin typeface="HelveticaNeueLT Com 55 Roman" panose="020B0604020202020204" pitchFamily="34" charset="0"/>
              <a:ea typeface="+mn-ea"/>
              <a:cs typeface="+mn-cs"/>
            </a:endParaRPr>
          </a:p>
          <a:p>
            <a:pPr lvl="0" defTabSz="914400" eaLnBrk="1" fontAlgn="auto" hangingPunct="1">
              <a:spcAft>
                <a:spcPts val="0"/>
              </a:spcAft>
            </a:pPr>
            <a:r>
              <a:rPr lang="en-CA" sz="2000" dirty="0">
                <a:solidFill>
                  <a:prstClr val="black">
                    <a:tint val="75000"/>
                  </a:prstClr>
                </a:solidFill>
                <a:latin typeface="HelveticaNeueLT Com 35 Th" panose="020B0403020202020204" pitchFamily="34" charset="0"/>
                <a:ea typeface="+mn-ea"/>
                <a:cs typeface="+mn-cs"/>
              </a:rPr>
              <a:t>Giulia Toti</a:t>
            </a:r>
          </a:p>
          <a:p>
            <a:pPr lvl="0" defTabSz="914400" eaLnBrk="1" fontAlgn="auto" hangingPunct="1">
              <a:spcAft>
                <a:spcPts val="0"/>
              </a:spcAft>
            </a:pPr>
            <a:endParaRPr lang="en-CA" sz="2000" dirty="0">
              <a:solidFill>
                <a:prstClr val="black">
                  <a:tint val="75000"/>
                </a:prstClr>
              </a:solidFill>
              <a:latin typeface="HelveticaNeueLT Com 45 Lt" panose="020B0403020202020204" pitchFamily="34" charset="0"/>
              <a:ea typeface="+mn-ea"/>
              <a:cs typeface="+mn-cs"/>
            </a:endParaRPr>
          </a:p>
        </p:txBody>
      </p:sp>
    </p:spTree>
    <p:extLst>
      <p:ext uri="{BB962C8B-B14F-4D97-AF65-F5344CB8AC3E}">
        <p14:creationId xmlns:p14="http://schemas.microsoft.com/office/powerpoint/2010/main" val="399683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24F06DE6-ECB4-468A-B9B8-6B9581A485AA}"/>
              </a:ext>
            </a:extLst>
          </p:cNvPr>
          <p:cNvSpPr>
            <a:spLocks noGrp="1" noChangeArrowheads="1"/>
          </p:cNvSpPr>
          <p:nvPr>
            <p:ph type="title"/>
          </p:nvPr>
        </p:nvSpPr>
        <p:spPr/>
        <p:txBody>
          <a:bodyPr/>
          <a:lstStyle/>
          <a:p>
            <a:r>
              <a:rPr lang="en-CA" altLang="en-US"/>
              <a:t>Recap: Unworkable Ethical Theories</a:t>
            </a:r>
            <a:endParaRPr lang="en-US" altLang="en-US"/>
          </a:p>
        </p:txBody>
      </p:sp>
      <p:sp>
        <p:nvSpPr>
          <p:cNvPr id="14339" name="Content Placeholder 2">
            <a:extLst>
              <a:ext uri="{FF2B5EF4-FFF2-40B4-BE49-F238E27FC236}">
                <a16:creationId xmlns:a16="http://schemas.microsoft.com/office/drawing/2014/main" id="{E2350E8E-3955-4316-836C-945F5DAC1577}"/>
              </a:ext>
            </a:extLst>
          </p:cNvPr>
          <p:cNvSpPr>
            <a:spLocks noGrp="1" noChangeArrowheads="1"/>
          </p:cNvSpPr>
          <p:nvPr>
            <p:ph idx="1"/>
          </p:nvPr>
        </p:nvSpPr>
        <p:spPr/>
        <p:txBody>
          <a:bodyPr/>
          <a:lstStyle/>
          <a:p>
            <a:r>
              <a:rPr lang="en-CA" altLang="en-US" dirty="0"/>
              <a:t>What is an ethical theory?</a:t>
            </a:r>
          </a:p>
          <a:p>
            <a:r>
              <a:rPr lang="en-CA" altLang="en-US" dirty="0"/>
              <a:t>What do we mean by a workable theory?</a:t>
            </a:r>
          </a:p>
          <a:p>
            <a:r>
              <a:rPr lang="en-CA" altLang="en-US" dirty="0"/>
              <a:t>What does each unworkable theory consist of?</a:t>
            </a:r>
          </a:p>
          <a:p>
            <a:pPr lvl="1"/>
            <a:r>
              <a:rPr lang="en-CA" altLang="en-US" dirty="0"/>
              <a:t>subjective relativism</a:t>
            </a:r>
          </a:p>
          <a:p>
            <a:pPr lvl="1"/>
            <a:r>
              <a:rPr lang="en-CA" altLang="en-US" dirty="0"/>
              <a:t>cultural relativism</a:t>
            </a:r>
          </a:p>
          <a:p>
            <a:pPr lvl="1"/>
            <a:r>
              <a:rPr lang="en-CA" altLang="en-US" dirty="0"/>
              <a:t>divine command</a:t>
            </a:r>
          </a:p>
          <a:p>
            <a:pPr lvl="1"/>
            <a:r>
              <a:rPr lang="en-CA" altLang="en-US" dirty="0"/>
              <a:t>ethical egoism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9ADCF-4292-4747-B773-E12A54ADCBBD}"/>
              </a:ext>
            </a:extLst>
          </p:cNvPr>
          <p:cNvSpPr>
            <a:spLocks noGrp="1"/>
          </p:cNvSpPr>
          <p:nvPr>
            <p:ph type="title"/>
          </p:nvPr>
        </p:nvSpPr>
        <p:spPr/>
        <p:txBody>
          <a:bodyPr/>
          <a:lstStyle/>
          <a:p>
            <a:r>
              <a:rPr lang="en-CA" dirty="0"/>
              <a:t>Recap: Kantianism</a:t>
            </a:r>
          </a:p>
        </p:txBody>
      </p:sp>
      <p:sp>
        <p:nvSpPr>
          <p:cNvPr id="3" name="Content Placeholder 2">
            <a:extLst>
              <a:ext uri="{FF2B5EF4-FFF2-40B4-BE49-F238E27FC236}">
                <a16:creationId xmlns:a16="http://schemas.microsoft.com/office/drawing/2014/main" id="{4D1E6C5E-A1C5-49BD-A178-FB7F123FF0CE}"/>
              </a:ext>
            </a:extLst>
          </p:cNvPr>
          <p:cNvSpPr>
            <a:spLocks noGrp="1"/>
          </p:cNvSpPr>
          <p:nvPr>
            <p:ph idx="1"/>
          </p:nvPr>
        </p:nvSpPr>
        <p:spPr/>
        <p:txBody>
          <a:bodyPr/>
          <a:lstStyle/>
          <a:p>
            <a:r>
              <a:rPr lang="en-US" altLang="en-US" dirty="0"/>
              <a:t>What is the categorical imperative?</a:t>
            </a:r>
          </a:p>
          <a:p>
            <a:r>
              <a:rPr lang="en-US" dirty="0"/>
              <a:t>“Speeding in traffic is unethical because if everyone did it driving would become terribly dangerous” – is this argument following either formulation of the categorical imperative?</a:t>
            </a:r>
            <a:endParaRPr lang="en-CA" dirty="0"/>
          </a:p>
        </p:txBody>
      </p:sp>
    </p:spTree>
    <p:extLst>
      <p:ext uri="{BB962C8B-B14F-4D97-AF65-F5344CB8AC3E}">
        <p14:creationId xmlns:p14="http://schemas.microsoft.com/office/powerpoint/2010/main" val="155959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1062A0-6391-4E19-B466-8875D69A6940}"/>
              </a:ext>
            </a:extLst>
          </p:cNvPr>
          <p:cNvSpPr>
            <a:spLocks noGrp="1"/>
          </p:cNvSpPr>
          <p:nvPr>
            <p:ph type="title"/>
          </p:nvPr>
        </p:nvSpPr>
        <p:spPr>
          <a:xfrm>
            <a:off x="685800" y="1962150"/>
            <a:ext cx="7772400" cy="1021556"/>
          </a:xfrm>
        </p:spPr>
        <p:txBody>
          <a:bodyPr/>
          <a:lstStyle/>
          <a:p>
            <a:pPr algn="ctr"/>
            <a:r>
              <a:rPr lang="en-CA" dirty="0"/>
              <a:t>Utilitarianism</a:t>
            </a:r>
          </a:p>
        </p:txBody>
      </p:sp>
    </p:spTree>
    <p:extLst>
      <p:ext uri="{BB962C8B-B14F-4D97-AF65-F5344CB8AC3E}">
        <p14:creationId xmlns:p14="http://schemas.microsoft.com/office/powerpoint/2010/main" val="2392372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2905900-D36A-439D-8582-9BC2A522C9C1}"/>
              </a:ext>
            </a:extLst>
          </p:cNvPr>
          <p:cNvSpPr>
            <a:spLocks noGrp="1" noChangeArrowheads="1"/>
          </p:cNvSpPr>
          <p:nvPr>
            <p:ph type="title"/>
          </p:nvPr>
        </p:nvSpPr>
        <p:spPr/>
        <p:txBody>
          <a:bodyPr/>
          <a:lstStyle/>
          <a:p>
            <a:r>
              <a:rPr lang="en-US" altLang="en-US"/>
              <a:t>Principle of Utility</a:t>
            </a:r>
          </a:p>
        </p:txBody>
      </p:sp>
      <p:sp>
        <p:nvSpPr>
          <p:cNvPr id="14339" name="Rectangle 3">
            <a:extLst>
              <a:ext uri="{FF2B5EF4-FFF2-40B4-BE49-F238E27FC236}">
                <a16:creationId xmlns:a16="http://schemas.microsoft.com/office/drawing/2014/main" id="{3572403D-12BC-460A-B7A7-4050DC948726}"/>
              </a:ext>
            </a:extLst>
          </p:cNvPr>
          <p:cNvSpPr>
            <a:spLocks noGrp="1" noChangeArrowheads="1"/>
          </p:cNvSpPr>
          <p:nvPr>
            <p:ph type="body" idx="1"/>
          </p:nvPr>
        </p:nvSpPr>
        <p:spPr>
          <a:xfrm>
            <a:off x="457200" y="971550"/>
            <a:ext cx="5791200" cy="4000500"/>
          </a:xfrm>
        </p:spPr>
        <p:txBody>
          <a:bodyPr/>
          <a:lstStyle/>
          <a:p>
            <a:r>
              <a:rPr lang="en-US" altLang="en-US" dirty="0"/>
              <a:t>An action is good if it benefits someone</a:t>
            </a:r>
          </a:p>
          <a:p>
            <a:r>
              <a:rPr lang="en-US" altLang="en-US" dirty="0"/>
              <a:t>An action is bad if it harms someone</a:t>
            </a:r>
          </a:p>
          <a:p>
            <a:r>
              <a:rPr lang="en-US" altLang="en-US" dirty="0"/>
              <a:t>Utility: tendency of an outcome to produce happiness or prevent unhappiness for an individual or a community</a:t>
            </a:r>
          </a:p>
          <a:p>
            <a:r>
              <a:rPr lang="en-US" altLang="en-US" dirty="0"/>
              <a:t>Happiness = benefit = good = pleasure</a:t>
            </a:r>
          </a:p>
          <a:p>
            <a:r>
              <a:rPr lang="en-US" altLang="en-US" dirty="0"/>
              <a:t>Unhappiness = cost = evil = pain</a:t>
            </a:r>
          </a:p>
        </p:txBody>
      </p:sp>
      <p:pic>
        <p:nvPicPr>
          <p:cNvPr id="14340" name="Picture 4" descr="Pink tissue paper">
            <a:extLst>
              <a:ext uri="{FF2B5EF4-FFF2-40B4-BE49-F238E27FC236}">
                <a16:creationId xmlns:a16="http://schemas.microsoft.com/office/drawing/2014/main" id="{1BA4EFE1-3572-4620-AD69-E1B400A2C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342900"/>
            <a:ext cx="1285875" cy="1743075"/>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descr="Pink tissue paper">
            <a:extLst>
              <a:ext uri="{FF2B5EF4-FFF2-40B4-BE49-F238E27FC236}">
                <a16:creationId xmlns:a16="http://schemas.microsoft.com/office/drawing/2014/main" id="{94729BCB-DADA-4B3A-A101-0E109D046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7020" y="2286000"/>
            <a:ext cx="1302544" cy="1600200"/>
          </a:xfrm>
          <a:prstGeom prst="rect">
            <a:avLst/>
          </a:prstGeom>
          <a:noFill/>
          <a:ln>
            <a:noFill/>
          </a:ln>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22654624-597A-481B-A083-93F6509BA950}"/>
              </a:ext>
            </a:extLst>
          </p:cNvPr>
          <p:cNvSpPr txBox="1"/>
          <p:nvPr/>
        </p:nvSpPr>
        <p:spPr>
          <a:xfrm>
            <a:off x="6172200" y="4101540"/>
            <a:ext cx="2209800" cy="646331"/>
          </a:xfrm>
          <a:prstGeom prst="rect">
            <a:avLst/>
          </a:prstGeom>
          <a:noFill/>
        </p:spPr>
        <p:txBody>
          <a:bodyPr wrap="square" rtlCol="0">
            <a:spAutoFit/>
          </a:bodyPr>
          <a:lstStyle/>
          <a:p>
            <a:pPr algn="ctr"/>
            <a:r>
              <a:rPr lang="en-US" altLang="en-US" b="0" dirty="0">
                <a:latin typeface="+mn-lt"/>
              </a:rPr>
              <a:t>Jeremy Bentham &amp; John Stuart Mill</a:t>
            </a:r>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5996F35-838E-4995-AA64-A691E74F13ED}"/>
              </a:ext>
            </a:extLst>
          </p:cNvPr>
          <p:cNvSpPr>
            <a:spLocks noGrp="1" noChangeArrowheads="1"/>
          </p:cNvSpPr>
          <p:nvPr>
            <p:ph type="title"/>
          </p:nvPr>
        </p:nvSpPr>
        <p:spPr/>
        <p:txBody>
          <a:bodyPr/>
          <a:lstStyle/>
          <a:p>
            <a:r>
              <a:rPr lang="en-US" altLang="en-US" dirty="0"/>
              <a:t>Principle of Utility </a:t>
            </a:r>
            <a:r>
              <a:rPr lang="en-US" altLang="en-US" sz="2400" b="0" dirty="0"/>
              <a:t>(“Greatest Happiness Principle”)</a:t>
            </a:r>
            <a:endParaRPr lang="en-US" altLang="en-US" b="0" dirty="0"/>
          </a:p>
        </p:txBody>
      </p:sp>
      <p:sp>
        <p:nvSpPr>
          <p:cNvPr id="3" name="Content Placeholder 2">
            <a:extLst>
              <a:ext uri="{FF2B5EF4-FFF2-40B4-BE49-F238E27FC236}">
                <a16:creationId xmlns:a16="http://schemas.microsoft.com/office/drawing/2014/main" id="{EC92AFD9-F9D5-4319-A15D-667561575428}"/>
              </a:ext>
            </a:extLst>
          </p:cNvPr>
          <p:cNvSpPr>
            <a:spLocks noGrp="1"/>
          </p:cNvSpPr>
          <p:nvPr>
            <p:ph idx="1"/>
          </p:nvPr>
        </p:nvSpPr>
        <p:spPr/>
        <p:txBody>
          <a:bodyPr/>
          <a:lstStyle/>
          <a:p>
            <a:pPr algn="ctr">
              <a:spcBef>
                <a:spcPct val="0"/>
              </a:spcBef>
              <a:buClrTx/>
              <a:buFontTx/>
              <a:buNone/>
            </a:pPr>
            <a:endParaRPr lang="en-US" altLang="en-US" sz="2400" dirty="0">
              <a:latin typeface="Arial" panose="020B0604020202020204" pitchFamily="34" charset="0"/>
            </a:endParaRPr>
          </a:p>
          <a:p>
            <a:pPr algn="ctr">
              <a:spcBef>
                <a:spcPct val="0"/>
              </a:spcBef>
              <a:buClrTx/>
              <a:buFontTx/>
              <a:buNone/>
            </a:pPr>
            <a:r>
              <a:rPr lang="en-US" altLang="en-US" sz="2400" dirty="0">
                <a:latin typeface="Arial" panose="020B0604020202020204" pitchFamily="34" charset="0"/>
              </a:rPr>
              <a:t>An action is right (or wrong) to the extent</a:t>
            </a:r>
          </a:p>
          <a:p>
            <a:pPr algn="ctr">
              <a:spcBef>
                <a:spcPct val="0"/>
              </a:spcBef>
              <a:buClrTx/>
              <a:buFontTx/>
              <a:buNone/>
            </a:pPr>
            <a:r>
              <a:rPr lang="en-US" altLang="en-US" sz="2400" dirty="0">
                <a:latin typeface="Arial" panose="020B0604020202020204" pitchFamily="34" charset="0"/>
              </a:rPr>
              <a:t>that it increases (or decreases) the</a:t>
            </a:r>
          </a:p>
          <a:p>
            <a:pPr algn="ctr">
              <a:spcBef>
                <a:spcPct val="0"/>
              </a:spcBef>
              <a:buClrTx/>
              <a:buFontTx/>
              <a:buNone/>
            </a:pPr>
            <a:r>
              <a:rPr lang="en-US" altLang="en-US" sz="2400" dirty="0">
                <a:latin typeface="Arial" panose="020B0604020202020204" pitchFamily="34" charset="0"/>
              </a:rPr>
              <a:t>total happiness of the affected parties.</a:t>
            </a:r>
          </a:p>
          <a:p>
            <a:endParaRPr lang="en-US" dirty="0"/>
          </a:p>
        </p:txBody>
      </p:sp>
      <p:pic>
        <p:nvPicPr>
          <p:cNvPr id="15364" name="Picture 6" descr="qui02f06">
            <a:extLst>
              <a:ext uri="{FF2B5EF4-FFF2-40B4-BE49-F238E27FC236}">
                <a16:creationId xmlns:a16="http://schemas.microsoft.com/office/drawing/2014/main" id="{EDC2A6E2-EF45-4336-BEA1-680CD67DF8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5836" y="2777730"/>
            <a:ext cx="3559969" cy="2140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56ABF-D51A-478D-A79E-3A8A3DA95449}"/>
              </a:ext>
            </a:extLst>
          </p:cNvPr>
          <p:cNvSpPr>
            <a:spLocks noGrp="1"/>
          </p:cNvSpPr>
          <p:nvPr>
            <p:ph type="title"/>
          </p:nvPr>
        </p:nvSpPr>
        <p:spPr/>
        <p:txBody>
          <a:bodyPr/>
          <a:lstStyle/>
          <a:p>
            <a:r>
              <a:rPr lang="en-US" dirty="0"/>
              <a:t>Utility Overview</a:t>
            </a:r>
          </a:p>
        </p:txBody>
      </p:sp>
      <p:sp>
        <p:nvSpPr>
          <p:cNvPr id="3" name="Content Placeholder 2">
            <a:extLst>
              <a:ext uri="{FF2B5EF4-FFF2-40B4-BE49-F238E27FC236}">
                <a16:creationId xmlns:a16="http://schemas.microsoft.com/office/drawing/2014/main" id="{C06AEE44-DE0E-45BD-9261-5203B4B70E0F}"/>
              </a:ext>
            </a:extLst>
          </p:cNvPr>
          <p:cNvSpPr>
            <a:spLocks noGrp="1"/>
          </p:cNvSpPr>
          <p:nvPr>
            <p:ph idx="1"/>
          </p:nvPr>
        </p:nvSpPr>
        <p:spPr/>
        <p:txBody>
          <a:bodyPr>
            <a:normAutofit fontScale="92500" lnSpcReduction="20000"/>
          </a:bodyPr>
          <a:lstStyle/>
          <a:p>
            <a:pPr eaLnBrk="1" hangingPunct="1"/>
            <a:r>
              <a:rPr lang="en-US" altLang="en-US" dirty="0"/>
              <a:t>A Consequentialist Theory</a:t>
            </a:r>
          </a:p>
          <a:p>
            <a:pPr lvl="1" eaLnBrk="1" hangingPunct="1"/>
            <a:r>
              <a:rPr lang="en-US" altLang="en-US" dirty="0"/>
              <a:t>Morality of an action has nothing to do with intent or following rules (deontological theories)</a:t>
            </a:r>
          </a:p>
          <a:p>
            <a:pPr lvl="1" eaLnBrk="1" hangingPunct="1"/>
            <a:r>
              <a:rPr lang="en-US" altLang="en-US" dirty="0"/>
              <a:t>Focuses on the consequences</a:t>
            </a:r>
          </a:p>
          <a:p>
            <a:r>
              <a:rPr lang="en-US" dirty="0"/>
              <a:t>We shouldn’t just randomly make up utility numbers</a:t>
            </a:r>
          </a:p>
          <a:p>
            <a:pPr lvl="1"/>
            <a:r>
              <a:rPr lang="en-US" dirty="0"/>
              <a:t>what matters is the relative magnitude of different utilities in a calculation</a:t>
            </a:r>
          </a:p>
          <a:p>
            <a:pPr lvl="2"/>
            <a:r>
              <a:rPr lang="en-US" dirty="0"/>
              <a:t>e.g., gains to person A are 10x larger than harms to person B</a:t>
            </a:r>
          </a:p>
          <a:p>
            <a:pPr lvl="2"/>
            <a:r>
              <a:rPr lang="en-US" dirty="0"/>
              <a:t>there’s actually a mathematical basis for coming up with these numbers: see von Neumann &amp; Morgenstern Utility Theory </a:t>
            </a:r>
          </a:p>
          <a:p>
            <a:pPr lvl="1"/>
            <a:r>
              <a:rPr lang="en-US" dirty="0"/>
              <a:t>if we’re unsure about what numbers to pick, consider the smallest plausible ratio and the largest plausible ratio, then ask if the overall assessment changes</a:t>
            </a:r>
          </a:p>
          <a:p>
            <a:r>
              <a:rPr lang="en-US" dirty="0"/>
              <a:t>Utility still works when we’re unsure about what consequences will follow from the proposed action</a:t>
            </a:r>
          </a:p>
          <a:p>
            <a:pPr lvl="1"/>
            <a:r>
              <a:rPr lang="en-US" dirty="0"/>
              <a:t>assign each potential outcome a probability</a:t>
            </a:r>
          </a:p>
          <a:p>
            <a:pPr lvl="1"/>
            <a:r>
              <a:rPr lang="en-US" dirty="0"/>
              <a:t>compute expected utility: the sum of each outcome’s utility, weighted by its respective probability</a:t>
            </a:r>
          </a:p>
          <a:p>
            <a:pPr lvl="1"/>
            <a:endParaRPr lang="en-US" dirty="0"/>
          </a:p>
        </p:txBody>
      </p:sp>
    </p:spTree>
    <p:extLst>
      <p:ext uri="{BB962C8B-B14F-4D97-AF65-F5344CB8AC3E}">
        <p14:creationId xmlns:p14="http://schemas.microsoft.com/office/powerpoint/2010/main" val="3578424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09A1DB9-FAFD-41F8-AEB2-43BE5FCC7EB2}"/>
              </a:ext>
            </a:extLst>
          </p:cNvPr>
          <p:cNvSpPr>
            <a:spLocks noGrp="1" noChangeArrowheads="1"/>
          </p:cNvSpPr>
          <p:nvPr>
            <p:ph type="title"/>
          </p:nvPr>
        </p:nvSpPr>
        <p:spPr/>
        <p:txBody>
          <a:bodyPr/>
          <a:lstStyle/>
          <a:p>
            <a:pPr eaLnBrk="1" hangingPunct="1"/>
            <a:r>
              <a:rPr lang="en-US" altLang="en-US"/>
              <a:t>Act Utilitarianism</a:t>
            </a:r>
          </a:p>
        </p:txBody>
      </p:sp>
      <p:sp>
        <p:nvSpPr>
          <p:cNvPr id="16387" name="Rectangle 3">
            <a:extLst>
              <a:ext uri="{FF2B5EF4-FFF2-40B4-BE49-F238E27FC236}">
                <a16:creationId xmlns:a16="http://schemas.microsoft.com/office/drawing/2014/main" id="{88B88A6E-7F24-4BF4-8031-7CEF62490BEE}"/>
              </a:ext>
            </a:extLst>
          </p:cNvPr>
          <p:cNvSpPr>
            <a:spLocks noGrp="1" noChangeArrowheads="1"/>
          </p:cNvSpPr>
          <p:nvPr>
            <p:ph type="body" idx="1"/>
          </p:nvPr>
        </p:nvSpPr>
        <p:spPr/>
        <p:txBody>
          <a:bodyPr/>
          <a:lstStyle/>
          <a:p>
            <a:pPr eaLnBrk="1" hangingPunct="1"/>
            <a:r>
              <a:rPr lang="en-US" altLang="en-US" dirty="0"/>
              <a:t>Act utilitarianism</a:t>
            </a:r>
          </a:p>
          <a:p>
            <a:pPr lvl="1" eaLnBrk="1" hangingPunct="1"/>
            <a:r>
              <a:rPr lang="en-US" altLang="en-US" dirty="0"/>
              <a:t>Add up change in happiness of all affected beings following from a given action</a:t>
            </a:r>
          </a:p>
          <a:p>
            <a:pPr lvl="2" eaLnBrk="1" hangingPunct="1"/>
            <a:r>
              <a:rPr lang="en-US" altLang="en-US" dirty="0"/>
              <a:t>Sum &gt; 0, action is good</a:t>
            </a:r>
          </a:p>
          <a:p>
            <a:pPr lvl="2" eaLnBrk="1" hangingPunct="1"/>
            <a:r>
              <a:rPr lang="en-US" altLang="en-US" dirty="0"/>
              <a:t>Sum &lt; 0, action is bad</a:t>
            </a:r>
          </a:p>
          <a:p>
            <a:pPr lvl="2" eaLnBrk="1" hangingPunct="1"/>
            <a:endParaRPr lang="en-US" altLang="en-US" dirty="0"/>
          </a:p>
          <a:p>
            <a:pPr lvl="2" eaLnBrk="1" hangingPunct="1"/>
            <a:endParaRPr lang="en-US" altLang="en-US" dirty="0"/>
          </a:p>
          <a:p>
            <a:pPr lvl="2" eaLnBrk="1" hangingPunct="1"/>
            <a:endParaRPr lang="en-US" altLang="en-US" dirty="0"/>
          </a:p>
          <a:p>
            <a:pPr lvl="2" eaLnBrk="1" hangingPunct="1"/>
            <a:endParaRPr lang="en-US" altLang="en-US" dirty="0"/>
          </a:p>
          <a:p>
            <a:pPr lvl="2" eaLnBrk="1" hangingPunct="1"/>
            <a:endParaRPr lang="en-US" altLang="en-US" dirty="0"/>
          </a:p>
          <a:p>
            <a:pPr lvl="2" eaLnBrk="1" hangingPunct="1"/>
            <a:endParaRPr lang="en-US" altLang="en-US" dirty="0"/>
          </a:p>
          <a:p>
            <a:pPr eaLnBrk="1" hangingPunct="1"/>
            <a:r>
              <a:rPr lang="en-US" altLang="en-US" dirty="0"/>
              <a:t>How useful is act utilitarianism?</a:t>
            </a:r>
          </a:p>
          <a:p>
            <a:pPr lvl="1"/>
            <a:r>
              <a:rPr lang="en-CA" altLang="en-US" dirty="0"/>
              <a:t>discuss with the person beside you</a:t>
            </a:r>
          </a:p>
          <a:p>
            <a:pPr lvl="1"/>
            <a:r>
              <a:rPr lang="en-CA" altLang="en-US" dirty="0"/>
              <a:t>report back</a:t>
            </a:r>
          </a:p>
          <a:p>
            <a:pPr eaLnBrk="1" hangingPunct="1"/>
            <a:endParaRPr lang="en-US" altLang="en-US"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2A60471-6151-4BC9-B18C-F71C766D5026}"/>
              </a:ext>
            </a:extLst>
          </p:cNvPr>
          <p:cNvSpPr>
            <a:spLocks noGrp="1" noChangeArrowheads="1"/>
          </p:cNvSpPr>
          <p:nvPr>
            <p:ph type="title"/>
          </p:nvPr>
        </p:nvSpPr>
        <p:spPr/>
        <p:txBody>
          <a:bodyPr/>
          <a:lstStyle/>
          <a:p>
            <a:pPr eaLnBrk="1" hangingPunct="1"/>
            <a:r>
              <a:rPr lang="en-US" altLang="en-US"/>
              <a:t>Case for Act Utilitarianism</a:t>
            </a:r>
          </a:p>
        </p:txBody>
      </p:sp>
      <p:sp>
        <p:nvSpPr>
          <p:cNvPr id="18435" name="Rectangle 3">
            <a:extLst>
              <a:ext uri="{FF2B5EF4-FFF2-40B4-BE49-F238E27FC236}">
                <a16:creationId xmlns:a16="http://schemas.microsoft.com/office/drawing/2014/main" id="{98A5E8C3-E0DF-475F-A351-0F51AE41564F}"/>
              </a:ext>
            </a:extLst>
          </p:cNvPr>
          <p:cNvSpPr>
            <a:spLocks noGrp="1" noChangeArrowheads="1"/>
          </p:cNvSpPr>
          <p:nvPr>
            <p:ph type="body" idx="1"/>
          </p:nvPr>
        </p:nvSpPr>
        <p:spPr/>
        <p:txBody>
          <a:bodyPr/>
          <a:lstStyle/>
          <a:p>
            <a:pPr eaLnBrk="1" hangingPunct="1"/>
            <a:r>
              <a:rPr lang="en-US" altLang="en-US"/>
              <a:t>Focuses on happiness, which is intuitive</a:t>
            </a:r>
          </a:p>
          <a:p>
            <a:pPr eaLnBrk="1" hangingPunct="1"/>
            <a:r>
              <a:rPr lang="en-US" altLang="en-US"/>
              <a:t>Down-to-earth (practical)</a:t>
            </a:r>
          </a:p>
          <a:p>
            <a:pPr lvl="1" eaLnBrk="1" hangingPunct="1"/>
            <a:r>
              <a:rPr lang="en-US" altLang="en-US"/>
              <a:t>Straightforward to apply</a:t>
            </a:r>
          </a:p>
          <a:p>
            <a:pPr lvl="1" eaLnBrk="1" hangingPunct="1"/>
            <a:r>
              <a:rPr lang="en-US" altLang="en-US"/>
              <a:t>Can therefore be helpful in resolving disputes</a:t>
            </a:r>
          </a:p>
          <a:p>
            <a:pPr lvl="2" eaLnBrk="1" hangingPunct="1"/>
            <a:r>
              <a:rPr lang="en-US" altLang="en-US"/>
              <a:t>decomposes big issues into lots of little questions</a:t>
            </a:r>
          </a:p>
          <a:p>
            <a:pPr eaLnBrk="1" hangingPunct="1"/>
            <a:r>
              <a:rPr lang="en-US" altLang="en-US"/>
              <a:t>Comprehensive</a:t>
            </a:r>
          </a:p>
          <a:p>
            <a:pPr lvl="1" eaLnBrk="1" hangingPunct="1"/>
            <a:r>
              <a:rPr lang="en-US" altLang="en-US"/>
              <a:t>Allows an agent to trade off different aspects of a situation</a:t>
            </a:r>
          </a:p>
          <a:p>
            <a:pPr lvl="1" eaLnBrk="1" hangingPunct="1"/>
            <a:r>
              <a:rPr lang="en-US" altLang="en-US"/>
              <a:t>Contrast with Kantianism: we needed to find one rule</a:t>
            </a:r>
          </a:p>
          <a:p>
            <a:pPr lvl="1" eaLnBrk="1" hangingPunct="1"/>
            <a:endParaRPr lang="en-US" altLang="en-US"/>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3BA50697-FC06-43CC-8D42-0FB9F232A8CE}"/>
              </a:ext>
            </a:extLst>
          </p:cNvPr>
          <p:cNvSpPr>
            <a:spLocks noGrp="1" noChangeArrowheads="1"/>
          </p:cNvSpPr>
          <p:nvPr>
            <p:ph type="title"/>
          </p:nvPr>
        </p:nvSpPr>
        <p:spPr/>
        <p:txBody>
          <a:bodyPr/>
          <a:lstStyle/>
          <a:p>
            <a:pPr eaLnBrk="1" hangingPunct="1"/>
            <a:r>
              <a:rPr lang="en-US" altLang="en-US"/>
              <a:t>Case Against Act Utilitarianism</a:t>
            </a:r>
          </a:p>
        </p:txBody>
      </p:sp>
      <p:sp>
        <p:nvSpPr>
          <p:cNvPr id="19459" name="Rectangle 3">
            <a:extLst>
              <a:ext uri="{FF2B5EF4-FFF2-40B4-BE49-F238E27FC236}">
                <a16:creationId xmlns:a16="http://schemas.microsoft.com/office/drawing/2014/main" id="{A4565659-238D-4FAB-A6E8-78C683631F51}"/>
              </a:ext>
            </a:extLst>
          </p:cNvPr>
          <p:cNvSpPr>
            <a:spLocks noGrp="1" noChangeArrowheads="1"/>
          </p:cNvSpPr>
          <p:nvPr>
            <p:ph type="body" idx="1"/>
          </p:nvPr>
        </p:nvSpPr>
        <p:spPr/>
        <p:txBody>
          <a:bodyPr>
            <a:normAutofit fontScale="92500" lnSpcReduction="10000"/>
          </a:bodyPr>
          <a:lstStyle/>
          <a:p>
            <a:pPr eaLnBrk="1" hangingPunct="1"/>
            <a:r>
              <a:rPr lang="en-US" altLang="en-US" sz="1800" dirty="0"/>
              <a:t>Unclear whom to include in calculations</a:t>
            </a:r>
          </a:p>
          <a:p>
            <a:pPr lvl="1" eaLnBrk="1" hangingPunct="1"/>
            <a:r>
              <a:rPr lang="en-US" altLang="en-US" sz="1500" dirty="0" err="1"/>
              <a:t>Utilitarians</a:t>
            </a:r>
            <a:r>
              <a:rPr lang="en-US" altLang="en-US" sz="1500" dirty="0"/>
              <a:t> might say you should never exclude anyone…</a:t>
            </a:r>
          </a:p>
          <a:p>
            <a:pPr eaLnBrk="1" hangingPunct="1"/>
            <a:r>
              <a:rPr lang="en-US" altLang="en-US" sz="1800" dirty="0"/>
              <a:t>Too much work</a:t>
            </a:r>
          </a:p>
          <a:p>
            <a:pPr lvl="1" eaLnBrk="1" hangingPunct="1"/>
            <a:r>
              <a:rPr lang="en-US" altLang="en-US" sz="1500" dirty="0"/>
              <a:t>But it’s OK to follow a “rule of thumb” most of the time.</a:t>
            </a:r>
          </a:p>
          <a:p>
            <a:pPr eaLnBrk="1" hangingPunct="1"/>
            <a:r>
              <a:rPr lang="en-US" altLang="en-US" sz="1800" dirty="0"/>
              <a:t>Ignores our innate sense of duty</a:t>
            </a:r>
          </a:p>
          <a:p>
            <a:pPr lvl="1" eaLnBrk="1" hangingPunct="1"/>
            <a:r>
              <a:rPr lang="en-US" altLang="en-US" sz="1500" dirty="0"/>
              <a:t>Suppose I make a promise, but can get $1 for violating it. </a:t>
            </a:r>
          </a:p>
          <a:p>
            <a:pPr lvl="2" eaLnBrk="1" hangingPunct="1"/>
            <a:r>
              <a:rPr lang="en-US" altLang="en-US" sz="1350" dirty="0"/>
              <a:t>Seems to miss the sense that I care about my word.</a:t>
            </a:r>
          </a:p>
          <a:p>
            <a:pPr lvl="1" eaLnBrk="1" hangingPunct="1"/>
            <a:r>
              <a:rPr lang="en-US" altLang="en-US" sz="1500" dirty="0"/>
              <a:t>Quinn claims: “Note that it does no good for an act utilitarian to … say that the hard feelings caused by breaking my word to A will have a negative impact on total happiness of –N units, because then all I have to do is change the scenario so that breaking my promise to A enables me to produce 1,001 + N units of good for B. We’ve arrived at the same result.” </a:t>
            </a:r>
          </a:p>
          <a:p>
            <a:pPr lvl="1" eaLnBrk="1" hangingPunct="1"/>
            <a:r>
              <a:rPr lang="en-US" altLang="en-US" sz="1500" dirty="0"/>
              <a:t>But is this a problem?</a:t>
            </a:r>
          </a:p>
          <a:p>
            <a:pPr eaLnBrk="1" hangingPunct="1"/>
            <a:r>
              <a:rPr lang="en-US" altLang="en-US" sz="1800" dirty="0"/>
              <a:t>Susceptible to the problem of moral luck</a:t>
            </a:r>
          </a:p>
          <a:p>
            <a:pPr lvl="1" eaLnBrk="1" hangingPunct="1"/>
            <a:r>
              <a:rPr lang="en-US" altLang="en-US" sz="1500" dirty="0"/>
              <a:t>Whether an action is moral depends on outcome, which can depend on circumstances beyond your control</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065A65B-6588-45ED-BCE9-9F2D49484166}"/>
              </a:ext>
            </a:extLst>
          </p:cNvPr>
          <p:cNvSpPr>
            <a:spLocks noGrp="1" noChangeArrowheads="1"/>
          </p:cNvSpPr>
          <p:nvPr>
            <p:ph type="title"/>
          </p:nvPr>
        </p:nvSpPr>
        <p:spPr/>
        <p:txBody>
          <a:bodyPr/>
          <a:lstStyle/>
          <a:p>
            <a:pPr eaLnBrk="1" hangingPunct="1"/>
            <a:r>
              <a:rPr lang="en-US" altLang="en-US"/>
              <a:t>Rule Utilitarianism</a:t>
            </a:r>
          </a:p>
        </p:txBody>
      </p:sp>
      <p:sp>
        <p:nvSpPr>
          <p:cNvPr id="20483" name="Rectangle 3">
            <a:extLst>
              <a:ext uri="{FF2B5EF4-FFF2-40B4-BE49-F238E27FC236}">
                <a16:creationId xmlns:a16="http://schemas.microsoft.com/office/drawing/2014/main" id="{92D91290-8DB7-4B69-B594-0F3D3A023F3B}"/>
              </a:ext>
            </a:extLst>
          </p:cNvPr>
          <p:cNvSpPr>
            <a:spLocks noGrp="1" noChangeArrowheads="1"/>
          </p:cNvSpPr>
          <p:nvPr>
            <p:ph type="body" idx="1"/>
          </p:nvPr>
        </p:nvSpPr>
        <p:spPr/>
        <p:txBody>
          <a:bodyPr/>
          <a:lstStyle/>
          <a:p>
            <a:pPr eaLnBrk="1" hangingPunct="1"/>
            <a:r>
              <a:rPr lang="en-US" altLang="en-US" dirty="0"/>
              <a:t>We ought to adopt </a:t>
            </a:r>
            <a:r>
              <a:rPr lang="en-US" altLang="en-US" b="1" dirty="0"/>
              <a:t>moral rules </a:t>
            </a:r>
            <a:r>
              <a:rPr lang="en-US" altLang="en-US" dirty="0"/>
              <a:t>which, if followed by everyone, will lead to the greatest increase in total happiness</a:t>
            </a:r>
          </a:p>
          <a:p>
            <a:pPr lvl="1" eaLnBrk="1" hangingPunct="1"/>
            <a:r>
              <a:rPr lang="en-US" altLang="en-US" dirty="0"/>
              <a:t>Act utilitarianism applies Principle of Utility to individual actions</a:t>
            </a:r>
          </a:p>
          <a:p>
            <a:pPr lvl="1" eaLnBrk="1" hangingPunct="1"/>
            <a:r>
              <a:rPr lang="en-US" altLang="en-US" dirty="0"/>
              <a:t>Rule utilitarianism applies Principle of Utility to moral rules</a:t>
            </a:r>
          </a:p>
          <a:p>
            <a:pPr lvl="1" eaLnBrk="1" hangingPunct="1"/>
            <a:endParaRPr lang="en-US" altLang="en-US" dirty="0"/>
          </a:p>
          <a:p>
            <a:pPr eaLnBrk="1" hangingPunct="1"/>
            <a:r>
              <a:rPr lang="en-US" altLang="en-US" dirty="0"/>
              <a:t>How is this different from Kantianism?</a:t>
            </a:r>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66A0750-3BA9-4271-B44B-379FD54C39E2}"/>
              </a:ext>
            </a:extLst>
          </p:cNvPr>
          <p:cNvSpPr>
            <a:spLocks noGrp="1" noChangeArrowheads="1"/>
          </p:cNvSpPr>
          <p:nvPr>
            <p:ph type="title"/>
          </p:nvPr>
        </p:nvSpPr>
        <p:spPr/>
        <p:txBody>
          <a:bodyPr/>
          <a:lstStyle/>
          <a:p>
            <a:pPr eaLnBrk="1" hangingPunct="1"/>
            <a:r>
              <a:rPr lang="en-US" altLang="en-US"/>
              <a:t>Case for Rule Utilitarianism</a:t>
            </a:r>
          </a:p>
        </p:txBody>
      </p:sp>
      <p:sp>
        <p:nvSpPr>
          <p:cNvPr id="22531" name="Rectangle 3">
            <a:extLst>
              <a:ext uri="{FF2B5EF4-FFF2-40B4-BE49-F238E27FC236}">
                <a16:creationId xmlns:a16="http://schemas.microsoft.com/office/drawing/2014/main" id="{875F0290-1257-43EE-B75E-B2561912A03F}"/>
              </a:ext>
            </a:extLst>
          </p:cNvPr>
          <p:cNvSpPr>
            <a:spLocks noGrp="1" noChangeArrowheads="1"/>
          </p:cNvSpPr>
          <p:nvPr>
            <p:ph type="body" idx="1"/>
          </p:nvPr>
        </p:nvSpPr>
        <p:spPr/>
        <p:txBody>
          <a:bodyPr/>
          <a:lstStyle/>
          <a:p>
            <a:pPr eaLnBrk="1" hangingPunct="1"/>
            <a:r>
              <a:rPr lang="en-US" altLang="en-US" dirty="0"/>
              <a:t>Not every moral decision requires utilitarian calculus</a:t>
            </a:r>
          </a:p>
          <a:p>
            <a:pPr lvl="1" eaLnBrk="1" hangingPunct="1"/>
            <a:r>
              <a:rPr lang="en-US" altLang="en-US" dirty="0"/>
              <a:t>You only have to work out the morality of rules.</a:t>
            </a:r>
          </a:p>
          <a:p>
            <a:pPr eaLnBrk="1" hangingPunct="1"/>
            <a:r>
              <a:rPr lang="en-US" altLang="en-US" dirty="0"/>
              <a:t>Moral rules survive exceptional situations</a:t>
            </a:r>
          </a:p>
          <a:p>
            <a:pPr lvl="1" eaLnBrk="1" hangingPunct="1"/>
            <a:r>
              <a:rPr lang="en-US" altLang="en-US" dirty="0"/>
              <a:t>A rule utilitarian can reason (a bit like a Kantian) that it’s better for everyone to keep their promises than to lie, and so reject lying for a $1 gain</a:t>
            </a:r>
          </a:p>
          <a:p>
            <a:pPr eaLnBrk="1" hangingPunct="1"/>
            <a:r>
              <a:rPr lang="en-US" altLang="en-US" dirty="0"/>
              <a:t>Avoids the problem of moral luck</a:t>
            </a:r>
          </a:p>
          <a:p>
            <a:pPr lvl="1" eaLnBrk="1" hangingPunct="1"/>
            <a:r>
              <a:rPr lang="en-US" altLang="en-US" dirty="0"/>
              <a:t>We look at the overall usefulness of the rule, not individual outcomes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05C3C6D-60E1-404B-BF6B-A41F0810FAF0}"/>
              </a:ext>
            </a:extLst>
          </p:cNvPr>
          <p:cNvSpPr>
            <a:spLocks noGrp="1" noChangeArrowheads="1"/>
          </p:cNvSpPr>
          <p:nvPr>
            <p:ph type="title"/>
          </p:nvPr>
        </p:nvSpPr>
        <p:spPr/>
        <p:txBody>
          <a:bodyPr>
            <a:normAutofit fontScale="90000"/>
          </a:bodyPr>
          <a:lstStyle/>
          <a:p>
            <a:r>
              <a:rPr lang="en-US" altLang="en-US" dirty="0"/>
              <a:t>Case Against RU, and Utilitarianism in General</a:t>
            </a:r>
          </a:p>
        </p:txBody>
      </p:sp>
      <p:sp>
        <p:nvSpPr>
          <p:cNvPr id="24579" name="Rectangle 3">
            <a:extLst>
              <a:ext uri="{FF2B5EF4-FFF2-40B4-BE49-F238E27FC236}">
                <a16:creationId xmlns:a16="http://schemas.microsoft.com/office/drawing/2014/main" id="{F626C842-16F3-415B-A766-C18EBD6754BC}"/>
              </a:ext>
            </a:extLst>
          </p:cNvPr>
          <p:cNvSpPr>
            <a:spLocks noGrp="1" noChangeArrowheads="1"/>
          </p:cNvSpPr>
          <p:nvPr>
            <p:ph type="body" idx="1"/>
          </p:nvPr>
        </p:nvSpPr>
        <p:spPr/>
        <p:txBody>
          <a:bodyPr>
            <a:normAutofit/>
          </a:bodyPr>
          <a:lstStyle/>
          <a:p>
            <a:r>
              <a:rPr lang="en-US" altLang="en-US" dirty="0"/>
              <a:t>RU: need to identify a single rule to describe situation</a:t>
            </a:r>
          </a:p>
          <a:p>
            <a:r>
              <a:rPr lang="en-US" altLang="en-US" dirty="0"/>
              <a:t>All consequences must be measured on a single scale</a:t>
            </a:r>
          </a:p>
          <a:p>
            <a:pPr lvl="1"/>
            <a:r>
              <a:rPr lang="en-US" altLang="en-US" dirty="0"/>
              <a:t>All units must be the same in order to do the sum</a:t>
            </a:r>
          </a:p>
          <a:p>
            <a:pPr lvl="1"/>
            <a:r>
              <a:rPr lang="en-US" altLang="en-US" dirty="0"/>
              <a:t>In certain circumstances </a:t>
            </a:r>
            <a:r>
              <a:rPr lang="en-US" altLang="en-US" dirty="0" err="1"/>
              <a:t>utilitarians</a:t>
            </a:r>
            <a:r>
              <a:rPr lang="en-US" altLang="en-US" dirty="0"/>
              <a:t> must quantify the value of a human life</a:t>
            </a:r>
          </a:p>
          <a:p>
            <a:pPr lvl="1"/>
            <a:r>
              <a:rPr lang="en-US" altLang="en-US" dirty="0"/>
              <a:t>BUT: good arguments from utility theory</a:t>
            </a:r>
          </a:p>
          <a:p>
            <a:pPr lvl="1"/>
            <a:r>
              <a:rPr lang="en-US" altLang="en-US" dirty="0"/>
              <a:t>We have to figure out what this utility function is!</a:t>
            </a:r>
          </a:p>
          <a:p>
            <a:r>
              <a:rPr lang="en-US" altLang="en-US" dirty="0"/>
              <a:t>Utilitarianism ignores problem of unjust distribution</a:t>
            </a:r>
          </a:p>
          <a:p>
            <a:pPr lvl="1"/>
            <a:r>
              <a:rPr lang="en-US" altLang="en-US" dirty="0"/>
              <a:t>Utilitarianism (as defined here) doesn’t mean </a:t>
            </a:r>
            <a:br>
              <a:rPr lang="en-US" altLang="en-US" dirty="0"/>
            </a:br>
            <a:r>
              <a:rPr lang="en-US" altLang="en-US" dirty="0"/>
              <a:t>“the greatest good for the greatest number”</a:t>
            </a:r>
          </a:p>
          <a:p>
            <a:pPr lvl="2"/>
            <a:r>
              <a:rPr lang="en-US" altLang="en-US" dirty="0"/>
              <a:t>That requires a principle of justice</a:t>
            </a:r>
          </a:p>
          <a:p>
            <a:pPr lvl="1"/>
            <a:r>
              <a:rPr lang="en-US" altLang="en-US" dirty="0"/>
              <a:t>We can try to combine these ideas</a:t>
            </a:r>
          </a:p>
          <a:p>
            <a:pPr lvl="2"/>
            <a:r>
              <a:rPr lang="en-US" altLang="en-US" dirty="0"/>
              <a:t>However, what happens when a conflict arises between the Principle of Utility and our principle of justice?</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EB0C-0AB7-45DD-AA2F-ABC1287F9100}"/>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EE47892A-86C3-4163-A4E9-42F246AC1376}"/>
              </a:ext>
            </a:extLst>
          </p:cNvPr>
          <p:cNvSpPr>
            <a:spLocks noGrp="1"/>
          </p:cNvSpPr>
          <p:nvPr>
            <p:ph idx="1"/>
          </p:nvPr>
        </p:nvSpPr>
        <p:spPr/>
        <p:txBody>
          <a:bodyPr/>
          <a:lstStyle/>
          <a:p>
            <a:r>
              <a:rPr lang="en-US" sz="2000" dirty="0"/>
              <a:t>Is it ethical to pay a ransomware attacker to unlock my data?</a:t>
            </a:r>
          </a:p>
          <a:p>
            <a:pPr lvl="1"/>
            <a:r>
              <a:rPr lang="en-US" sz="1500" dirty="0"/>
              <a:t>Discuss quickly with a partner</a:t>
            </a:r>
          </a:p>
          <a:p>
            <a:r>
              <a:rPr lang="en-US" sz="2000" dirty="0"/>
              <a:t>Act Utilitarianism:</a:t>
            </a:r>
          </a:p>
          <a:p>
            <a:pPr lvl="1"/>
            <a:r>
              <a:rPr lang="en-US" sz="1600" dirty="0"/>
              <a:t>for me: my data is worth more than the payment so I’m better off paying</a:t>
            </a:r>
          </a:p>
          <a:p>
            <a:pPr lvl="1"/>
            <a:r>
              <a:rPr lang="en-US" sz="1600" dirty="0"/>
              <a:t>for the attacker: prefers to be paid</a:t>
            </a:r>
          </a:p>
          <a:p>
            <a:pPr lvl="1"/>
            <a:r>
              <a:rPr lang="en-US" sz="1600" dirty="0"/>
              <a:t>for everyone else: me paying the attacker increases the risk of more attacks, but not by much</a:t>
            </a:r>
          </a:p>
          <a:p>
            <a:r>
              <a:rPr lang="en-US" sz="2000" dirty="0"/>
              <a:t>Rule Utilitarianism:</a:t>
            </a:r>
          </a:p>
          <a:p>
            <a:pPr lvl="1"/>
            <a:r>
              <a:rPr lang="en-US" sz="1600" dirty="0"/>
              <a:t>rule: people should pay ransomware attackers to unlock their data</a:t>
            </a:r>
          </a:p>
          <a:p>
            <a:pPr lvl="1"/>
            <a:r>
              <a:rPr lang="en-US" sz="1600" dirty="0"/>
              <a:t>if everyone followed the rule, attacks would be much more common</a:t>
            </a:r>
          </a:p>
          <a:p>
            <a:pPr lvl="1"/>
            <a:r>
              <a:rPr lang="en-US" sz="1600" dirty="0"/>
              <a:t>if nobody followed the rule, attacks wouldn’t succeed so attackers wouldn’t try</a:t>
            </a:r>
          </a:p>
          <a:p>
            <a:pPr lvl="1"/>
            <a:r>
              <a:rPr lang="en-US" sz="1600" dirty="0"/>
              <a:t>even though we’re individually better off by paying, we’re collectively better off if nobody pays</a:t>
            </a:r>
          </a:p>
        </p:txBody>
      </p:sp>
    </p:spTree>
    <p:extLst>
      <p:ext uri="{BB962C8B-B14F-4D97-AF65-F5344CB8AC3E}">
        <p14:creationId xmlns:p14="http://schemas.microsoft.com/office/powerpoint/2010/main" val="296310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1062A0-6391-4E19-B466-8875D69A6940}"/>
              </a:ext>
            </a:extLst>
          </p:cNvPr>
          <p:cNvSpPr>
            <a:spLocks noGrp="1"/>
          </p:cNvSpPr>
          <p:nvPr>
            <p:ph type="title"/>
          </p:nvPr>
        </p:nvSpPr>
        <p:spPr>
          <a:xfrm>
            <a:off x="685800" y="1962150"/>
            <a:ext cx="7772400" cy="1021556"/>
          </a:xfrm>
        </p:spPr>
        <p:txBody>
          <a:bodyPr/>
          <a:lstStyle/>
          <a:p>
            <a:pPr algn="ctr"/>
            <a:r>
              <a:rPr lang="en-CA" dirty="0"/>
              <a:t>SOCIAL CONTRACT THEORY</a:t>
            </a:r>
          </a:p>
        </p:txBody>
      </p:sp>
    </p:spTree>
    <p:extLst>
      <p:ext uri="{BB962C8B-B14F-4D97-AF65-F5344CB8AC3E}">
        <p14:creationId xmlns:p14="http://schemas.microsoft.com/office/powerpoint/2010/main" val="2678835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0826CA2-C3BE-4486-A772-FBA0CDD74724}"/>
              </a:ext>
            </a:extLst>
          </p:cNvPr>
          <p:cNvSpPr>
            <a:spLocks noGrp="1" noChangeArrowheads="1"/>
          </p:cNvSpPr>
          <p:nvPr>
            <p:ph type="title"/>
          </p:nvPr>
        </p:nvSpPr>
        <p:spPr/>
        <p:txBody>
          <a:bodyPr/>
          <a:lstStyle/>
          <a:p>
            <a:r>
              <a:rPr lang="en-US" altLang="en-US"/>
              <a:t>Social Contract Theory</a:t>
            </a:r>
          </a:p>
        </p:txBody>
      </p:sp>
      <p:sp>
        <p:nvSpPr>
          <p:cNvPr id="15363" name="Rectangle 3">
            <a:extLst>
              <a:ext uri="{FF2B5EF4-FFF2-40B4-BE49-F238E27FC236}">
                <a16:creationId xmlns:a16="http://schemas.microsoft.com/office/drawing/2014/main" id="{DBBACF1E-5834-45FB-8B15-4AF499275E0B}"/>
              </a:ext>
            </a:extLst>
          </p:cNvPr>
          <p:cNvSpPr>
            <a:spLocks noGrp="1" noChangeArrowheads="1"/>
          </p:cNvSpPr>
          <p:nvPr>
            <p:ph type="body" idx="1"/>
          </p:nvPr>
        </p:nvSpPr>
        <p:spPr/>
        <p:txBody>
          <a:bodyPr/>
          <a:lstStyle/>
          <a:p>
            <a:r>
              <a:rPr lang="en-US" altLang="en-US"/>
              <a:t>Thomas Hobbes</a:t>
            </a:r>
          </a:p>
          <a:p>
            <a:pPr lvl="1"/>
            <a:r>
              <a:rPr lang="en-US" altLang="en-US"/>
              <a:t>“State of nature”</a:t>
            </a:r>
          </a:p>
          <a:p>
            <a:pPr lvl="1"/>
            <a:r>
              <a:rPr lang="en-US" altLang="en-US"/>
              <a:t>We implicitly accept a social contract</a:t>
            </a:r>
          </a:p>
          <a:p>
            <a:pPr lvl="2"/>
            <a:r>
              <a:rPr lang="en-US" altLang="en-US"/>
              <a:t>Establishment of moral rules to govern relations among citizens</a:t>
            </a:r>
          </a:p>
          <a:p>
            <a:pPr lvl="2"/>
            <a:r>
              <a:rPr lang="en-US" altLang="en-US"/>
              <a:t>Government capable of enforcing these rules</a:t>
            </a:r>
          </a:p>
          <a:p>
            <a:pPr lvl="2"/>
            <a:endParaRPr lang="en-US" altLang="en-US"/>
          </a:p>
          <a:p>
            <a:r>
              <a:rPr lang="en-US" altLang="en-US"/>
              <a:t>Jean-Jacques Rousseau</a:t>
            </a:r>
          </a:p>
          <a:p>
            <a:pPr lvl="1"/>
            <a:r>
              <a:rPr lang="en-US" altLang="en-US"/>
              <a:t>In ideal society, no one above rules</a:t>
            </a:r>
          </a:p>
          <a:p>
            <a:pPr lvl="1"/>
            <a:r>
              <a:rPr lang="en-US" altLang="en-US"/>
              <a:t>That prevents society from enacting bad rules</a:t>
            </a:r>
          </a:p>
          <a:p>
            <a:endParaRPr lang="en-US" altLang="en-US" dirty="0"/>
          </a:p>
        </p:txBody>
      </p:sp>
      <p:pic>
        <p:nvPicPr>
          <p:cNvPr id="10" name="Picture 5" descr="http://upload.wikimedia.org/wikipedia/commons/d/d8/Thomas_Hobbes_%28portrait%29.jpg">
            <a:extLst>
              <a:ext uri="{FF2B5EF4-FFF2-40B4-BE49-F238E27FC236}">
                <a16:creationId xmlns:a16="http://schemas.microsoft.com/office/drawing/2014/main" id="{0325FA47-0CD8-47B6-8C4F-914FC9381A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610" y="713014"/>
            <a:ext cx="1609725" cy="16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descr="http://www.picpicx.com/wp-content/uploads/2014/09/bd3e5c72232e7ef949eb67cb1fbca2ea.jpg">
            <a:extLst>
              <a:ext uri="{FF2B5EF4-FFF2-40B4-BE49-F238E27FC236}">
                <a16:creationId xmlns:a16="http://schemas.microsoft.com/office/drawing/2014/main" id="{D491491F-80B9-4641-9B80-41CBF9FB56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5420" y="2806132"/>
            <a:ext cx="1612106" cy="1888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
            <a:extLst>
              <a:ext uri="{FF2B5EF4-FFF2-40B4-BE49-F238E27FC236}">
                <a16:creationId xmlns:a16="http://schemas.microsoft.com/office/drawing/2014/main" id="{8E2C1A1A-1115-491C-9A0F-E20B6BAFC37B}"/>
              </a:ext>
            </a:extLst>
          </p:cNvPr>
          <p:cNvSpPr txBox="1">
            <a:spLocks noChangeArrowheads="1"/>
          </p:cNvSpPr>
          <p:nvPr/>
        </p:nvSpPr>
        <p:spPr bwMode="auto">
          <a:xfrm>
            <a:off x="7019460" y="2406082"/>
            <a:ext cx="13144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Times" panose="02020603050405020304" pitchFamily="18" charset="0"/>
              <a:buChar char="•"/>
              <a:defRPr sz="2800">
                <a:solidFill>
                  <a:schemeClr val="tx1"/>
                </a:solidFill>
                <a:latin typeface="Calibri" panose="020F0502020204030204" pitchFamily="34" charset="0"/>
                <a:ea typeface="ヒラギノ角ゴ Pro W3" pitchFamily="-48" charset="-128"/>
                <a:cs typeface="Calibri" panose="020F0502020204030204" pitchFamily="34" charset="0"/>
              </a:defRPr>
            </a:lvl1pPr>
            <a:lvl2pPr marL="742950" indent="-285750">
              <a:spcBef>
                <a:spcPct val="20000"/>
              </a:spcBef>
              <a:buClr>
                <a:schemeClr val="bg2"/>
              </a:buClr>
              <a:buChar char="–"/>
              <a:defRPr sz="2400">
                <a:solidFill>
                  <a:schemeClr val="tx1"/>
                </a:solidFill>
                <a:latin typeface="Calibri" panose="020F0502020204030204" pitchFamily="34" charset="0"/>
                <a:ea typeface="ヒラギノ角ゴ Pro W3" pitchFamily="-48" charset="-128"/>
                <a:cs typeface="Calibri" panose="020F0502020204030204" pitchFamily="34" charset="0"/>
              </a:defRPr>
            </a:lvl2pPr>
            <a:lvl3pPr marL="1143000" indent="-228600">
              <a:spcBef>
                <a:spcPct val="20000"/>
              </a:spcBef>
              <a:buClr>
                <a:schemeClr val="bg2"/>
              </a:buClr>
              <a:buChar char="•"/>
              <a:defRPr sz="2000">
                <a:solidFill>
                  <a:schemeClr val="tx1"/>
                </a:solidFill>
                <a:latin typeface="Calibri" panose="020F0502020204030204" pitchFamily="34" charset="0"/>
                <a:ea typeface="ヒラギノ角ゴ Pro W3" pitchFamily="-48" charset="-128"/>
                <a:cs typeface="Calibri" panose="020F0502020204030204" pitchFamily="34" charset="0"/>
              </a:defRPr>
            </a:lvl3pPr>
            <a:lvl4pPr marL="1600200" indent="-228600">
              <a:spcBef>
                <a:spcPct val="20000"/>
              </a:spcBef>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4pPr>
            <a:lvl5pPr marL="2057400" indent="-228600">
              <a:spcBef>
                <a:spcPct val="20000"/>
              </a:spcBef>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5pPr>
            <a:lvl6pPr marL="25146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6pPr>
            <a:lvl7pPr marL="29718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7pPr>
            <a:lvl8pPr marL="34290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8pPr>
            <a:lvl9pPr marL="38862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9pPr>
          </a:lstStyle>
          <a:p>
            <a:pPr>
              <a:spcBef>
                <a:spcPct val="0"/>
              </a:spcBef>
              <a:buClrTx/>
              <a:buFontTx/>
              <a:buNone/>
            </a:pPr>
            <a:r>
              <a:rPr lang="en-US" altLang="en-US" sz="1050" b="0">
                <a:latin typeface="Arial" panose="020B0604020202020204" pitchFamily="34" charset="0"/>
              </a:rPr>
              <a:t>1588-1679</a:t>
            </a:r>
            <a:endParaRPr lang="en-US" altLang="en-US" sz="1800" b="0">
              <a:latin typeface="Arial" panose="020B0604020202020204" pitchFamily="34" charset="0"/>
            </a:endParaRPr>
          </a:p>
        </p:txBody>
      </p:sp>
      <p:sp>
        <p:nvSpPr>
          <p:cNvPr id="13" name="TextBox 6">
            <a:extLst>
              <a:ext uri="{FF2B5EF4-FFF2-40B4-BE49-F238E27FC236}">
                <a16:creationId xmlns:a16="http://schemas.microsoft.com/office/drawing/2014/main" id="{18D277C1-5E6D-4AAF-99D6-6C08AEFCCDB9}"/>
              </a:ext>
            </a:extLst>
          </p:cNvPr>
          <p:cNvSpPr txBox="1">
            <a:spLocks noChangeArrowheads="1"/>
          </p:cNvSpPr>
          <p:nvPr/>
        </p:nvSpPr>
        <p:spPr bwMode="auto">
          <a:xfrm>
            <a:off x="7019460" y="4693273"/>
            <a:ext cx="13144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Font typeface="Times" panose="02020603050405020304" pitchFamily="18" charset="0"/>
              <a:buChar char="•"/>
              <a:defRPr sz="2800">
                <a:solidFill>
                  <a:schemeClr val="tx1"/>
                </a:solidFill>
                <a:latin typeface="Calibri" panose="020F0502020204030204" pitchFamily="34" charset="0"/>
                <a:ea typeface="ヒラギノ角ゴ Pro W3" pitchFamily="-48" charset="-128"/>
                <a:cs typeface="Calibri" panose="020F0502020204030204" pitchFamily="34" charset="0"/>
              </a:defRPr>
            </a:lvl1pPr>
            <a:lvl2pPr marL="742950" indent="-285750">
              <a:spcBef>
                <a:spcPct val="20000"/>
              </a:spcBef>
              <a:buClr>
                <a:schemeClr val="bg2"/>
              </a:buClr>
              <a:buChar char="–"/>
              <a:defRPr sz="2400">
                <a:solidFill>
                  <a:schemeClr val="tx1"/>
                </a:solidFill>
                <a:latin typeface="Calibri" panose="020F0502020204030204" pitchFamily="34" charset="0"/>
                <a:ea typeface="ヒラギノ角ゴ Pro W3" pitchFamily="-48" charset="-128"/>
                <a:cs typeface="Calibri" panose="020F0502020204030204" pitchFamily="34" charset="0"/>
              </a:defRPr>
            </a:lvl2pPr>
            <a:lvl3pPr marL="1143000" indent="-228600">
              <a:spcBef>
                <a:spcPct val="20000"/>
              </a:spcBef>
              <a:buClr>
                <a:schemeClr val="bg2"/>
              </a:buClr>
              <a:buChar char="•"/>
              <a:defRPr sz="2000">
                <a:solidFill>
                  <a:schemeClr val="tx1"/>
                </a:solidFill>
                <a:latin typeface="Calibri" panose="020F0502020204030204" pitchFamily="34" charset="0"/>
                <a:ea typeface="ヒラギノ角ゴ Pro W3" pitchFamily="-48" charset="-128"/>
                <a:cs typeface="Calibri" panose="020F0502020204030204" pitchFamily="34" charset="0"/>
              </a:defRPr>
            </a:lvl3pPr>
            <a:lvl4pPr marL="1600200" indent="-228600">
              <a:spcBef>
                <a:spcPct val="20000"/>
              </a:spcBef>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4pPr>
            <a:lvl5pPr marL="2057400" indent="-228600">
              <a:spcBef>
                <a:spcPct val="20000"/>
              </a:spcBef>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5pPr>
            <a:lvl6pPr marL="25146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6pPr>
            <a:lvl7pPr marL="29718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7pPr>
            <a:lvl8pPr marL="34290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8pPr>
            <a:lvl9pPr marL="38862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9pPr>
          </a:lstStyle>
          <a:p>
            <a:pPr>
              <a:spcBef>
                <a:spcPct val="0"/>
              </a:spcBef>
              <a:buClrTx/>
              <a:buFontTx/>
              <a:buNone/>
            </a:pPr>
            <a:r>
              <a:rPr lang="en-US" altLang="en-US" sz="1050" b="0">
                <a:latin typeface="Arial" panose="020B0604020202020204" pitchFamily="34" charset="0"/>
              </a:rPr>
              <a:t>1712-1778</a:t>
            </a:r>
            <a:endParaRPr lang="en-US" altLang="en-US" sz="1800" b="0">
              <a:latin typeface="Arial" panose="020B0604020202020204" pitchFamily="34" charset="0"/>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36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6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9B79AFC-F4BA-4B0C-BCE8-04E3C5ADD043}"/>
              </a:ext>
            </a:extLst>
          </p:cNvPr>
          <p:cNvSpPr>
            <a:spLocks noGrp="1" noChangeArrowheads="1"/>
          </p:cNvSpPr>
          <p:nvPr>
            <p:ph type="title"/>
          </p:nvPr>
        </p:nvSpPr>
        <p:spPr/>
        <p:txBody>
          <a:bodyPr>
            <a:normAutofit/>
          </a:bodyPr>
          <a:lstStyle/>
          <a:p>
            <a:r>
              <a:rPr lang="en-US" altLang="en-US" dirty="0"/>
              <a:t>Social Contract Theory Definition of Morality</a:t>
            </a:r>
          </a:p>
        </p:txBody>
      </p:sp>
      <p:sp>
        <p:nvSpPr>
          <p:cNvPr id="3" name="Content Placeholder 2">
            <a:extLst>
              <a:ext uri="{FF2B5EF4-FFF2-40B4-BE49-F238E27FC236}">
                <a16:creationId xmlns:a16="http://schemas.microsoft.com/office/drawing/2014/main" id="{80E0DD67-DABA-4397-9A79-EB222EAF7D12}"/>
              </a:ext>
            </a:extLst>
          </p:cNvPr>
          <p:cNvSpPr>
            <a:spLocks noGrp="1"/>
          </p:cNvSpPr>
          <p:nvPr>
            <p:ph idx="1"/>
          </p:nvPr>
        </p:nvSpPr>
        <p:spPr/>
        <p:txBody>
          <a:bodyPr/>
          <a:lstStyle/>
          <a:p>
            <a:pPr>
              <a:spcBef>
                <a:spcPct val="0"/>
              </a:spcBef>
              <a:buClrTx/>
              <a:buFontTx/>
              <a:buNone/>
            </a:pPr>
            <a:r>
              <a:rPr lang="en-US" altLang="en-US" sz="2400" dirty="0"/>
              <a:t>James Rachels:</a:t>
            </a:r>
          </a:p>
          <a:p>
            <a:pPr>
              <a:spcBef>
                <a:spcPct val="0"/>
              </a:spcBef>
              <a:buClrTx/>
              <a:buFontTx/>
              <a:buNone/>
            </a:pPr>
            <a:endParaRPr lang="en-US" altLang="en-US" sz="2400" dirty="0"/>
          </a:p>
          <a:p>
            <a:pPr>
              <a:spcBef>
                <a:spcPct val="0"/>
              </a:spcBef>
              <a:buClrTx/>
              <a:buFontTx/>
              <a:buNone/>
            </a:pPr>
            <a:r>
              <a:rPr lang="en-US" altLang="en-US" sz="2400" dirty="0"/>
              <a:t>	“Morality consists in the set of rules, governing how people are to treat one another, that rational people will agree to accept, for their mutual benefit, on the condition that others follow those rules as well.”</a:t>
            </a:r>
          </a:p>
          <a:p>
            <a:pPr>
              <a:spcBef>
                <a:spcPct val="0"/>
              </a:spcBef>
              <a:buClrTx/>
              <a:buFontTx/>
              <a:buNone/>
            </a:pPr>
            <a:endParaRPr lang="en-US" altLang="en-US" sz="2400" dirty="0"/>
          </a:p>
          <a:p>
            <a:pPr>
              <a:spcBef>
                <a:spcPct val="0"/>
              </a:spcBef>
              <a:buClrTx/>
              <a:buFontTx/>
              <a:buNone/>
            </a:pPr>
            <a:endParaRPr lang="en-US" altLang="en-US" sz="2400"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CD3BCFF-9F72-455E-A4D7-A85DEF2217A8}"/>
              </a:ext>
            </a:extLst>
          </p:cNvPr>
          <p:cNvSpPr>
            <a:spLocks noGrp="1" noChangeArrowheads="1"/>
          </p:cNvSpPr>
          <p:nvPr>
            <p:ph type="title"/>
          </p:nvPr>
        </p:nvSpPr>
        <p:spPr/>
        <p:txBody>
          <a:bodyPr/>
          <a:lstStyle/>
          <a:p>
            <a:r>
              <a:rPr lang="en-US" altLang="en-US"/>
              <a:t>Kinds of Rights</a:t>
            </a:r>
          </a:p>
        </p:txBody>
      </p:sp>
      <p:sp>
        <p:nvSpPr>
          <p:cNvPr id="17411" name="Rectangle 3">
            <a:extLst>
              <a:ext uri="{FF2B5EF4-FFF2-40B4-BE49-F238E27FC236}">
                <a16:creationId xmlns:a16="http://schemas.microsoft.com/office/drawing/2014/main" id="{2768605B-2500-43B1-9C2E-16E6DC6A852C}"/>
              </a:ext>
            </a:extLst>
          </p:cNvPr>
          <p:cNvSpPr>
            <a:spLocks noGrp="1" noChangeArrowheads="1"/>
          </p:cNvSpPr>
          <p:nvPr>
            <p:ph type="body" idx="1"/>
          </p:nvPr>
        </p:nvSpPr>
        <p:spPr/>
        <p:txBody>
          <a:bodyPr/>
          <a:lstStyle/>
          <a:p>
            <a:r>
              <a:rPr lang="en-US" altLang="en-US" dirty="0"/>
              <a:t>Negative right: </a:t>
            </a:r>
          </a:p>
          <a:p>
            <a:pPr lvl="1"/>
            <a:r>
              <a:rPr lang="en-US" altLang="en-US" dirty="0"/>
              <a:t>A right that another can guarantee by leaving you alone</a:t>
            </a:r>
          </a:p>
          <a:p>
            <a:r>
              <a:rPr lang="en-US" altLang="en-US" dirty="0"/>
              <a:t>Positive right: </a:t>
            </a:r>
          </a:p>
          <a:p>
            <a:pPr lvl="1"/>
            <a:r>
              <a:rPr lang="en-US" altLang="en-US" dirty="0"/>
              <a:t>A right obliging others to do something on your behalf</a:t>
            </a:r>
          </a:p>
          <a:p>
            <a:r>
              <a:rPr lang="en-US" altLang="en-US" dirty="0"/>
              <a:t>Absolute right: </a:t>
            </a:r>
          </a:p>
          <a:p>
            <a:pPr lvl="1"/>
            <a:r>
              <a:rPr lang="en-US" altLang="en-US" dirty="0"/>
              <a:t>A right guaranteed without exception</a:t>
            </a:r>
          </a:p>
          <a:p>
            <a:r>
              <a:rPr lang="en-US" altLang="en-US" dirty="0"/>
              <a:t>Limited right: </a:t>
            </a:r>
          </a:p>
          <a:p>
            <a:pPr lvl="1"/>
            <a:r>
              <a:rPr lang="en-US" altLang="en-US" dirty="0"/>
              <a:t>A right that may be restricted based on the circumstances</a:t>
            </a:r>
          </a:p>
          <a:p>
            <a:r>
              <a:rPr lang="en-US" altLang="en-US" dirty="0"/>
              <a:t>Positive rights tend to be more limited</a:t>
            </a:r>
          </a:p>
          <a:p>
            <a:r>
              <a:rPr lang="en-US" altLang="en-US" dirty="0"/>
              <a:t>Negative rights tends to be more absolute</a:t>
            </a:r>
          </a:p>
          <a:p>
            <a:endParaRPr lang="en-US" alt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41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411">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1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411">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4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D399D1A-0109-45F0-A227-20DAB11DAC21}"/>
              </a:ext>
            </a:extLst>
          </p:cNvPr>
          <p:cNvSpPr>
            <a:spLocks noGrp="1" noChangeArrowheads="1"/>
          </p:cNvSpPr>
          <p:nvPr>
            <p:ph type="title"/>
          </p:nvPr>
        </p:nvSpPr>
        <p:spPr/>
        <p:txBody>
          <a:bodyPr/>
          <a:lstStyle/>
          <a:p>
            <a:r>
              <a:rPr lang="en-US" altLang="en-US"/>
              <a:t>John Rawls’s Principles of Justice</a:t>
            </a:r>
          </a:p>
        </p:txBody>
      </p:sp>
      <p:sp>
        <p:nvSpPr>
          <p:cNvPr id="29699" name="Rectangle 3">
            <a:extLst>
              <a:ext uri="{FF2B5EF4-FFF2-40B4-BE49-F238E27FC236}">
                <a16:creationId xmlns:a16="http://schemas.microsoft.com/office/drawing/2014/main" id="{35D05F64-F740-464D-8563-7093342F8E84}"/>
              </a:ext>
            </a:extLst>
          </p:cNvPr>
          <p:cNvSpPr>
            <a:spLocks noGrp="1" noChangeArrowheads="1"/>
          </p:cNvSpPr>
          <p:nvPr>
            <p:ph type="body" idx="1"/>
          </p:nvPr>
        </p:nvSpPr>
        <p:spPr>
          <a:xfrm>
            <a:off x="457200" y="971550"/>
            <a:ext cx="6629400" cy="4000500"/>
          </a:xfrm>
        </p:spPr>
        <p:txBody>
          <a:bodyPr>
            <a:normAutofit/>
          </a:bodyPr>
          <a:lstStyle/>
          <a:p>
            <a:pPr marL="0" indent="0">
              <a:buNone/>
            </a:pPr>
            <a:r>
              <a:rPr lang="en-US" altLang="en-US" dirty="0"/>
              <a:t>Rawls argues that we can have preferences across different social contracts</a:t>
            </a:r>
          </a:p>
          <a:p>
            <a:pPr marL="457200" indent="-457200">
              <a:buFont typeface="+mj-lt"/>
              <a:buAutoNum type="arabicPeriod"/>
            </a:pPr>
            <a:r>
              <a:rPr lang="en-US" altLang="en-US" dirty="0"/>
              <a:t>Better for each person to be able to claim a “fully adequate” number of basic rights and liberties, so long as these claims are consistent with everyone else making the same claims</a:t>
            </a:r>
          </a:p>
          <a:p>
            <a:pPr marL="457200" indent="-457200">
              <a:buFont typeface="+mj-lt"/>
              <a:buAutoNum type="arabicPeriod"/>
            </a:pPr>
            <a:r>
              <a:rPr lang="en-US" altLang="en-US" dirty="0"/>
              <a:t>Any social and economic inequalities must</a:t>
            </a:r>
          </a:p>
          <a:p>
            <a:pPr lvl="1"/>
            <a:r>
              <a:rPr lang="en-US" altLang="en-US" dirty="0"/>
              <a:t>Be associated with positions that everyone has a fair and equal opportunity to achieve</a:t>
            </a:r>
          </a:p>
          <a:p>
            <a:pPr lvl="1"/>
            <a:r>
              <a:rPr lang="en-US" altLang="en-US" dirty="0"/>
              <a:t>Be to the greatest benefit of the least-advantaged members of society (the difference principle)</a:t>
            </a:r>
          </a:p>
          <a:p>
            <a:pPr lvl="2"/>
            <a:endParaRPr lang="en-US" altLang="en-US" dirty="0"/>
          </a:p>
        </p:txBody>
      </p:sp>
      <p:pic>
        <p:nvPicPr>
          <p:cNvPr id="18436" name="Picture 5" descr="http://upload.wikimedia.org/wikipedia/en/3/3d/John_Rawls.jpg">
            <a:extLst>
              <a:ext uri="{FF2B5EF4-FFF2-40B4-BE49-F238E27FC236}">
                <a16:creationId xmlns:a16="http://schemas.microsoft.com/office/drawing/2014/main" id="{E2A6BD5E-2971-4507-8B45-E90B5E3E30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1004026"/>
            <a:ext cx="1714500" cy="24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69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F8AE7CD6-54FD-421B-B2EE-693DEDFB19E3}"/>
              </a:ext>
            </a:extLst>
          </p:cNvPr>
          <p:cNvSpPr>
            <a:spLocks noGrp="1" noChangeArrowheads="1"/>
          </p:cNvSpPr>
          <p:nvPr>
            <p:ph type="title"/>
          </p:nvPr>
        </p:nvSpPr>
        <p:spPr/>
        <p:txBody>
          <a:bodyPr/>
          <a:lstStyle/>
          <a:p>
            <a:r>
              <a:rPr lang="en-US" altLang="en-US"/>
              <a:t>Rawls’s Difference Principle</a:t>
            </a:r>
          </a:p>
        </p:txBody>
      </p:sp>
      <p:pic>
        <p:nvPicPr>
          <p:cNvPr id="19459" name="Picture 6" descr="qui02f08">
            <a:extLst>
              <a:ext uri="{FF2B5EF4-FFF2-40B4-BE49-F238E27FC236}">
                <a16:creationId xmlns:a16="http://schemas.microsoft.com/office/drawing/2014/main" id="{EC0B08C0-1B2D-4A64-9414-C5E5D87755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1123950"/>
            <a:ext cx="5257800" cy="372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10745A1-1DDB-4C14-BCD1-497129817017}"/>
              </a:ext>
            </a:extLst>
          </p:cNvPr>
          <p:cNvSpPr>
            <a:spLocks noGrp="1" noChangeArrowheads="1"/>
          </p:cNvSpPr>
          <p:nvPr>
            <p:ph type="title"/>
          </p:nvPr>
        </p:nvSpPr>
        <p:spPr/>
        <p:txBody>
          <a:bodyPr/>
          <a:lstStyle/>
          <a:p>
            <a:r>
              <a:rPr lang="en-US" altLang="en-US"/>
              <a:t>Case for Social Contract Theory</a:t>
            </a:r>
          </a:p>
        </p:txBody>
      </p:sp>
      <p:sp>
        <p:nvSpPr>
          <p:cNvPr id="24579" name="Rectangle 3">
            <a:extLst>
              <a:ext uri="{FF2B5EF4-FFF2-40B4-BE49-F238E27FC236}">
                <a16:creationId xmlns:a16="http://schemas.microsoft.com/office/drawing/2014/main" id="{84B0A9B4-9A9F-42B2-9BEE-6FD16DC30C7F}"/>
              </a:ext>
            </a:extLst>
          </p:cNvPr>
          <p:cNvSpPr>
            <a:spLocks noGrp="1" noChangeArrowheads="1"/>
          </p:cNvSpPr>
          <p:nvPr>
            <p:ph type="body" idx="1"/>
          </p:nvPr>
        </p:nvSpPr>
        <p:spPr/>
        <p:txBody>
          <a:bodyPr/>
          <a:lstStyle/>
          <a:p>
            <a:r>
              <a:rPr lang="en-US" altLang="en-US" dirty="0"/>
              <a:t>Framed in language of rights</a:t>
            </a:r>
          </a:p>
          <a:p>
            <a:pPr lvl="1"/>
            <a:r>
              <a:rPr lang="en-US" altLang="en-US" dirty="0"/>
              <a:t>Intuitive and natural</a:t>
            </a:r>
          </a:p>
          <a:p>
            <a:r>
              <a:rPr lang="en-US" altLang="en-US" dirty="0"/>
              <a:t>Explains why people act in self-interest without </a:t>
            </a:r>
            <a:br>
              <a:rPr lang="en-US" altLang="en-US" dirty="0"/>
            </a:br>
            <a:r>
              <a:rPr lang="en-US" altLang="en-US" dirty="0"/>
              <a:t>common agreement</a:t>
            </a:r>
          </a:p>
          <a:p>
            <a:pPr lvl="1"/>
            <a:r>
              <a:rPr lang="en-US" altLang="en-US" dirty="0"/>
              <a:t>Logically, it’s the best thing to do</a:t>
            </a:r>
          </a:p>
          <a:p>
            <a:pPr lvl="1"/>
            <a:r>
              <a:rPr lang="en-US" altLang="en-US" dirty="0"/>
              <a:t>See “Tragedy of the commons”</a:t>
            </a:r>
          </a:p>
          <a:p>
            <a:r>
              <a:rPr lang="en-US" altLang="en-US" dirty="0"/>
              <a:t>Provides clear analysis of certain citizen/government problems</a:t>
            </a:r>
          </a:p>
          <a:p>
            <a:pPr lvl="1"/>
            <a:r>
              <a:rPr lang="en-US" altLang="en-US" dirty="0"/>
              <a:t>Why is it right to punish someone for a crime?</a:t>
            </a:r>
          </a:p>
          <a:p>
            <a:pPr lvl="1"/>
            <a:r>
              <a:rPr lang="en-US" altLang="en-US" dirty="0"/>
              <a:t>Why is civil disobedience justifiable?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5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57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57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57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5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5DB295F-5947-4BD1-9A99-3A39DFE99B89}"/>
              </a:ext>
            </a:extLst>
          </p:cNvPr>
          <p:cNvSpPr>
            <a:spLocks noGrp="1" noChangeArrowheads="1"/>
          </p:cNvSpPr>
          <p:nvPr>
            <p:ph type="title"/>
          </p:nvPr>
        </p:nvSpPr>
        <p:spPr/>
        <p:txBody>
          <a:bodyPr/>
          <a:lstStyle/>
          <a:p>
            <a:r>
              <a:rPr lang="en-US" altLang="en-US"/>
              <a:t>Case Against Social Contract Theory</a:t>
            </a:r>
          </a:p>
        </p:txBody>
      </p:sp>
      <p:sp>
        <p:nvSpPr>
          <p:cNvPr id="25603" name="Rectangle 3">
            <a:extLst>
              <a:ext uri="{FF2B5EF4-FFF2-40B4-BE49-F238E27FC236}">
                <a16:creationId xmlns:a16="http://schemas.microsoft.com/office/drawing/2014/main" id="{45B5409E-AEEE-4724-8F56-C6A60721E043}"/>
              </a:ext>
            </a:extLst>
          </p:cNvPr>
          <p:cNvSpPr>
            <a:spLocks noGrp="1" noChangeArrowheads="1"/>
          </p:cNvSpPr>
          <p:nvPr>
            <p:ph type="body" idx="1"/>
          </p:nvPr>
        </p:nvSpPr>
        <p:spPr/>
        <p:txBody>
          <a:bodyPr/>
          <a:lstStyle/>
          <a:p>
            <a:r>
              <a:rPr lang="en-US" altLang="en-US" dirty="0"/>
              <a:t>No one signed contract</a:t>
            </a:r>
          </a:p>
          <a:p>
            <a:r>
              <a:rPr lang="en-US" altLang="en-US" dirty="0"/>
              <a:t>Some actions have multiple characterizations. In such cases, we don’t learn how to make trade-offs between these conflicting rights.</a:t>
            </a:r>
          </a:p>
          <a:p>
            <a:pPr lvl="1"/>
            <a:r>
              <a:rPr lang="en-US" altLang="en-US" dirty="0"/>
              <a:t>Same problem we saw with Kantianism, though there it was phrased in terms of duties instead of rights.</a:t>
            </a:r>
          </a:p>
          <a:p>
            <a:r>
              <a:rPr lang="en-US" altLang="en-US" dirty="0"/>
              <a:t>May unjustly treat people who cannot uphold contract</a:t>
            </a:r>
          </a:p>
          <a:p>
            <a:pPr lvl="1"/>
            <a:r>
              <a:rPr lang="en-US" altLang="en-US" dirty="0"/>
              <a:t>In principle, we should distinguish between people who can’t follow the contract, and those who choose not to.</a:t>
            </a:r>
          </a:p>
          <a:p>
            <a:pPr lvl="1"/>
            <a:r>
              <a:rPr lang="en-US" altLang="en-US" dirty="0"/>
              <a:t>In practice, this can be hard to do.</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60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60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E1C0141-0872-4723-A73F-229B1C8D9220}"/>
              </a:ext>
            </a:extLst>
          </p:cNvPr>
          <p:cNvSpPr>
            <a:spLocks noGrp="1" noChangeArrowheads="1"/>
          </p:cNvSpPr>
          <p:nvPr>
            <p:ph type="title"/>
          </p:nvPr>
        </p:nvSpPr>
        <p:spPr/>
        <p:txBody>
          <a:bodyPr/>
          <a:lstStyle/>
          <a:p>
            <a:r>
              <a:rPr lang="en-US" altLang="en-US" dirty="0"/>
              <a:t>Movie Streaming Scenario</a:t>
            </a:r>
          </a:p>
        </p:txBody>
      </p:sp>
      <p:sp>
        <p:nvSpPr>
          <p:cNvPr id="20483" name="Rectangle 3">
            <a:extLst>
              <a:ext uri="{FF2B5EF4-FFF2-40B4-BE49-F238E27FC236}">
                <a16:creationId xmlns:a16="http://schemas.microsoft.com/office/drawing/2014/main" id="{B137A399-7405-4F32-BCDF-29DEC79F2B6E}"/>
              </a:ext>
            </a:extLst>
          </p:cNvPr>
          <p:cNvSpPr>
            <a:spLocks noGrp="1" noChangeArrowheads="1"/>
          </p:cNvSpPr>
          <p:nvPr>
            <p:ph type="body" idx="1"/>
          </p:nvPr>
        </p:nvSpPr>
        <p:spPr/>
        <p:txBody>
          <a:bodyPr/>
          <a:lstStyle/>
          <a:p>
            <a:r>
              <a:rPr lang="en-US" altLang="en-US" dirty="0" err="1"/>
              <a:t>InterMovies</a:t>
            </a:r>
            <a:r>
              <a:rPr lang="en-US" altLang="en-US" dirty="0"/>
              <a:t> is a site that streams TV series and movies for a flat monthly fee</a:t>
            </a:r>
          </a:p>
          <a:p>
            <a:r>
              <a:rPr lang="en-US" altLang="en-US" dirty="0"/>
              <a:t>Collects information about media choices from customers</a:t>
            </a:r>
          </a:p>
          <a:p>
            <a:r>
              <a:rPr lang="en-US" altLang="en-US" dirty="0"/>
              <a:t>Constructs profiles of customers</a:t>
            </a:r>
          </a:p>
          <a:p>
            <a:r>
              <a:rPr lang="en-US" altLang="en-US" dirty="0"/>
              <a:t>Sells profiles to direct marketing firms</a:t>
            </a:r>
          </a:p>
          <a:p>
            <a:r>
              <a:rPr lang="en-US" altLang="en-US" dirty="0"/>
              <a:t>Some customers happy to receive more targeted marketing; </a:t>
            </a:r>
            <a:br>
              <a:rPr lang="en-US" altLang="en-US" dirty="0"/>
            </a:br>
            <a:r>
              <a:rPr lang="en-US" altLang="en-US" dirty="0"/>
              <a:t>others unhappy at loss of privacy</a:t>
            </a:r>
          </a:p>
        </p:txBody>
      </p:sp>
    </p:spTree>
    <p:extLst>
      <p:ext uri="{BB962C8B-B14F-4D97-AF65-F5344CB8AC3E}">
        <p14:creationId xmlns:p14="http://schemas.microsoft.com/office/powerpoint/2010/main" val="350832578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FA46AEA-33C5-4018-B567-4D662371736B}"/>
              </a:ext>
            </a:extLst>
          </p:cNvPr>
          <p:cNvSpPr>
            <a:spLocks noGrp="1" noChangeArrowheads="1"/>
          </p:cNvSpPr>
          <p:nvPr>
            <p:ph type="title"/>
          </p:nvPr>
        </p:nvSpPr>
        <p:spPr/>
        <p:txBody>
          <a:bodyPr/>
          <a:lstStyle/>
          <a:p>
            <a:r>
              <a:rPr lang="en-US" altLang="en-US"/>
              <a:t>Evaluation (Social Contract Theory)</a:t>
            </a:r>
          </a:p>
        </p:txBody>
      </p:sp>
      <p:sp>
        <p:nvSpPr>
          <p:cNvPr id="21507" name="Rectangle 3">
            <a:extLst>
              <a:ext uri="{FF2B5EF4-FFF2-40B4-BE49-F238E27FC236}">
                <a16:creationId xmlns:a16="http://schemas.microsoft.com/office/drawing/2014/main" id="{77760A40-D01A-4E91-9671-E9D425395FB4}"/>
              </a:ext>
            </a:extLst>
          </p:cNvPr>
          <p:cNvSpPr>
            <a:spLocks noGrp="1" noChangeArrowheads="1"/>
          </p:cNvSpPr>
          <p:nvPr>
            <p:ph type="body" idx="1"/>
          </p:nvPr>
        </p:nvSpPr>
        <p:spPr/>
        <p:txBody>
          <a:bodyPr/>
          <a:lstStyle/>
          <a:p>
            <a:r>
              <a:rPr lang="en-US" altLang="en-US" dirty="0"/>
              <a:t>Consider rights of </a:t>
            </a:r>
            <a:r>
              <a:rPr lang="en-US" altLang="en-US" dirty="0" err="1"/>
              <a:t>InterMovies</a:t>
            </a:r>
            <a:r>
              <a:rPr lang="en-US" altLang="en-US" dirty="0"/>
              <a:t>, customers, and other companies</a:t>
            </a:r>
          </a:p>
          <a:p>
            <a:r>
              <a:rPr lang="en-US" altLang="en-US" dirty="0"/>
              <a:t>Do customers have the right to expect contact info to be kept confidential?</a:t>
            </a:r>
          </a:p>
          <a:p>
            <a:r>
              <a:rPr lang="en-US" altLang="en-US" dirty="0"/>
              <a:t>If customer watches a show using </a:t>
            </a:r>
            <a:r>
              <a:rPr lang="en-US" altLang="en-US" dirty="0" err="1"/>
              <a:t>InterMovies</a:t>
            </a:r>
            <a:r>
              <a:rPr lang="en-US" altLang="en-US" dirty="0"/>
              <a:t>, who owns information about transaction?</a:t>
            </a:r>
          </a:p>
        </p:txBody>
      </p:sp>
    </p:spTree>
    <p:extLst>
      <p:ext uri="{BB962C8B-B14F-4D97-AF65-F5344CB8AC3E}">
        <p14:creationId xmlns:p14="http://schemas.microsoft.com/office/powerpoint/2010/main" val="92654181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BCADD97-4082-4204-A47F-185002EE15FF}"/>
              </a:ext>
            </a:extLst>
          </p:cNvPr>
          <p:cNvSpPr>
            <a:spLocks noGrp="1" noChangeArrowheads="1"/>
          </p:cNvSpPr>
          <p:nvPr>
            <p:ph type="title"/>
          </p:nvPr>
        </p:nvSpPr>
        <p:spPr/>
        <p:txBody>
          <a:bodyPr/>
          <a:lstStyle/>
          <a:p>
            <a:r>
              <a:rPr lang="en-CA" altLang="en-US"/>
              <a:t>What do you think about InterMovies?	</a:t>
            </a:r>
          </a:p>
        </p:txBody>
      </p:sp>
      <p:sp>
        <p:nvSpPr>
          <p:cNvPr id="3" name="Content Placeholder 2">
            <a:extLst>
              <a:ext uri="{FF2B5EF4-FFF2-40B4-BE49-F238E27FC236}">
                <a16:creationId xmlns:a16="http://schemas.microsoft.com/office/drawing/2014/main" id="{E7556180-62E3-4596-B5FF-496384227658}"/>
              </a:ext>
            </a:extLst>
          </p:cNvPr>
          <p:cNvSpPr>
            <a:spLocks noGrp="1"/>
          </p:cNvSpPr>
          <p:nvPr>
            <p:ph idx="1"/>
          </p:nvPr>
        </p:nvSpPr>
        <p:spPr/>
        <p:txBody>
          <a:bodyPr>
            <a:normAutofit lnSpcReduction="10000"/>
          </a:bodyPr>
          <a:lstStyle/>
          <a:p>
            <a:pPr marL="0" indent="0">
              <a:buNone/>
              <a:defRPr/>
            </a:pPr>
            <a:r>
              <a:rPr lang="en-CA" dirty="0"/>
              <a:t>Let’s explore both scenarios. Working in groups of 3-4 consider whether each point of view can be justified using social contract theory.</a:t>
            </a:r>
          </a:p>
          <a:p>
            <a:pPr marL="0" indent="0">
              <a:buNone/>
              <a:defRPr/>
            </a:pPr>
            <a:endParaRPr lang="en-CA" dirty="0"/>
          </a:p>
          <a:p>
            <a:pPr marL="0" indent="0">
              <a:buNone/>
              <a:defRPr/>
            </a:pPr>
            <a:r>
              <a:rPr lang="en-CA" dirty="0"/>
              <a:t>OPTION A: Customer doesn’t have the right to privacy</a:t>
            </a:r>
          </a:p>
          <a:p>
            <a:pPr marL="0" indent="0">
              <a:buNone/>
              <a:defRPr/>
            </a:pPr>
            <a:r>
              <a:rPr lang="en-CA" dirty="0"/>
              <a:t>OPTION B: Customer does have the right to privacy</a:t>
            </a:r>
          </a:p>
          <a:p>
            <a:pPr marL="0" indent="0">
              <a:buNone/>
              <a:defRPr/>
            </a:pPr>
            <a:endParaRPr lang="en-CA" dirty="0"/>
          </a:p>
          <a:p>
            <a:pPr>
              <a:defRPr/>
            </a:pPr>
            <a:r>
              <a:rPr lang="en-CA" sz="1500" dirty="0"/>
              <a:t>Try to construct a set of rules that rational people would accept as beneficial, </a:t>
            </a:r>
            <a:br>
              <a:rPr lang="en-CA" sz="1500" dirty="0"/>
            </a:br>
            <a:r>
              <a:rPr lang="en-CA" sz="1500" dirty="0"/>
              <a:t>given that others would accept these ideas as well.  </a:t>
            </a:r>
          </a:p>
          <a:p>
            <a:pPr>
              <a:defRPr/>
            </a:pPr>
            <a:r>
              <a:rPr lang="en-CA" sz="1500" dirty="0"/>
              <a:t>Does this system of rules meet Rawls’ conditions?</a:t>
            </a:r>
          </a:p>
          <a:p>
            <a:pPr marL="685800" lvl="2" indent="0">
              <a:buNone/>
              <a:defRPr/>
            </a:pPr>
            <a:endParaRPr lang="en-CA" dirty="0"/>
          </a:p>
        </p:txBody>
      </p:sp>
    </p:spTree>
    <p:extLst>
      <p:ext uri="{BB962C8B-B14F-4D97-AF65-F5344CB8AC3E}">
        <p14:creationId xmlns:p14="http://schemas.microsoft.com/office/powerpoint/2010/main" val="2621988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CCB8B0-4868-4F55-83ED-BE4669AC098B}"/>
              </a:ext>
            </a:extLst>
          </p:cNvPr>
          <p:cNvSpPr>
            <a:spLocks noGrp="1" noChangeArrowheads="1"/>
          </p:cNvSpPr>
          <p:nvPr>
            <p:ph idx="1"/>
          </p:nvPr>
        </p:nvSpPr>
        <p:spPr>
          <a:xfrm>
            <a:off x="1370410" y="1428750"/>
            <a:ext cx="6629400" cy="2514600"/>
          </a:xfrm>
        </p:spPr>
        <p:txBody>
          <a:bodyPr/>
          <a:lstStyle/>
          <a:p>
            <a:pPr marL="0" indent="0">
              <a:buNone/>
            </a:pPr>
            <a:endParaRPr lang="en-CA" altLang="en-US"/>
          </a:p>
          <a:p>
            <a:pPr marL="0" indent="0">
              <a:buNone/>
            </a:pPr>
            <a:r>
              <a:rPr lang="en-CA" altLang="en-US"/>
              <a:t>Let’s vote:	</a:t>
            </a:r>
          </a:p>
          <a:p>
            <a:pPr lvl="1"/>
            <a:r>
              <a:rPr lang="en-CA" altLang="en-US"/>
              <a:t>We can justify the no-privacy scenario</a:t>
            </a:r>
          </a:p>
          <a:p>
            <a:pPr lvl="1"/>
            <a:r>
              <a:rPr lang="en-CA" altLang="en-US"/>
              <a:t>We can justify the privacy scenario</a:t>
            </a:r>
          </a:p>
          <a:p>
            <a:pPr lvl="1"/>
            <a:r>
              <a:rPr lang="en-CA" altLang="en-US"/>
              <a:t>Which social contract would you prefer</a:t>
            </a:r>
          </a:p>
          <a:p>
            <a:pPr marL="0" indent="0">
              <a:buNone/>
            </a:pPr>
            <a:endParaRPr lang="en-US" altLang="en-US"/>
          </a:p>
        </p:txBody>
      </p:sp>
    </p:spTree>
    <p:extLst>
      <p:ext uri="{BB962C8B-B14F-4D97-AF65-F5344CB8AC3E}">
        <p14:creationId xmlns:p14="http://schemas.microsoft.com/office/powerpoint/2010/main" val="2821696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1062A0-6391-4E19-B466-8875D69A6940}"/>
              </a:ext>
            </a:extLst>
          </p:cNvPr>
          <p:cNvSpPr>
            <a:spLocks noGrp="1"/>
          </p:cNvSpPr>
          <p:nvPr>
            <p:ph type="title"/>
          </p:nvPr>
        </p:nvSpPr>
        <p:spPr>
          <a:xfrm>
            <a:off x="685800" y="1962150"/>
            <a:ext cx="7772400" cy="1021556"/>
          </a:xfrm>
        </p:spPr>
        <p:txBody>
          <a:bodyPr/>
          <a:lstStyle/>
          <a:p>
            <a:pPr algn="ctr"/>
            <a:r>
              <a:rPr lang="en-CA" dirty="0"/>
              <a:t>VIRTUE ETHICS</a:t>
            </a:r>
          </a:p>
        </p:txBody>
      </p:sp>
    </p:spTree>
    <p:extLst>
      <p:ext uri="{BB962C8B-B14F-4D97-AF65-F5344CB8AC3E}">
        <p14:creationId xmlns:p14="http://schemas.microsoft.com/office/powerpoint/2010/main" val="109392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2AF3FD10-C60C-4E4E-98F2-B283B9D09A6C}"/>
              </a:ext>
            </a:extLst>
          </p:cNvPr>
          <p:cNvSpPr>
            <a:spLocks noGrp="1" noChangeArrowheads="1"/>
          </p:cNvSpPr>
          <p:nvPr>
            <p:ph type="title"/>
          </p:nvPr>
        </p:nvSpPr>
        <p:spPr/>
        <p:txBody>
          <a:bodyPr/>
          <a:lstStyle/>
          <a:p>
            <a:r>
              <a:rPr lang="en-CA" altLang="en-US"/>
              <a:t>Virtue Ethics</a:t>
            </a:r>
          </a:p>
        </p:txBody>
      </p:sp>
      <p:sp>
        <p:nvSpPr>
          <p:cNvPr id="26627" name="Content Placeholder 2">
            <a:extLst>
              <a:ext uri="{FF2B5EF4-FFF2-40B4-BE49-F238E27FC236}">
                <a16:creationId xmlns:a16="http://schemas.microsoft.com/office/drawing/2014/main" id="{832B0A2D-D554-4289-9431-F53F37A45CFB}"/>
              </a:ext>
            </a:extLst>
          </p:cNvPr>
          <p:cNvSpPr>
            <a:spLocks noGrp="1" noChangeArrowheads="1"/>
          </p:cNvSpPr>
          <p:nvPr>
            <p:ph idx="1"/>
          </p:nvPr>
        </p:nvSpPr>
        <p:spPr>
          <a:xfrm>
            <a:off x="457200" y="971550"/>
            <a:ext cx="6477000" cy="4000500"/>
          </a:xfrm>
        </p:spPr>
        <p:txBody>
          <a:bodyPr/>
          <a:lstStyle/>
          <a:p>
            <a:r>
              <a:rPr lang="en-CA" altLang="en-US" dirty="0"/>
              <a:t>Aristotle: true happiness and human flourishing lies in living a life of virtue</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marL="300037" lvl="1" indent="0">
              <a:buNone/>
            </a:pPr>
            <a:endParaRPr lang="en-CA" altLang="en-US" dirty="0"/>
          </a:p>
          <a:p>
            <a:pPr lvl="1"/>
            <a:r>
              <a:rPr lang="en-CA" altLang="en-US" dirty="0"/>
              <a:t>virtues are not just dispositions towards action, </a:t>
            </a:r>
            <a:br>
              <a:rPr lang="en-CA" altLang="en-US" dirty="0"/>
            </a:br>
            <a:r>
              <a:rPr lang="en-CA" altLang="en-US" dirty="0"/>
              <a:t>but towards feeling</a:t>
            </a:r>
          </a:p>
          <a:p>
            <a:pPr lvl="1"/>
            <a:r>
              <a:rPr lang="en-CA" altLang="en-US" dirty="0"/>
              <a:t>you develop virtues by habitually repeating the </a:t>
            </a:r>
            <a:br>
              <a:rPr lang="en-CA" altLang="en-US" dirty="0"/>
            </a:br>
            <a:r>
              <a:rPr lang="en-CA" altLang="en-US" dirty="0"/>
              <a:t>relevant virtuous actions</a:t>
            </a:r>
          </a:p>
          <a:p>
            <a:pPr lvl="2"/>
            <a:r>
              <a:rPr lang="en-CA" altLang="en-US" dirty="0"/>
              <a:t>e.g., develop honesty by telling the truth</a:t>
            </a:r>
          </a:p>
          <a:p>
            <a:pPr lvl="1"/>
            <a:endParaRPr lang="en-CA" altLang="en-US" dirty="0"/>
          </a:p>
        </p:txBody>
      </p:sp>
      <p:pic>
        <p:nvPicPr>
          <p:cNvPr id="16388" name="Picture 2" descr="http://upload.wikimedia.org/wikipedia/commons/a/ae/Aristotle_Altemps_Inv8575.jpg">
            <a:extLst>
              <a:ext uri="{FF2B5EF4-FFF2-40B4-BE49-F238E27FC236}">
                <a16:creationId xmlns:a16="http://schemas.microsoft.com/office/drawing/2014/main" id="{8A303F44-00FD-416D-A620-430110F712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0257" y="1123949"/>
            <a:ext cx="1633931" cy="218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Box 3">
            <a:extLst>
              <a:ext uri="{FF2B5EF4-FFF2-40B4-BE49-F238E27FC236}">
                <a16:creationId xmlns:a16="http://schemas.microsoft.com/office/drawing/2014/main" id="{521C6255-35DD-415D-A100-8709CE960E93}"/>
              </a:ext>
            </a:extLst>
          </p:cNvPr>
          <p:cNvSpPr txBox="1">
            <a:spLocks noChangeArrowheads="1"/>
          </p:cNvSpPr>
          <p:nvPr/>
        </p:nvSpPr>
        <p:spPr bwMode="auto">
          <a:xfrm>
            <a:off x="609600" y="1809750"/>
            <a:ext cx="6115050" cy="1477328"/>
          </a:xfrm>
          <a:prstGeom prst="rect">
            <a:avLst/>
          </a:prstGeom>
          <a:solidFill>
            <a:schemeClr val="accent3">
              <a:lumMod val="95000"/>
            </a:schemeClr>
          </a:solidFill>
          <a:ln>
            <a:noFill/>
          </a:ln>
        </p:spPr>
        <p:txBody>
          <a:bodyPr>
            <a:spAutoFit/>
          </a:bodyPr>
          <a:lstStyle>
            <a:lvl1pPr>
              <a:spcBef>
                <a:spcPct val="20000"/>
              </a:spcBef>
              <a:buClr>
                <a:schemeClr val="bg2"/>
              </a:buClr>
              <a:buFont typeface="Times" panose="02020603050405020304" pitchFamily="18" charset="0"/>
              <a:buChar char="•"/>
              <a:defRPr sz="2800">
                <a:solidFill>
                  <a:schemeClr val="tx1"/>
                </a:solidFill>
                <a:latin typeface="Calibri" panose="020F0502020204030204" pitchFamily="34" charset="0"/>
                <a:ea typeface="ヒラギノ角ゴ Pro W3" pitchFamily="-48" charset="-128"/>
                <a:cs typeface="Calibri" panose="020F0502020204030204" pitchFamily="34" charset="0"/>
              </a:defRPr>
            </a:lvl1pPr>
            <a:lvl2pPr marL="742950" indent="-285750">
              <a:spcBef>
                <a:spcPct val="20000"/>
              </a:spcBef>
              <a:buClr>
                <a:schemeClr val="bg2"/>
              </a:buClr>
              <a:buChar char="–"/>
              <a:defRPr sz="2400">
                <a:solidFill>
                  <a:schemeClr val="tx1"/>
                </a:solidFill>
                <a:latin typeface="Calibri" panose="020F0502020204030204" pitchFamily="34" charset="0"/>
                <a:ea typeface="ヒラギノ角ゴ Pro W3" pitchFamily="-48" charset="-128"/>
                <a:cs typeface="Calibri" panose="020F0502020204030204" pitchFamily="34" charset="0"/>
              </a:defRPr>
            </a:lvl2pPr>
            <a:lvl3pPr marL="1143000" indent="-228600">
              <a:spcBef>
                <a:spcPct val="20000"/>
              </a:spcBef>
              <a:buClr>
                <a:schemeClr val="bg2"/>
              </a:buClr>
              <a:buChar char="•"/>
              <a:defRPr sz="2000">
                <a:solidFill>
                  <a:schemeClr val="tx1"/>
                </a:solidFill>
                <a:latin typeface="Calibri" panose="020F0502020204030204" pitchFamily="34" charset="0"/>
                <a:ea typeface="ヒラギノ角ゴ Pro W3" pitchFamily="-48" charset="-128"/>
                <a:cs typeface="Calibri" panose="020F0502020204030204" pitchFamily="34" charset="0"/>
              </a:defRPr>
            </a:lvl3pPr>
            <a:lvl4pPr marL="1600200" indent="-228600">
              <a:spcBef>
                <a:spcPct val="20000"/>
              </a:spcBef>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4pPr>
            <a:lvl5pPr marL="2057400" indent="-228600">
              <a:spcBef>
                <a:spcPct val="20000"/>
              </a:spcBef>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5pPr>
            <a:lvl6pPr marL="25146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6pPr>
            <a:lvl7pPr marL="29718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7pPr>
            <a:lvl8pPr marL="34290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8pPr>
            <a:lvl9pPr marL="3886200" indent="-228600" eaLnBrk="0" fontAlgn="base" hangingPunct="0">
              <a:spcBef>
                <a:spcPct val="20000"/>
              </a:spcBef>
              <a:spcAft>
                <a:spcPct val="0"/>
              </a:spcAft>
              <a:buClr>
                <a:schemeClr val="bg2"/>
              </a:buClr>
              <a:buChar char="»"/>
              <a:defRPr>
                <a:solidFill>
                  <a:schemeClr val="tx1"/>
                </a:solidFill>
                <a:latin typeface="Calibri" panose="020F0502020204030204" pitchFamily="34" charset="0"/>
                <a:ea typeface="ヒラギノ角ゴ Pro W3" pitchFamily="-48" charset="-128"/>
                <a:cs typeface="Calibri" panose="020F0502020204030204" pitchFamily="34" charset="0"/>
              </a:defRPr>
            </a:lvl9pPr>
          </a:lstStyle>
          <a:p>
            <a:pPr eaLnBrk="1" hangingPunct="1">
              <a:spcBef>
                <a:spcPct val="0"/>
              </a:spcBef>
              <a:buClrTx/>
              <a:buFontTx/>
              <a:buNone/>
              <a:defRPr/>
            </a:pPr>
            <a:r>
              <a:rPr lang="en-CA" altLang="en-US" sz="1800" b="0" i="1" dirty="0">
                <a:latin typeface="Arial" panose="020B0604020202020204" pitchFamily="34" charset="0"/>
              </a:rPr>
              <a:t>“The virtues are those character traits human beings need in order to flourish and be truly happy. A virtuous person is a person who possesses and lives out the virtues. A right action is an action that a virtuous person, acting in character, would do in the same circumstances.”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27">
                                            <p:txEl>
                                              <p:pRg st="7" end="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27">
                                            <p:txEl>
                                              <p:pRg st="8" end="8"/>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2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F4741940-1F66-4760-BCB1-1C57B7CF96C1}"/>
              </a:ext>
            </a:extLst>
          </p:cNvPr>
          <p:cNvSpPr>
            <a:spLocks noGrp="1" noChangeArrowheads="1"/>
          </p:cNvSpPr>
          <p:nvPr>
            <p:ph type="title"/>
          </p:nvPr>
        </p:nvSpPr>
        <p:spPr/>
        <p:txBody>
          <a:bodyPr/>
          <a:lstStyle/>
          <a:p>
            <a:r>
              <a:rPr lang="en-CA" altLang="en-US"/>
              <a:t>What are the virtues?</a:t>
            </a:r>
          </a:p>
        </p:txBody>
      </p:sp>
      <p:sp>
        <p:nvSpPr>
          <p:cNvPr id="27651" name="Content Placeholder 2">
            <a:extLst>
              <a:ext uri="{FF2B5EF4-FFF2-40B4-BE49-F238E27FC236}">
                <a16:creationId xmlns:a16="http://schemas.microsoft.com/office/drawing/2014/main" id="{A9880427-891A-4159-AEA8-F10E061CCE28}"/>
              </a:ext>
            </a:extLst>
          </p:cNvPr>
          <p:cNvSpPr>
            <a:spLocks noGrp="1" noChangeArrowheads="1"/>
          </p:cNvSpPr>
          <p:nvPr>
            <p:ph idx="1"/>
          </p:nvPr>
        </p:nvSpPr>
        <p:spPr/>
        <p:txBody>
          <a:bodyPr/>
          <a:lstStyle/>
          <a:p>
            <a:r>
              <a:rPr lang="en-CA" altLang="en-US" dirty="0"/>
              <a:t>Different virtues are emphasized in different cultures, but most cultures seem to prize the same things</a:t>
            </a:r>
          </a:p>
          <a:p>
            <a:r>
              <a:rPr lang="en-CA" altLang="en-US" dirty="0"/>
              <a:t>Vices are the opposites of virtues</a:t>
            </a:r>
          </a:p>
          <a:p>
            <a:pPr lvl="1"/>
            <a:r>
              <a:rPr lang="en-CA" altLang="en-US" dirty="0"/>
              <a:t>often there are two vices associated with the same virtue</a:t>
            </a:r>
          </a:p>
          <a:p>
            <a:pPr lvl="1"/>
            <a:r>
              <a:rPr lang="en-CA" altLang="en-US" dirty="0"/>
              <a:t>e.g., courage lies between cowardice (too much fear) and rashness (too little fear)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65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65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432EE-4A9F-4129-A904-09168E1231F3}"/>
              </a:ext>
            </a:extLst>
          </p:cNvPr>
          <p:cNvSpPr>
            <a:spLocks noGrp="1"/>
          </p:cNvSpPr>
          <p:nvPr>
            <p:ph type="title"/>
          </p:nvPr>
        </p:nvSpPr>
        <p:spPr/>
        <p:txBody>
          <a:bodyPr/>
          <a:lstStyle/>
          <a:p>
            <a:r>
              <a:rPr lang="en-US" dirty="0"/>
              <a:t>Virtues and Vices according to Aristotle</a:t>
            </a:r>
          </a:p>
        </p:txBody>
      </p:sp>
      <p:graphicFrame>
        <p:nvGraphicFramePr>
          <p:cNvPr id="7" name="Table 6">
            <a:extLst>
              <a:ext uri="{FF2B5EF4-FFF2-40B4-BE49-F238E27FC236}">
                <a16:creationId xmlns:a16="http://schemas.microsoft.com/office/drawing/2014/main" id="{CB45568E-9471-4434-A4D5-0AF693389823}"/>
              </a:ext>
            </a:extLst>
          </p:cNvPr>
          <p:cNvGraphicFramePr>
            <a:graphicFrameLocks noGrp="1"/>
          </p:cNvGraphicFramePr>
          <p:nvPr/>
        </p:nvGraphicFramePr>
        <p:xfrm>
          <a:off x="304800" y="819150"/>
          <a:ext cx="8305800" cy="4069080"/>
        </p:xfrm>
        <a:graphic>
          <a:graphicData uri="http://schemas.openxmlformats.org/drawingml/2006/table">
            <a:tbl>
              <a:tblPr firstRow="1" bandRow="1"/>
              <a:tblGrid>
                <a:gridCol w="2768293">
                  <a:extLst>
                    <a:ext uri="{9D8B030D-6E8A-4147-A177-3AD203B41FA5}">
                      <a16:colId xmlns:a16="http://schemas.microsoft.com/office/drawing/2014/main" val="512231037"/>
                    </a:ext>
                  </a:extLst>
                </a:gridCol>
                <a:gridCol w="2768293">
                  <a:extLst>
                    <a:ext uri="{9D8B030D-6E8A-4147-A177-3AD203B41FA5}">
                      <a16:colId xmlns:a16="http://schemas.microsoft.com/office/drawing/2014/main" val="2976514593"/>
                    </a:ext>
                  </a:extLst>
                </a:gridCol>
                <a:gridCol w="2769214">
                  <a:extLst>
                    <a:ext uri="{9D8B030D-6E8A-4147-A177-3AD203B41FA5}">
                      <a16:colId xmlns:a16="http://schemas.microsoft.com/office/drawing/2014/main" val="2818513374"/>
                    </a:ext>
                  </a:extLst>
                </a:gridCol>
              </a:tblGrid>
              <a:tr h="228600">
                <a:tc>
                  <a:txBody>
                    <a:bodyPr/>
                    <a:lstStyle/>
                    <a:p>
                      <a:pPr marL="0" marR="0" algn="ctr">
                        <a:lnSpc>
                          <a:spcPct val="107000"/>
                        </a:lnSpc>
                        <a:spcBef>
                          <a:spcPts val="0"/>
                        </a:spcBef>
                        <a:spcAft>
                          <a:spcPts val="0"/>
                        </a:spcAft>
                      </a:pPr>
                      <a:r>
                        <a:rPr lang="en-GB" sz="1050" b="1" dirty="0">
                          <a:effectLst/>
                          <a:latin typeface="Calibri" panose="020F0502020204030204" pitchFamily="34" charset="0"/>
                          <a:ea typeface="Calibri" panose="020F0502020204030204" pitchFamily="34" charset="0"/>
                          <a:cs typeface="Times New Roman" panose="02020603050405020304" pitchFamily="18" charset="0"/>
                        </a:rPr>
                        <a:t>Vice of Abstinence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1050" b="1" dirty="0">
                          <a:effectLst/>
                          <a:latin typeface="Calibri" panose="020F0502020204030204" pitchFamily="34" charset="0"/>
                          <a:ea typeface="Calibri" panose="020F0502020204030204" pitchFamily="34" charset="0"/>
                          <a:cs typeface="Times New Roman" panose="02020603050405020304" pitchFamily="18" charset="0"/>
                        </a:rPr>
                        <a:t>Virtue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1050" b="1" dirty="0">
                          <a:effectLst/>
                          <a:latin typeface="Calibri" panose="020F0502020204030204" pitchFamily="34" charset="0"/>
                          <a:ea typeface="Calibri" panose="020F0502020204030204" pitchFamily="34" charset="0"/>
                          <a:cs typeface="Times New Roman" panose="02020603050405020304" pitchFamily="18" charset="0"/>
                        </a:rPr>
                        <a:t>Vice of Excess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1111244"/>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too afraid to act</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(cowardice)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Doing the right thing when necessary </a:t>
                      </a:r>
                      <a:br>
                        <a:rPr lang="en-GB" sz="900" b="1"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(courage)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Acting without thinking </a:t>
                      </a:r>
                    </a:p>
                    <a:p>
                      <a:pPr marL="0" marR="0" algn="ctr">
                        <a:lnSpc>
                          <a:spcPct val="107000"/>
                        </a:lnSpc>
                        <a:spcBef>
                          <a:spcPts val="0"/>
                        </a:spcBef>
                        <a:spcAft>
                          <a:spcPts val="0"/>
                        </a:spcAft>
                      </a:pPr>
                      <a:r>
                        <a:rPr lang="en-GB" sz="900" dirty="0">
                          <a:effectLst/>
                          <a:latin typeface="Calibri" panose="020F0502020204030204" pitchFamily="34" charset="0"/>
                          <a:ea typeface="Calibri" panose="020F0502020204030204" pitchFamily="34" charset="0"/>
                          <a:cs typeface="Times New Roman" panose="02020603050405020304" pitchFamily="18" charset="0"/>
                        </a:rPr>
                        <a:t>(rashness)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5128586"/>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A lack of awareness or concern for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(insensibility)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Self-control and the ability to moderate one’s behaviour</a:t>
                      </a:r>
                      <a:r>
                        <a:rPr lang="en-GB" sz="900" dirty="0">
                          <a:effectLst/>
                          <a:latin typeface="Calibri" panose="020F0502020204030204" pitchFamily="34" charset="0"/>
                          <a:ea typeface="Calibri" panose="020F0502020204030204" pitchFamily="34" charset="0"/>
                          <a:cs typeface="Times New Roman" panose="02020603050405020304" pitchFamily="18" charset="0"/>
                        </a:rPr>
                        <a:t> (temperance)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Lack of self-control, endangering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(intemperance)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01763793"/>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Meanness/unwillingness to share with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r>
                        <a:rPr lang="en-GB" sz="900" dirty="0" err="1">
                          <a:effectLst/>
                          <a:latin typeface="Calibri" panose="020F0502020204030204" pitchFamily="34" charset="0"/>
                          <a:ea typeface="Calibri" panose="020F0502020204030204" pitchFamily="34" charset="0"/>
                          <a:cs typeface="Times New Roman" panose="02020603050405020304" pitchFamily="18" charset="0"/>
                        </a:rPr>
                        <a:t>illiberality</a:t>
                      </a:r>
                      <a:r>
                        <a:rPr lang="en-GB" sz="900" dirty="0">
                          <a:effectLst/>
                          <a:latin typeface="Calibri" panose="020F0502020204030204" pitchFamily="34" charset="0"/>
                          <a:ea typeface="Calibri" panose="020F0502020204030204" pitchFamily="34" charset="0"/>
                          <a:cs typeface="Times New Roman" panose="02020603050405020304" pitchFamily="18" charset="0"/>
                        </a:rPr>
                        <a:t>)</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Giving and spending one’s money freely on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(generosity)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wasteful and focused on one’s own pleasure</a:t>
                      </a:r>
                      <a:r>
                        <a:rPr lang="en-GB" sz="900" dirty="0">
                          <a:effectLst/>
                          <a:latin typeface="Calibri" panose="020F0502020204030204" pitchFamily="34" charset="0"/>
                          <a:ea typeface="Calibri" panose="020F0502020204030204" pitchFamily="34" charset="0"/>
                          <a:cs typeface="Times New Roman" panose="02020603050405020304" pitchFamily="18" charset="0"/>
                        </a:rPr>
                        <a:t> (prodigality)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3159429"/>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small minded; concerned with trivial matters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(pettiness)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open to ideas and free from prejudice</a:t>
                      </a:r>
                      <a:r>
                        <a:rPr lang="en-GB" sz="900" dirty="0">
                          <a:effectLst/>
                          <a:latin typeface="Calibri" panose="020F0502020204030204" pitchFamily="34" charset="0"/>
                          <a:ea typeface="Calibri" panose="020F0502020204030204" pitchFamily="34" charset="0"/>
                          <a:cs typeface="Times New Roman" panose="02020603050405020304" pitchFamily="18" charset="0"/>
                        </a:rPr>
                        <a:t> (munificence)</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Holding obscene and extremist views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(vulgarity)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0104055"/>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overly humble</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(humble-mindedness)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Having strong moral principles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(high-mindedness)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Having excessive pride in oneself</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(vanity)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2081803"/>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unmotivated/lacking ambition</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(want of ambition)</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Having a just and good purpose to one’s actions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(right ambition)</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Seeking to put oneself above all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(over-ambition)</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624039"/>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Not caring about life, lacking excitement, vigour, spirit</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r>
                        <a:rPr lang="en-GB" sz="900" dirty="0" err="1">
                          <a:effectLst/>
                          <a:latin typeface="Calibri" panose="020F0502020204030204" pitchFamily="34" charset="0"/>
                          <a:ea typeface="Calibri" panose="020F0502020204030204" pitchFamily="34" charset="0"/>
                          <a:cs typeface="Times New Roman" panose="02020603050405020304" pitchFamily="18" charset="0"/>
                        </a:rPr>
                        <a:t>spiritlessness</a:t>
                      </a:r>
                      <a:r>
                        <a:rPr lang="en-GB" sz="900" dirty="0">
                          <a:effectLst/>
                          <a:latin typeface="Calibri" panose="020F0502020204030204" pitchFamily="34" charset="0"/>
                          <a:ea typeface="Calibri" panose="020F0502020204030204" pitchFamily="34" charset="0"/>
                          <a:cs typeface="Times New Roman" panose="02020603050405020304" pitchFamily="18" charset="0"/>
                        </a:rPr>
                        <a:t>)</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Enjoying life and sharing this with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(good temper)</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too easily angered</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(irascibility)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9293611"/>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unfriendly to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(surliness)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civil and kind to others </a:t>
                      </a:r>
                      <a:br>
                        <a:rPr lang="en-GB" sz="900" b="1"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(friendliness)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too obsessed with serving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(obsequiousness)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22431049"/>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too self-deprecating</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(ironical deprecation)</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sincere about yourself and others</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(sincerity)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Boasting about one’s own achievements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(boastfulness)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478522"/>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a boring person</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(boorishness)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witty/funny/charming</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(wittiness)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Acting the fool to please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(buffoonery)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86632504"/>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Having no shame when it comes to one’s actions</a:t>
                      </a:r>
                      <a:r>
                        <a:rPr lang="en-GB" sz="900" dirty="0">
                          <a:effectLst/>
                          <a:latin typeface="Calibri" panose="020F0502020204030204" pitchFamily="34" charset="0"/>
                          <a:ea typeface="Calibri" panose="020F0502020204030204" pitchFamily="34" charset="0"/>
                          <a:cs typeface="Times New Roman" panose="02020603050405020304" pitchFamily="18" charset="0"/>
                        </a:rPr>
                        <a:t> (shamelessness)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modest about one’s achievements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(modesty)</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overly embarrassed about one’s behaviour </a:t>
                      </a:r>
                      <a:r>
                        <a:rPr lang="en-GB" sz="900" dirty="0">
                          <a:effectLst/>
                          <a:latin typeface="Calibri" panose="020F0502020204030204" pitchFamily="34" charset="0"/>
                          <a:ea typeface="Calibri" panose="020F0502020204030204" pitchFamily="34" charset="0"/>
                          <a:cs typeface="Times New Roman" panose="02020603050405020304" pitchFamily="18" charset="0"/>
                        </a:rPr>
                        <a:t>(bashfulness)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1791251"/>
                  </a:ext>
                </a:extLst>
              </a:tr>
              <a:tr h="320040">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Being uncaring about the feelings of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(callousness)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Wanting justice for those that deserve it</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(just resentment)</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600">
                        <a:alpha val="10980"/>
                      </a:srgbClr>
                    </a:solidFill>
                  </a:tcPr>
                </a:tc>
                <a:tc>
                  <a:txBody>
                    <a:bodyPr/>
                    <a:lstStyle/>
                    <a:p>
                      <a:pPr marL="0" marR="0" algn="ctr">
                        <a:lnSpc>
                          <a:spcPct val="107000"/>
                        </a:lnSpc>
                        <a:spcBef>
                          <a:spcPts val="0"/>
                        </a:spcBef>
                        <a:spcAft>
                          <a:spcPts val="0"/>
                        </a:spcAft>
                      </a:pPr>
                      <a:r>
                        <a:rPr lang="en-GB" sz="900" b="1" dirty="0">
                          <a:effectLst/>
                          <a:latin typeface="Calibri" panose="020F0502020204030204" pitchFamily="34" charset="0"/>
                          <a:ea typeface="Calibri" panose="020F0502020204030204" pitchFamily="34" charset="0"/>
                          <a:cs typeface="Times New Roman" panose="02020603050405020304" pitchFamily="18" charset="0"/>
                        </a:rPr>
                        <a:t>Choosing to hurt others</a:t>
                      </a:r>
                      <a:r>
                        <a:rPr lang="en-GB" sz="900" dirty="0">
                          <a:effectLst/>
                          <a:latin typeface="Calibri" panose="020F0502020204030204" pitchFamily="34" charset="0"/>
                          <a:ea typeface="Calibri" panose="020F0502020204030204" pitchFamily="34" charset="0"/>
                          <a:cs typeface="Times New Roman" panose="02020603050405020304" pitchFamily="18" charset="0"/>
                        </a:rPr>
                        <a:t> </a:t>
                      </a:r>
                      <a:br>
                        <a:rPr lang="en-GB" sz="900" dirty="0">
                          <a:effectLst/>
                          <a:latin typeface="Calibri" panose="020F0502020204030204" pitchFamily="34" charset="0"/>
                          <a:ea typeface="Calibri" panose="020F0502020204030204" pitchFamily="34" charset="0"/>
                          <a:cs typeface="Times New Roman" panose="02020603050405020304" pitchFamily="18" charset="0"/>
                        </a:rPr>
                      </a:br>
                      <a:r>
                        <a:rPr lang="en-GB" sz="900" dirty="0">
                          <a:effectLst/>
                          <a:latin typeface="Calibri" panose="020F0502020204030204" pitchFamily="34" charset="0"/>
                          <a:ea typeface="Calibri" panose="020F0502020204030204" pitchFamily="34" charset="0"/>
                          <a:cs typeface="Times New Roman" panose="02020603050405020304" pitchFamily="18" charset="0"/>
                        </a:rPr>
                        <a:t>(spitefulness)</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27676" marR="27676"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54833"/>
                  </a:ext>
                </a:extLst>
              </a:tr>
            </a:tbl>
          </a:graphicData>
        </a:graphic>
      </p:graphicFrame>
    </p:spTree>
    <p:extLst>
      <p:ext uri="{BB962C8B-B14F-4D97-AF65-F5344CB8AC3E}">
        <p14:creationId xmlns:p14="http://schemas.microsoft.com/office/powerpoint/2010/main" val="2006693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4DD37-3B14-4440-9639-3ADBAB98297A}"/>
              </a:ext>
            </a:extLst>
          </p:cNvPr>
          <p:cNvSpPr>
            <a:spLocks noGrp="1"/>
          </p:cNvSpPr>
          <p:nvPr>
            <p:ph type="title"/>
          </p:nvPr>
        </p:nvSpPr>
        <p:spPr/>
        <p:txBody>
          <a:bodyPr/>
          <a:lstStyle/>
          <a:p>
            <a:r>
              <a:rPr lang="en-US" dirty="0"/>
              <a:t>The Seven Teachings</a:t>
            </a:r>
            <a:endParaRPr lang="en-CA" dirty="0"/>
          </a:p>
        </p:txBody>
      </p:sp>
      <p:pic>
        <p:nvPicPr>
          <p:cNvPr id="5" name="Picture 4">
            <a:extLst>
              <a:ext uri="{FF2B5EF4-FFF2-40B4-BE49-F238E27FC236}">
                <a16:creationId xmlns:a16="http://schemas.microsoft.com/office/drawing/2014/main" id="{33F3C044-ACC3-4527-A0A1-9A181AC9FC96}"/>
              </a:ext>
            </a:extLst>
          </p:cNvPr>
          <p:cNvPicPr>
            <a:picLocks noChangeAspect="1"/>
          </p:cNvPicPr>
          <p:nvPr/>
        </p:nvPicPr>
        <p:blipFill>
          <a:blip r:embed="rId2"/>
          <a:stretch>
            <a:fillRect/>
          </a:stretch>
        </p:blipFill>
        <p:spPr>
          <a:xfrm>
            <a:off x="2389768" y="819150"/>
            <a:ext cx="4440664" cy="4131399"/>
          </a:xfrm>
          <a:prstGeom prst="rect">
            <a:avLst/>
          </a:prstGeom>
        </p:spPr>
      </p:pic>
      <p:sp>
        <p:nvSpPr>
          <p:cNvPr id="6" name="TextBox 5">
            <a:extLst>
              <a:ext uri="{FF2B5EF4-FFF2-40B4-BE49-F238E27FC236}">
                <a16:creationId xmlns:a16="http://schemas.microsoft.com/office/drawing/2014/main" id="{F38E53BA-3CD3-4AAE-AE3B-CFF1BAC36CB6}"/>
              </a:ext>
            </a:extLst>
          </p:cNvPr>
          <p:cNvSpPr txBox="1"/>
          <p:nvPr/>
        </p:nvSpPr>
        <p:spPr>
          <a:xfrm>
            <a:off x="6431398" y="4950549"/>
            <a:ext cx="2712602" cy="184666"/>
          </a:xfrm>
          <a:prstGeom prst="rect">
            <a:avLst/>
          </a:prstGeom>
          <a:noFill/>
        </p:spPr>
        <p:txBody>
          <a:bodyPr wrap="none" rtlCol="0">
            <a:spAutoFit/>
          </a:bodyPr>
          <a:lstStyle/>
          <a:p>
            <a:r>
              <a:rPr lang="en-US" sz="600" b="0" dirty="0">
                <a:solidFill>
                  <a:schemeClr val="bg1">
                    <a:lumMod val="65000"/>
                  </a:schemeClr>
                </a:solidFill>
                <a:latin typeface="HelveticaNeueLT Com 45 Lt"/>
              </a:rPr>
              <a:t>Source: </a:t>
            </a:r>
            <a:r>
              <a:rPr lang="en-US" sz="600" b="0" dirty="0">
                <a:solidFill>
                  <a:schemeClr val="bg1">
                    <a:lumMod val="65000"/>
                  </a:schemeClr>
                </a:solidFill>
                <a:latin typeface="HelveticaNeueLT Com 45 Lt"/>
                <a:hlinkClick r:id="rId3">
                  <a:extLst>
                    <a:ext uri="{A12FA001-AC4F-418D-AE19-62706E023703}">
                      <ahyp:hlinkClr xmlns:ahyp="http://schemas.microsoft.com/office/drawing/2018/hyperlinkcolor" val="tx"/>
                    </a:ext>
                  </a:extLst>
                </a:hlinkClick>
              </a:rPr>
              <a:t>https://www.southernnetwork.org/site/seven-teachings</a:t>
            </a:r>
            <a:r>
              <a:rPr lang="en-US" sz="600" b="0" dirty="0">
                <a:solidFill>
                  <a:schemeClr val="bg1">
                    <a:lumMod val="65000"/>
                  </a:schemeClr>
                </a:solidFill>
                <a:latin typeface="HelveticaNeueLT Com 45 Lt"/>
              </a:rPr>
              <a:t> (Manitoba)</a:t>
            </a:r>
            <a:endParaRPr lang="en-CA" sz="600" b="0" dirty="0">
              <a:solidFill>
                <a:schemeClr val="bg1">
                  <a:lumMod val="65000"/>
                </a:schemeClr>
              </a:solidFill>
              <a:latin typeface="HelveticaNeueLT Com 45 Lt"/>
            </a:endParaRPr>
          </a:p>
        </p:txBody>
      </p:sp>
      <p:pic>
        <p:nvPicPr>
          <p:cNvPr id="8" name="Picture 7">
            <a:extLst>
              <a:ext uri="{FF2B5EF4-FFF2-40B4-BE49-F238E27FC236}">
                <a16:creationId xmlns:a16="http://schemas.microsoft.com/office/drawing/2014/main" id="{1203CC66-912A-47F1-8283-2AD733349621}"/>
              </a:ext>
            </a:extLst>
          </p:cNvPr>
          <p:cNvPicPr>
            <a:picLocks noChangeAspect="1"/>
          </p:cNvPicPr>
          <p:nvPr/>
        </p:nvPicPr>
        <p:blipFill>
          <a:blip r:embed="rId4"/>
          <a:stretch>
            <a:fillRect/>
          </a:stretch>
        </p:blipFill>
        <p:spPr>
          <a:xfrm>
            <a:off x="2804101" y="819150"/>
            <a:ext cx="3611998" cy="1732053"/>
          </a:xfrm>
          <a:prstGeom prst="rect">
            <a:avLst/>
          </a:prstGeom>
        </p:spPr>
      </p:pic>
    </p:spTree>
    <p:extLst>
      <p:ext uri="{BB962C8B-B14F-4D97-AF65-F5344CB8AC3E}">
        <p14:creationId xmlns:p14="http://schemas.microsoft.com/office/powerpoint/2010/main" val="3068427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09D443B7-E222-475C-8E8B-4CDE630DA2B1}"/>
              </a:ext>
            </a:extLst>
          </p:cNvPr>
          <p:cNvSpPr>
            <a:spLocks noGrp="1" noChangeArrowheads="1"/>
          </p:cNvSpPr>
          <p:nvPr>
            <p:ph type="title"/>
          </p:nvPr>
        </p:nvSpPr>
        <p:spPr/>
        <p:txBody>
          <a:bodyPr/>
          <a:lstStyle/>
          <a:p>
            <a:r>
              <a:rPr lang="en-CA" altLang="en-US"/>
              <a:t>Case for Virtue Ethics</a:t>
            </a:r>
          </a:p>
        </p:txBody>
      </p:sp>
      <p:sp>
        <p:nvSpPr>
          <p:cNvPr id="29699" name="Content Placeholder 2">
            <a:extLst>
              <a:ext uri="{FF2B5EF4-FFF2-40B4-BE49-F238E27FC236}">
                <a16:creationId xmlns:a16="http://schemas.microsoft.com/office/drawing/2014/main" id="{E49EACBB-195F-4B23-9951-B62B485E0545}"/>
              </a:ext>
            </a:extLst>
          </p:cNvPr>
          <p:cNvSpPr>
            <a:spLocks noGrp="1" noChangeArrowheads="1"/>
          </p:cNvSpPr>
          <p:nvPr>
            <p:ph idx="1"/>
          </p:nvPr>
        </p:nvSpPr>
        <p:spPr/>
        <p:txBody>
          <a:bodyPr/>
          <a:lstStyle/>
          <a:p>
            <a:r>
              <a:rPr lang="en-CA" altLang="en-US"/>
              <a:t>Reasoning from virtue may be more intuitive</a:t>
            </a:r>
          </a:p>
          <a:p>
            <a:pPr lvl="1"/>
            <a:r>
              <a:rPr lang="en-CA" altLang="en-US"/>
              <a:t>e.g., stealing is bad because it is dishonest, not because it decreases utility</a:t>
            </a:r>
          </a:p>
          <a:p>
            <a:pPr>
              <a:spcBef>
                <a:spcPts val="900"/>
              </a:spcBef>
            </a:pPr>
            <a:r>
              <a:rPr lang="en-CA" altLang="en-US"/>
              <a:t>We don’t have to treat all other people equally</a:t>
            </a:r>
          </a:p>
          <a:p>
            <a:pPr lvl="1"/>
            <a:r>
              <a:rPr lang="en-CA" altLang="en-US"/>
              <a:t>we can be partial towards our friends, family</a:t>
            </a:r>
          </a:p>
          <a:p>
            <a:pPr>
              <a:spcBef>
                <a:spcPts val="900"/>
              </a:spcBef>
            </a:pPr>
            <a:r>
              <a:rPr lang="en-CA" altLang="en-US"/>
              <a:t>Recognizes that we mature morally over time</a:t>
            </a:r>
          </a:p>
          <a:p>
            <a:pPr>
              <a:spcBef>
                <a:spcPts val="900"/>
              </a:spcBef>
            </a:pPr>
            <a:r>
              <a:rPr lang="en-CA" altLang="en-US"/>
              <a:t>“There are no irresolvable moral dilemmas”</a:t>
            </a:r>
          </a:p>
          <a:p>
            <a:pPr lvl="1"/>
            <a:r>
              <a:rPr lang="en-CA" altLang="en-US"/>
              <a:t>not entirely clear how we’re supposed to resolve everything</a:t>
            </a:r>
          </a:p>
          <a:p>
            <a:pPr lvl="1"/>
            <a:r>
              <a:rPr lang="en-CA" altLang="en-US"/>
              <a:t>we’re told “the right action can always be determined by a person with sufficient moral wisdom”</a:t>
            </a:r>
          </a:p>
          <a:p>
            <a:pPr>
              <a:spcBef>
                <a:spcPts val="900"/>
              </a:spcBef>
            </a:pPr>
            <a:r>
              <a:rPr lang="en-CA" altLang="en-US"/>
              <a:t>Recognizes the importance of emotion</a:t>
            </a:r>
          </a:p>
          <a:p>
            <a:pPr lvl="1"/>
            <a:endParaRPr lang="en-CA"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6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6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69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69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69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699">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6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034EB899-74E0-478E-8A76-8A52533A2FEC}"/>
              </a:ext>
            </a:extLst>
          </p:cNvPr>
          <p:cNvSpPr>
            <a:spLocks noGrp="1" noChangeArrowheads="1"/>
          </p:cNvSpPr>
          <p:nvPr>
            <p:ph type="title"/>
          </p:nvPr>
        </p:nvSpPr>
        <p:spPr/>
        <p:txBody>
          <a:bodyPr/>
          <a:lstStyle/>
          <a:p>
            <a:r>
              <a:rPr lang="en-CA" altLang="en-US"/>
              <a:t>Case Against Virtue Ethics</a:t>
            </a:r>
          </a:p>
        </p:txBody>
      </p:sp>
      <p:sp>
        <p:nvSpPr>
          <p:cNvPr id="29699" name="Content Placeholder 2">
            <a:extLst>
              <a:ext uri="{FF2B5EF4-FFF2-40B4-BE49-F238E27FC236}">
                <a16:creationId xmlns:a16="http://schemas.microsoft.com/office/drawing/2014/main" id="{634C90F6-7A7B-487F-91FC-6D69C737D183}"/>
              </a:ext>
            </a:extLst>
          </p:cNvPr>
          <p:cNvSpPr>
            <a:spLocks noGrp="1" noChangeArrowheads="1"/>
          </p:cNvSpPr>
          <p:nvPr>
            <p:ph idx="1"/>
          </p:nvPr>
        </p:nvSpPr>
        <p:spPr/>
        <p:txBody>
          <a:bodyPr/>
          <a:lstStyle/>
          <a:p>
            <a:r>
              <a:rPr lang="en-CA" altLang="en-US"/>
              <a:t>Disagreement over the virtues</a:t>
            </a:r>
          </a:p>
          <a:p>
            <a:pPr lvl="1"/>
            <a:r>
              <a:rPr lang="en-CA" altLang="en-US"/>
              <a:t>our other workable theories are universal</a:t>
            </a:r>
          </a:p>
          <a:p>
            <a:pPr lvl="1"/>
            <a:r>
              <a:rPr lang="en-CA" altLang="en-US"/>
              <a:t>virtue ethics can only be applied given a set of virtues—and reasonable people disagree</a:t>
            </a:r>
          </a:p>
          <a:p>
            <a:r>
              <a:rPr lang="en-CA" altLang="en-US"/>
              <a:t>Cannot be used to guide government policy</a:t>
            </a:r>
          </a:p>
          <a:p>
            <a:pPr lvl="1"/>
            <a:r>
              <a:rPr lang="en-CA" altLang="en-US"/>
              <a:t>focus on moral actors, not on making good decisions</a:t>
            </a:r>
          </a:p>
          <a:p>
            <a:pPr lvl="1"/>
            <a:r>
              <a:rPr lang="en-CA" altLang="en-US"/>
              <a:t>e.g., should we build a highway?</a:t>
            </a:r>
          </a:p>
          <a:p>
            <a:r>
              <a:rPr lang="en-CA" altLang="en-US"/>
              <a:t>Undermines attempts to hold people responsible</a:t>
            </a:r>
          </a:p>
          <a:p>
            <a:pPr lvl="1"/>
            <a:r>
              <a:rPr lang="en-CA" altLang="en-US"/>
              <a:t>we develop over time, and we’re the product of our environments</a:t>
            </a:r>
          </a:p>
          <a:p>
            <a:pPr lvl="1"/>
            <a:r>
              <a:rPr lang="en-CA" altLang="en-US"/>
              <a:t>how can we say someone’s responsible for acquiring vices instead of virtues?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6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69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69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69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6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03C58608-4B7B-466D-9C39-0990345F791A}"/>
              </a:ext>
            </a:extLst>
          </p:cNvPr>
          <p:cNvSpPr>
            <a:spLocks noGrp="1" noChangeArrowheads="1"/>
          </p:cNvSpPr>
          <p:nvPr>
            <p:ph type="title"/>
          </p:nvPr>
        </p:nvSpPr>
        <p:spPr/>
        <p:txBody>
          <a:bodyPr/>
          <a:lstStyle/>
          <a:p>
            <a:r>
              <a:rPr lang="en-CA" altLang="en-US"/>
              <a:t>Exercise</a:t>
            </a:r>
          </a:p>
        </p:txBody>
      </p:sp>
      <p:sp>
        <p:nvSpPr>
          <p:cNvPr id="22531" name="Content Placeholder 2">
            <a:extLst>
              <a:ext uri="{FF2B5EF4-FFF2-40B4-BE49-F238E27FC236}">
                <a16:creationId xmlns:a16="http://schemas.microsoft.com/office/drawing/2014/main" id="{E3481B32-F6A5-4E6C-A126-9C640B25FA3E}"/>
              </a:ext>
            </a:extLst>
          </p:cNvPr>
          <p:cNvSpPr>
            <a:spLocks noGrp="1"/>
          </p:cNvSpPr>
          <p:nvPr>
            <p:ph idx="1"/>
          </p:nvPr>
        </p:nvSpPr>
        <p:spPr/>
        <p:txBody>
          <a:bodyPr>
            <a:normAutofit fontScale="85000" lnSpcReduction="20000"/>
          </a:bodyPr>
          <a:lstStyle/>
          <a:p>
            <a:pPr marL="0" indent="0">
              <a:buNone/>
            </a:pPr>
            <a:r>
              <a:rPr lang="en-CA" altLang="en-US" dirty="0"/>
              <a:t>The British government has placed hundreds of thousands of cameras in public places and runs face recognition software that allows the tracking of individuals across cities. The resulting data is used by police to deter and prosecute crimes, and also by the intelligence services for purposes that are not disclosed publicly. The British public is broadly supportive of this initiative, but a substantial minority disagrees. </a:t>
            </a:r>
            <a:br>
              <a:rPr lang="en-CA" altLang="en-US" dirty="0"/>
            </a:br>
            <a:endParaRPr lang="en-CA" altLang="en-US" dirty="0"/>
          </a:p>
          <a:p>
            <a:pPr marL="0" indent="0">
              <a:buNone/>
            </a:pPr>
            <a:r>
              <a:rPr lang="en-CA" altLang="en-US" dirty="0"/>
              <a:t>Is this initiative ethical from the following perspective:</a:t>
            </a:r>
          </a:p>
          <a:p>
            <a:r>
              <a:rPr lang="en-CA" altLang="en-US" dirty="0"/>
              <a:t>act </a:t>
            </a:r>
            <a:r>
              <a:rPr lang="en-CA" altLang="en-US" dirty="0" err="1"/>
              <a:t>utilitiarian</a:t>
            </a:r>
            <a:endParaRPr lang="en-CA" altLang="en-US" dirty="0"/>
          </a:p>
          <a:p>
            <a:r>
              <a:rPr lang="en-CA" altLang="en-US" dirty="0"/>
              <a:t>rule utilitarian</a:t>
            </a:r>
          </a:p>
          <a:p>
            <a:r>
              <a:rPr lang="en-CA" altLang="en-US" dirty="0"/>
              <a:t>social contract theory</a:t>
            </a:r>
          </a:p>
          <a:p>
            <a:r>
              <a:rPr lang="en-CA" altLang="en-US" dirty="0"/>
              <a:t>virtue ethics</a:t>
            </a:r>
          </a:p>
          <a:p>
            <a:pPr marL="0" indent="0">
              <a:buNone/>
            </a:pPr>
            <a:r>
              <a:rPr lang="en-CA" altLang="en-US" sz="1300" dirty="0">
                <a:hlinkClick r:id="rId2"/>
              </a:rPr>
              <a:t>https://www.theguardian.com/uk-news/2017/mar/14/public-faces-mass-invasion-of-privacy-as-big-data-and-surveillance-merge</a:t>
            </a:r>
            <a:r>
              <a:rPr lang="en-CA" altLang="en-US" sz="1300" dirty="0"/>
              <a:t> </a:t>
            </a:r>
          </a:p>
        </p:txBody>
      </p:sp>
      <p:pic>
        <p:nvPicPr>
          <p:cNvPr id="2" name="Picture 1">
            <a:extLst>
              <a:ext uri="{FF2B5EF4-FFF2-40B4-BE49-F238E27FC236}">
                <a16:creationId xmlns:a16="http://schemas.microsoft.com/office/drawing/2014/main" id="{A1BFA629-8DAA-4382-9187-2D0834F8CA1B}"/>
              </a:ext>
            </a:extLst>
          </p:cNvPr>
          <p:cNvPicPr>
            <a:picLocks noChangeAspect="1"/>
          </p:cNvPicPr>
          <p:nvPr/>
        </p:nvPicPr>
        <p:blipFill>
          <a:blip r:embed="rId3"/>
          <a:stretch>
            <a:fillRect/>
          </a:stretch>
        </p:blipFill>
        <p:spPr>
          <a:xfrm>
            <a:off x="6629400" y="2412169"/>
            <a:ext cx="2166257" cy="216625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34DC2-7A5D-21A2-3D81-CED828E0622C}"/>
              </a:ext>
            </a:extLst>
          </p:cNvPr>
          <p:cNvSpPr>
            <a:spLocks noGrp="1"/>
          </p:cNvSpPr>
          <p:nvPr>
            <p:ph type="title"/>
          </p:nvPr>
        </p:nvSpPr>
        <p:spPr/>
        <p:txBody>
          <a:bodyPr/>
          <a:lstStyle/>
          <a:p>
            <a:r>
              <a:rPr lang="en-CA" dirty="0"/>
              <a:t>Comparing Workable Ethical Theories</a:t>
            </a:r>
          </a:p>
        </p:txBody>
      </p:sp>
      <p:pic>
        <p:nvPicPr>
          <p:cNvPr id="4" name="Picture 3" descr="At the top of the chart is a box labeled, what makes an act morally right. Arrows lead from this down to three other boxes. On the left is one labeled, it results in the maximum&#10;net increase in the total good of the affected parties, parentheses, ACT UTILITARIANISM. The box on the left reads, it is consistent with the actions of a virtuous person, parentheses, VIRTUE ETHICS. The box in the middle says, it is in accord with a correct moral rule. An arrow leads down from this box to another that says, what makes a moral rule correct, question mark. There are three arrows leading to boxes below this one. The one on the left says, we can imagine everyone following this rule all the time without producing a logical contradiction that undermines the rule, parentheses, KANTIANISM. The center box reads, the effect of everyone following this rule all the time would be the greatest increase in the total good, RULE UTILITARIANISM. The box on the right says, rational people would collectively accept it as binding because of the resulting benefits to the community, parentheses SOCIAL CONTRACT THEORY.">
            <a:extLst>
              <a:ext uri="{FF2B5EF4-FFF2-40B4-BE49-F238E27FC236}">
                <a16:creationId xmlns:a16="http://schemas.microsoft.com/office/drawing/2014/main" id="{E43FB9C0-A179-DB48-D890-DDD2472A2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898644"/>
            <a:ext cx="5464280" cy="3940440"/>
          </a:xfrm>
          <a:prstGeom prst="rect">
            <a:avLst/>
          </a:prstGeom>
        </p:spPr>
      </p:pic>
    </p:spTree>
    <p:extLst>
      <p:ext uri="{BB962C8B-B14F-4D97-AF65-F5344CB8AC3E}">
        <p14:creationId xmlns:p14="http://schemas.microsoft.com/office/powerpoint/2010/main" val="3556407511"/>
      </p:ext>
    </p:extLst>
  </p:cSld>
  <p:clrMapOvr>
    <a:masterClrMapping/>
  </p:clrMapOvr>
</p:sld>
</file>

<file path=ppt/theme/theme1.xml><?xml version="1.0" encoding="utf-8"?>
<a:theme xmlns:a="http://schemas.openxmlformats.org/drawingml/2006/main" name="ch01">
  <a:themeElements>
    <a:clrScheme name="ch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HelveticaNeueLT">
      <a:majorFont>
        <a:latin typeface="HelveticaNeueLT Com 65 Md"/>
        <a:ea typeface=""/>
        <a:cs typeface=""/>
      </a:majorFont>
      <a:minorFont>
        <a:latin typeface="HelveticaNeueLT Com 55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ヒラギノ角ゴ Pro W3" pitchFamily="-48"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ea typeface="ヒラギノ角ゴ Pro W3" pitchFamily="-48" charset="-128"/>
          </a:defRPr>
        </a:defPPr>
      </a:lstStyle>
    </a:lnDef>
  </a:objectDefaults>
  <a:extraClrSchemeLst>
    <a:extraClrScheme>
      <a:clrScheme name="ch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01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0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0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0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Macintosh HD:Users:stephanielindsey:Documents:AW-QUINN_Ethics CS PPT:ch01.pot</Template>
  <TotalTime>3118</TotalTime>
  <Words>2451</Words>
  <Application>Microsoft Office PowerPoint</Application>
  <PresentationFormat>On-screen Show (16:9)</PresentationFormat>
  <Paragraphs>275</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HelveticaNeueLT Com 35 Th</vt:lpstr>
      <vt:lpstr>HelveticaNeueLT Com 45 Lt</vt:lpstr>
      <vt:lpstr>HelveticaNeueLT Com 55 Roman</vt:lpstr>
      <vt:lpstr>HelveticaNeueLT Com 65 Md</vt:lpstr>
      <vt:lpstr>Times</vt:lpstr>
      <vt:lpstr>Wingdings</vt:lpstr>
      <vt:lpstr>ch01</vt:lpstr>
      <vt:lpstr>More workable ethical frameworks  Lecture 2-2</vt:lpstr>
      <vt:lpstr>Recap: Unworkable Ethical Theories</vt:lpstr>
      <vt:lpstr>Recap: Kantianism</vt:lpstr>
      <vt:lpstr>Utilitarianism</vt:lpstr>
      <vt:lpstr>Principle of Utility</vt:lpstr>
      <vt:lpstr>Principle of Utility (“Greatest Happiness Principle”)</vt:lpstr>
      <vt:lpstr>Utility Overview</vt:lpstr>
      <vt:lpstr>Act Utilitarianism</vt:lpstr>
      <vt:lpstr>Case for Act Utilitarianism</vt:lpstr>
      <vt:lpstr>Case Against Act Utilitarianism</vt:lpstr>
      <vt:lpstr>Rule Utilitarianism</vt:lpstr>
      <vt:lpstr>Case for Rule Utilitarianism</vt:lpstr>
      <vt:lpstr>Case Against RU, and Utilitarianism in General</vt:lpstr>
      <vt:lpstr>An Example</vt:lpstr>
      <vt:lpstr>SOCIAL CONTRACT THEORY</vt:lpstr>
      <vt:lpstr>Social Contract Theory</vt:lpstr>
      <vt:lpstr>Social Contract Theory Definition of Morality</vt:lpstr>
      <vt:lpstr>Kinds of Rights</vt:lpstr>
      <vt:lpstr>John Rawls’s Principles of Justice</vt:lpstr>
      <vt:lpstr>Rawls’s Difference Principle</vt:lpstr>
      <vt:lpstr>Case for Social Contract Theory</vt:lpstr>
      <vt:lpstr>Case Against Social Contract Theory</vt:lpstr>
      <vt:lpstr>Movie Streaming Scenario</vt:lpstr>
      <vt:lpstr>Evaluation (Social Contract Theory)</vt:lpstr>
      <vt:lpstr>What do you think about InterMovies? </vt:lpstr>
      <vt:lpstr>PowerPoint Presentation</vt:lpstr>
      <vt:lpstr>VIRTUE ETHICS</vt:lpstr>
      <vt:lpstr>Virtue Ethics</vt:lpstr>
      <vt:lpstr>What are the virtues?</vt:lpstr>
      <vt:lpstr>Virtues and Vices according to Aristotle</vt:lpstr>
      <vt:lpstr>The Seven Teachings</vt:lpstr>
      <vt:lpstr>Case for Virtue Ethics</vt:lpstr>
      <vt:lpstr>Case Against Virtue Ethics</vt:lpstr>
      <vt:lpstr>Exercise</vt:lpstr>
      <vt:lpstr>Comparing Workable Ethical Theories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Kantianism  Lecture 2-2</dc:title>
  <dc:subject/>
  <dc:creator>Kevin Leyton-Brown</dc:creator>
  <cp:lastModifiedBy>Toti, Giulia</cp:lastModifiedBy>
  <cp:revision>162</cp:revision>
  <dcterms:created xsi:type="dcterms:W3CDTF">2004-07-01T03:12:43Z</dcterms:created>
  <dcterms:modified xsi:type="dcterms:W3CDTF">2026-07-13T02:43:42Z</dcterms:modified>
</cp:coreProperties>
</file>